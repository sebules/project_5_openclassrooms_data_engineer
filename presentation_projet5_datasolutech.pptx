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PROJET 5 – OPENCLASSROOMS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Migration &amp; Stockage des Données
vers MongoDB avec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6E8F7"/>
                </a:solidFill>
              </a:rPr>
              <a:t>DataSoluTech – Data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Contexte  •  Démarche Technique  •  Choix Technologiques  •  Docker  •  Cloud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640080" cy="7315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1280160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3716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6C"/>
                </a:solidFill>
              </a:rPr>
              <a:t>Contexte de la mission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60320"/>
            <a:ext cx="640080" cy="7315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2560320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6517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6C"/>
                </a:solidFill>
              </a:rPr>
              <a:t>Architecture du projet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840479"/>
            <a:ext cx="640080" cy="7315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9319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3840479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93191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6C"/>
                </a:solidFill>
              </a:rPr>
              <a:t>Étape 1 – Nettoyage &amp; Migration des données vers MongoDB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120640"/>
            <a:ext cx="640080" cy="7315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52120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5120640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21207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6C"/>
                </a:solidFill>
              </a:rPr>
              <a:t>Étape 2 – Opérations CRUD sur MongoDB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280160"/>
            <a:ext cx="640080" cy="7315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371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1280160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13716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6C"/>
                </a:solidFill>
              </a:rPr>
              <a:t>Étape 3 – Conteneurisation avec Docker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560320"/>
            <a:ext cx="640080" cy="7315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95160" y="2560320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265176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6C"/>
                </a:solidFill>
              </a:rPr>
              <a:t>Étape 4 – Tests automatisés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840479"/>
            <a:ext cx="640080" cy="7315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9319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95160" y="3840479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600" y="393191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6C"/>
                </a:solidFill>
              </a:rPr>
              <a:t>Étape 5 – Déploiement Cloud AWS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5120640"/>
            <a:ext cx="640080" cy="7315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52120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95160" y="5120640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6600" y="5212079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76C"/>
                </a:solidFill>
              </a:rPr>
              <a:t>Justification des choix technologiques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01 – CONTEXTE DE LA 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657600" cy="5120640"/>
          </a:xfrm>
          <a:prstGeom prst="rect">
            <a:avLst/>
          </a:prstGeom>
          <a:solidFill>
            <a:srgbClr val="D6E8F7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🏢 Entreprise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76C"/>
                </a:solidFill>
              </a:rPr>
              <a:t>DataSoluTech
Spécialisée dans la gestion de données et l'analyse pour les entreprises.
Aide ses clients à exploiter leurs données pour améliorer la prise de décision.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188720"/>
            <a:ext cx="3657600" cy="5120640"/>
          </a:xfrm>
          <a:prstGeom prst="rect">
            <a:avLst/>
          </a:prstGeom>
          <a:solidFill>
            <a:srgbClr val="D6E8F7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🎯 Objectif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76C"/>
                </a:solidFill>
              </a:rPr>
              <a:t>Migrer une base de données CSV vers MongoDB.
Base : datasolutech
Collection : healthcare_data
55 500 enregistrements
Données médicales de patients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188720"/>
            <a:ext cx="3566160" cy="5120640"/>
          </a:xfrm>
          <a:prstGeom prst="rect">
            <a:avLst/>
          </a:prstGeom>
          <a:solidFill>
            <a:srgbClr val="D6E8F7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📋 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7373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76C"/>
                </a:solidFill>
              </a:rPr>
              <a:t>✅ Nettoyage des données
✅ Migration CSV → MongoDB
✅ Opérations CRUD
✅ Conteneurisation Docker
✅ Tests automatisés
✅ Réflexion Cloud 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02 – ARCHITECTURE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468880" cy="3200400"/>
          </a:xfrm>
          <a:prstGeom prst="rect">
            <a:avLst/>
          </a:prstGeom>
          <a:solidFill>
            <a:srgbClr val="D6E8F7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📁 /donnees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73736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76C"/>
                </a:solidFill>
              </a:rPr>
              <a:t>healthcare_dataset.csv
export.csv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188720"/>
            <a:ext cx="2468880" cy="3200400"/>
          </a:xfrm>
          <a:prstGeom prst="rect">
            <a:avLst/>
          </a:prstGeom>
          <a:solidFill>
            <a:srgbClr val="D6E8F7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280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📁 /fonctions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73736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76C"/>
                </a:solidFill>
              </a:rPr>
              <a:t>cleaning_df.py
connexion_mongodb.py
crud_mongodb.py
migration_to_mongodb.py
export_from_mongodb.py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188720"/>
            <a:ext cx="2468880" cy="3200400"/>
          </a:xfrm>
          <a:prstGeom prst="rect">
            <a:avLst/>
          </a:prstGeom>
          <a:solidFill>
            <a:srgbClr val="D6E8F7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280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📁 /scripts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73736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76C"/>
                </a:solidFill>
              </a:rPr>
              <a:t>script_migration_csv_mongodb.py
script_export_csv_mongodb.py
script_delete_collection.py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188720"/>
            <a:ext cx="2468880" cy="3200400"/>
          </a:xfrm>
          <a:prstGeom prst="rect">
            <a:avLst/>
          </a:prstGeom>
          <a:solidFill>
            <a:srgbClr val="D6E8F7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280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📁 /tests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737360"/>
            <a:ext cx="2286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76C"/>
                </a:solidFill>
              </a:rPr>
              <a:t>test_cleaning_df.py
test_crud_mongodb.py
test_export_mongodb.py
test_migration_index_mongodb.py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63440"/>
            <a:ext cx="11430000" cy="914400"/>
          </a:xfrm>
          <a:prstGeom prst="rect">
            <a:avLst/>
          </a:prstGeom>
          <a:solidFill>
            <a:srgbClr val="FFF3CD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709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📄 Fichiers racine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709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76C"/>
                </a:solidFill>
              </a:rPr>
              <a:t>main.py   •   docker-compose.yml   •   Dockerfile   •   Dockerfile.test   •   Dockerfile.export   •   requirements.txt   •   .env   •   pyproject.toml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76FBF"/>
                </a:solidFill>
              </a:rPr>
              <a:t>Structure modulaire : séparation claire entre fonctions, scripts, tests et données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03 – NETTOYAGE &amp; MIGRATION DES DONNÉES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920240" cy="12801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📂 CSV Source
55 500 lignes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6002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376C"/>
                </a:solidFill>
              </a:rPr>
              <a:t>▶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280160"/>
            <a:ext cx="1920240" cy="1280160"/>
          </a:xfrm>
          <a:prstGeom prst="rect">
            <a:avLst/>
          </a:prstGeom>
          <a:solidFill>
            <a:srgbClr val="843F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🧹 Nettoyage
des colonnes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002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376C"/>
                </a:solidFill>
              </a:rPr>
              <a:t>▶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1280160"/>
            <a:ext cx="1920240" cy="1280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🔤 Harmonisation
du contenu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002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376C"/>
                </a:solidFill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280160"/>
            <a:ext cx="1920240" cy="128016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📅 Conversion
des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6002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376C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1280160"/>
            <a:ext cx="1920240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🗄️ Migration
vers MongoDB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1920240" cy="1005840"/>
          </a:xfrm>
          <a:prstGeom prst="rect">
            <a:avLst/>
          </a:prstGeom>
          <a:solidFill>
            <a:srgbClr val="D6E8F7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76C"/>
                </a:solidFill>
              </a:rPr>
              <a:t>Lecture CSV
pandas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926080"/>
            <a:ext cx="1920240" cy="1005840"/>
          </a:xfrm>
          <a:prstGeom prst="rect">
            <a:avLst/>
          </a:prstGeom>
          <a:solidFill>
            <a:srgbClr val="D6E8F7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9718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76C"/>
                </a:solidFill>
              </a:rPr>
              <a:t>clean_columns_name()
noms snake_case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2926080"/>
            <a:ext cx="1920240" cy="1005840"/>
          </a:xfrm>
          <a:prstGeom prst="rect">
            <a:avLst/>
          </a:prstGeom>
          <a:solidFill>
            <a:srgbClr val="D6E8F7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9718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76C"/>
                </a:solidFill>
              </a:rPr>
              <a:t>clean_columns_content()
majuscules/espaces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2926080"/>
            <a:ext cx="1920240" cy="1005840"/>
          </a:xfrm>
          <a:prstGeom prst="rect">
            <a:avLst/>
          </a:prstGeom>
          <a:solidFill>
            <a:srgbClr val="D6E8F7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29718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76C"/>
                </a:solidFill>
              </a:rPr>
              <a:t>convert_type_date()
convert_type_float()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926080"/>
            <a:ext cx="1920240" cy="1005840"/>
          </a:xfrm>
          <a:prstGeom prst="rect">
            <a:avLst/>
          </a:prstGeom>
          <a:solidFill>
            <a:srgbClr val="D6E8F7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29718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376C"/>
                </a:solidFill>
              </a:rPr>
              <a:t>migrate_mongodb()
create_index_mongodb()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206240"/>
            <a:ext cx="11430000" cy="1188720"/>
          </a:xfrm>
          <a:prstGeom prst="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51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✅ Résultat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2519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76C"/>
                </a:solidFill>
              </a:rPr>
              <a:t>54 860 documents migrés (après nettoyage des doublons et valeurs aberrantes)
Index créés sur : name (ASCENDING) | billing_amount (DESCENDING) → performances optimisées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577840"/>
            <a:ext cx="11430000" cy="1005840"/>
          </a:xfrm>
          <a:prstGeom prst="rect">
            <a:avLst/>
          </a:prstGeom>
          <a:solidFill>
            <a:srgbClr val="D6E8F7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623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📄 Structure d'un document MongoDB 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943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76C"/>
                </a:solidFill>
              </a:rPr>
              <a:t>name  •  age  •  gender  •  blood_type  •  medical_condition  •  date_of_admission  •  doctor  •  hospital  •  insurance_provider  •  billing_amount  •  room_number  •  admission_type  •  discharge_date  •  medication  •  test_results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04 – OPÉRATIONS CRUD SUR MONGODB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560320" cy="109728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➕
CREATE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377440"/>
            <a:ext cx="2560320" cy="3200400"/>
          </a:xfrm>
          <a:prstGeom prst="rect">
            <a:avLst/>
          </a:prstGeom>
          <a:solidFill>
            <a:srgbClr val="D6E8F7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76C"/>
                </a:solidFill>
              </a:rPr>
              <a:t>create_one_document()
create_documents()
Insertion d'un ou plusieurs
documents dans la collection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188720"/>
            <a:ext cx="256032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🔍
READ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2377440"/>
            <a:ext cx="2560320" cy="3200400"/>
          </a:xfrm>
          <a:prstGeom prst="rect">
            <a:avLst/>
          </a:prstGeom>
          <a:solidFill>
            <a:srgbClr val="D6E8F7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46888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76C"/>
                </a:solidFill>
              </a:rPr>
              <a:t>read_one_document()
read_documents()
Lecture avec filtres,
champs et limite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2560320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✏️
UPDATE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377440"/>
            <a:ext cx="2560320" cy="3200400"/>
          </a:xfrm>
          <a:prstGeom prst="rect">
            <a:avLst/>
          </a:prstGeom>
          <a:solidFill>
            <a:srgbClr val="D6E8F7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246888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76C"/>
                </a:solidFill>
              </a:rPr>
              <a:t>update_one_document()
update_documents()
Mise à jour d'un ou
plusieurs documents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1188720"/>
            <a:ext cx="2560320" cy="10972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🗑️
DELETE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2377440"/>
            <a:ext cx="2560320" cy="3200400"/>
          </a:xfrm>
          <a:prstGeom prst="rect">
            <a:avLst/>
          </a:prstGeom>
          <a:solidFill>
            <a:srgbClr val="D6E8F7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246888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76C"/>
                </a:solidFill>
              </a:rPr>
              <a:t>delete_one_document()
delete_documents()
delete_collection()
Suppression ciblée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806440"/>
            <a:ext cx="11430000" cy="777240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💡 Export des données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85216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76C"/>
                </a:solidFill>
              </a:rPr>
              <a:t>export_mongodb() — exporte les données filtrées depuis MongoDB vers un fichier CSV (export.csv) dans /donnees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05 – CONTENEURISATION AVEC DOCKER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97280"/>
            <a:ext cx="8229600" cy="5120640"/>
          </a:xfrm>
          <a:prstGeom prst="rect">
            <a:avLst/>
          </a:prstGeom>
          <a:solidFill>
            <a:srgbClr val="D6E8F7"/>
          </a:solidFill>
          <a:ln w="254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6FBF"/>
                </a:solidFill>
              </a:rPr>
              <a:t>🐳 Docker Compose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377440" cy="5029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🗄️ mongo_datasolutech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3172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76C"/>
                </a:solidFill>
              </a:rPr>
              <a:t>Image: mongo:latest
Port interne: 27017
Volume: volume_mongodb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657600"/>
            <a:ext cx="237744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🧪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16052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76C"/>
                </a:solidFill>
              </a:rPr>
              <a:t>Dockerfile.test
CMD: pytest -v
Dépend de: mongo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828800"/>
            <a:ext cx="237744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⬆️ migration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33172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377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76C"/>
                </a:solidFill>
              </a:rPr>
              <a:t>Dockerfile
CMD: script_migration
Dépend de: mongo + 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3657600"/>
            <a:ext cx="2377440" cy="50292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📤 export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4160520"/>
            <a:ext cx="23774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42062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76C"/>
                </a:solidFill>
              </a:rPr>
              <a:t>Dockerfile.export
CMD: script_export
Dépend de: migration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A376C"/>
                </a:solidFill>
              </a:rPr>
              <a:t>depends_on 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886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A376C"/>
                </a:solidFill>
              </a:rPr>
              <a:t>depends_on 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91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A376C"/>
                </a:solidFill>
              </a:rPr>
              <a:t>▼ depends_on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291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A376C"/>
                </a:solidFill>
              </a:rPr>
              <a:t>▼ depends_on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2286000"/>
            <a:ext cx="3291840" cy="1371600"/>
          </a:xfrm>
          <a:prstGeom prst="rect">
            <a:avLst/>
          </a:prstGeom>
          <a:solidFill>
            <a:srgbClr val="FFF3CD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💻 Machine Hôte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743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76C"/>
                </a:solidFill>
              </a:rPr>
              <a:t>localhost:27018
(MongoDB Compass)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697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</a:rPr>
              <a:t>◀ ▶ Port 27018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5486400"/>
            <a:ext cx="11795760" cy="777240"/>
          </a:xfrm>
          <a:prstGeom prst="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532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⚡ Ordre d'exécution 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5321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76C"/>
                </a:solidFill>
              </a:rPr>
              <a:t>1. mongo_datasolutech  →  2. test (pytest)  →  3. migration (script CSV→MongoDB)  →  4. export (CSV depuis MongoDB)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06 – TESTS AUTOMATISÉS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606040" cy="5486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test_cleaning_df.py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2606040" cy="3840480"/>
          </a:xfrm>
          <a:prstGeom prst="rect">
            <a:avLst/>
          </a:prstGeom>
          <a:solidFill>
            <a:srgbClr val="D6E8F7"/>
          </a:solidFill>
          <a:ln w="12700">
            <a:solidFill>
              <a:srgbClr val="1A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✅ test_clean_columns_name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5915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✅ test_clean_columns_content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89504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✅ test_billing_negatif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419856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✅ test_dates_incoherence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188720"/>
            <a:ext cx="2606040" cy="5486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test_crud_mongodb.py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737360"/>
            <a:ext cx="2606040" cy="3840480"/>
          </a:xfrm>
          <a:prstGeom prst="rect">
            <a:avLst/>
          </a:prstGeom>
          <a:solidFill>
            <a:srgbClr val="D6E8F7"/>
          </a:solidFill>
          <a:ln w="12700">
            <a:solidFill>
              <a:srgbClr val="1A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8288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✅ test_create_one_document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35915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✅ test_create_documents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89504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✅ test_read_one/documents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419856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✅ test_update_one/documents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95020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✅ test_delete_one/documents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44805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✅ test_delete_collection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188720"/>
            <a:ext cx="2606040" cy="5486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test_export_mongodb.py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737360"/>
            <a:ext cx="2606040" cy="3840480"/>
          </a:xfrm>
          <a:prstGeom prst="rect">
            <a:avLst/>
          </a:prstGeom>
          <a:solidFill>
            <a:srgbClr val="D6E8F7"/>
          </a:solidFill>
          <a:ln w="12700">
            <a:solidFill>
              <a:srgbClr val="1A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18288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✅ test_export_mongodb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35915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✅ test_delete_collection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1188720"/>
            <a:ext cx="2606040" cy="5486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test_migration_index_mongodb.py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1737360"/>
            <a:ext cx="2606040" cy="3840480"/>
          </a:xfrm>
          <a:prstGeom prst="rect">
            <a:avLst/>
          </a:prstGeom>
          <a:solidFill>
            <a:srgbClr val="D6E8F7"/>
          </a:solidFill>
          <a:ln w="12700">
            <a:solidFill>
              <a:srgbClr val="1A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8288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✅ test_migrate_mongodb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35915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</a:rPr>
              <a:t>✅ test_create_index_mongodb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715000"/>
            <a:ext cx="11430000" cy="868680"/>
          </a:xfrm>
          <a:prstGeom prst="rect">
            <a:avLst/>
          </a:prstGeom>
          <a:solidFill>
            <a:srgbClr val="D5F5E3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760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🎯 Résultat 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760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76C"/>
                </a:solidFill>
              </a:rPr>
              <a:t>22 tests PASSED — 100% de réussite  |  Framework : pytest  |  Exécution automatique via Docker (service test)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07 – DÉPLOIEMENT CLOUD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</a:rPr>
              <a:t>Options AWS pour déployer MongoDB en production :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45920"/>
            <a:ext cx="2743200" cy="5943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☁️ Amazon S3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240280"/>
            <a:ext cx="2743200" cy="3200400"/>
          </a:xfrm>
          <a:prstGeom prst="rect">
            <a:avLst/>
          </a:prstGeom>
          <a:solidFill>
            <a:srgbClr val="D6E8F7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3317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76C"/>
                </a:solidFill>
              </a:rPr>
              <a:t>Stockage d'objets
• Archivage des CSV source
• Backup des exports
• Faible coût
• Haute disponibilité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645920"/>
            <a:ext cx="2743200" cy="5943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🗄️ Amazon DocumentDB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2240280"/>
            <a:ext cx="2743200" cy="3200400"/>
          </a:xfrm>
          <a:prstGeom prst="rect">
            <a:avLst/>
          </a:prstGeom>
          <a:solidFill>
            <a:srgbClr val="D6E8F7"/>
          </a:solidFill>
          <a:ln w="1905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23317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76C"/>
                </a:solidFill>
              </a:rPr>
              <a:t>Compatible MongoDB
• Service managé AWS
• Scalabilité automatique
• Sécurité intégrée
• Haute disponibilité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2743200" cy="594360"/>
          </a:xfrm>
          <a:prstGeom prst="rect">
            <a:avLst/>
          </a:prstGeom>
          <a:solidFill>
            <a:srgbClr val="FF4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🐳 Amazon ECS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240280"/>
            <a:ext cx="2743200" cy="3200400"/>
          </a:xfrm>
          <a:prstGeom prst="rect">
            <a:avLst/>
          </a:prstGeom>
          <a:solidFill>
            <a:srgbClr val="D6E8F7"/>
          </a:solidFill>
          <a:ln w="19050">
            <a:solidFill>
              <a:srgbClr val="FF4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3317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76C"/>
                </a:solidFill>
              </a:rPr>
              <a:t>Conteneurs Docker
• Déploiement des images
• Orchestration auto
• Intégration CI/CD
• Gestion des services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1645920"/>
            <a:ext cx="2743200" cy="594360"/>
          </a:xfrm>
          <a:prstGeom prst="rect">
            <a:avLst/>
          </a:prstGeom>
          <a:solidFill>
            <a:srgbClr val="52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🔧 Amazon 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2240280"/>
            <a:ext cx="2743200" cy="3200400"/>
          </a:xfrm>
          <a:prstGeom prst="rect">
            <a:avLst/>
          </a:prstGeom>
          <a:solidFill>
            <a:srgbClr val="D6E8F7"/>
          </a:solidFill>
          <a:ln w="19050">
            <a:solidFill>
              <a:srgbClr val="52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3317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76C"/>
                </a:solidFill>
              </a:rPr>
              <a:t>Base de données managée
• Pour données relationnelles
• Backup automatique
• Multi-AZ disponible
• Complémentaire MongoDB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577840"/>
            <a:ext cx="11430000" cy="1005840"/>
          </a:xfrm>
          <a:prstGeom prst="rect">
            <a:avLst/>
          </a:prstGeom>
          <a:solidFill>
            <a:srgbClr val="FFF3CD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623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🏗️ Architecture cible AWS 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623560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76C"/>
                </a:solidFill>
              </a:rPr>
              <a:t>CSV / Source  →  S3 (stockage)  →  ECS (conteneurs Docker migration/export)  →  DocumentDB (MongoDB)  →  S3 (export CSV)
Avantages : scalabilité, disponibilité, sécurité, coûts maîtrisés, zéro maintenance infrastructure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08 – JUSTIFICATION DES CHOIX TECHNOLOGIQUES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486400" cy="59436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🍃 MongoDB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83080"/>
            <a:ext cx="5486400" cy="1874519"/>
          </a:xfrm>
          <a:prstGeom prst="rect">
            <a:avLst/>
          </a:prstGeom>
          <a:solidFill>
            <a:srgbClr val="D6E8F7"/>
          </a:solidFill>
          <a:ln w="1905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874519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76C"/>
                </a:solidFill>
              </a:rPr>
              <a:t>• Schéma flexible (documents JSON)
• Adapté aux données médicales hétérogènes
• Scalabilité horizontale
• Index pour performances
• Ecosystème riche (pymongo)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486400" cy="594360"/>
          </a:xfrm>
          <a:prstGeom prst="rect">
            <a:avLst/>
          </a:prstGeom>
          <a:solidFill>
            <a:srgbClr val="306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🐍 Python / pandas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486400" cy="1874519"/>
          </a:xfrm>
          <a:prstGeom prst="rect">
            <a:avLst/>
          </a:prstGeom>
          <a:solidFill>
            <a:srgbClr val="D6E8F7"/>
          </a:solidFill>
          <a:ln w="19050">
            <a:solidFill>
              <a:srgbClr val="306B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74519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76C"/>
                </a:solidFill>
              </a:rPr>
              <a:t>• Nettoyage de données puissant
• Intégration native pymongo
• Code modulaire et maintenable
• Tests avec pytest
• Large communauté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794760"/>
            <a:ext cx="5486400" cy="594360"/>
          </a:xfrm>
          <a:prstGeom prst="rect">
            <a:avLst/>
          </a:prstGeom>
          <a:solidFill>
            <a:srgbClr val="039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🐳 Docker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389120"/>
            <a:ext cx="5486400" cy="1874519"/>
          </a:xfrm>
          <a:prstGeom prst="rect">
            <a:avLst/>
          </a:prstGeom>
          <a:solidFill>
            <a:srgbClr val="D6E8F7"/>
          </a:solidFill>
          <a:ln w="19050">
            <a:solidFill>
              <a:srgbClr val="039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4480560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76C"/>
                </a:solidFill>
              </a:rPr>
              <a:t>• Environnement reproductible
• Isolation des services
• Déploiement simplifié
• Composition multi-services
• Portabilité totale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794760"/>
            <a:ext cx="548640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☁️ AWS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389120"/>
            <a:ext cx="5486400" cy="1874519"/>
          </a:xfrm>
          <a:prstGeom prst="rect">
            <a:avLst/>
          </a:prstGeom>
          <a:solidFill>
            <a:srgbClr val="D6E8F7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4480560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376C"/>
                </a:solidFill>
              </a:rPr>
              <a:t>• Infrastructure managée
• Haute disponibilité
• Sécurité enterprise
• Scalabilité on-demand
• Services complémentaires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 &amp; BILAN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1097280"/>
          </a:xfrm>
          <a:prstGeom prst="rect">
            <a:avLst/>
          </a:prstGeom>
          <a:solidFill>
            <a:srgbClr val="276FB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✅ Migration réussie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55 500 → 54 860 documents migrés après nettoyage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17319"/>
            <a:ext cx="5303520" cy="1097280"/>
          </a:xfrm>
          <a:prstGeom prst="rect">
            <a:avLst/>
          </a:prstGeom>
          <a:solidFill>
            <a:srgbClr val="276FB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✅ Architecture modulaire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2023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Code organisé en fonctions réutilisables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5303520" cy="1097280"/>
          </a:xfrm>
          <a:prstGeom prst="rect">
            <a:avLst/>
          </a:prstGeom>
          <a:solidFill>
            <a:srgbClr val="276FB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✅ 22 tests PASSED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54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Qualité du code garantie par pytest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788920"/>
            <a:ext cx="5303520" cy="1097280"/>
          </a:xfrm>
          <a:prstGeom prst="rect">
            <a:avLst/>
          </a:prstGeom>
          <a:solidFill>
            <a:srgbClr val="276FB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✅ Conteneurisation complète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29183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 services Docker orchestrés via compose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5303520" cy="1097280"/>
          </a:xfrm>
          <a:prstGeom prst="rect">
            <a:avLst/>
          </a:prstGeom>
          <a:solidFill>
            <a:srgbClr val="276FBF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✅ Prêt pour le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5262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Architecture AWS définie pour la production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0807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DataSoluTech – Projet 5 OpenClassrooms – Data Engineer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