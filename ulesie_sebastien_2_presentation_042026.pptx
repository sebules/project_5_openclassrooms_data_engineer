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6"/>
  </p:notesMasterIdLst>
  <p:handoutMasterIdLst>
    <p:handoutMasterId r:id="rId27"/>
  </p:handoutMasterIdLst>
  <p:sldIdLst>
    <p:sldId id="257" r:id="rId2"/>
    <p:sldId id="261" r:id="rId3"/>
    <p:sldId id="262" r:id="rId4"/>
    <p:sldId id="259" r:id="rId5"/>
    <p:sldId id="260" r:id="rId6"/>
    <p:sldId id="263" r:id="rId7"/>
    <p:sldId id="264" r:id="rId8"/>
    <p:sldId id="266" r:id="rId9"/>
    <p:sldId id="267" r:id="rId10"/>
    <p:sldId id="268" r:id="rId11"/>
    <p:sldId id="269" r:id="rId12"/>
    <p:sldId id="270" r:id="rId13"/>
    <p:sldId id="265" r:id="rId14"/>
    <p:sldId id="271" r:id="rId15"/>
    <p:sldId id="273" r:id="rId16"/>
    <p:sldId id="275" r:id="rId17"/>
    <p:sldId id="278" r:id="rId18"/>
    <p:sldId id="274" r:id="rId19"/>
    <p:sldId id="276" r:id="rId20"/>
    <p:sldId id="277" r:id="rId21"/>
    <p:sldId id="279" r:id="rId22"/>
    <p:sldId id="283" r:id="rId23"/>
    <p:sldId id="272" r:id="rId24"/>
    <p:sldId id="282" r:id="rId25"/>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0612ED-5876-4919-BCC8-600F5B229E71}"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fr-FR"/>
        </a:p>
      </dgm:t>
    </dgm:pt>
    <dgm:pt modelId="{ACF00B4C-E6D7-4CF7-AFA6-22ECB4A54A6A}">
      <dgm:prSet phldrT="[Texte]" phldr="0"/>
      <dgm:spPr/>
      <dgm:t>
        <a:bodyPr/>
        <a:lstStyle/>
        <a:p>
          <a:r>
            <a:rPr lang="fr-FR" dirty="0"/>
            <a:t>1- Présentation du projet et des données</a:t>
          </a:r>
        </a:p>
      </dgm:t>
    </dgm:pt>
    <dgm:pt modelId="{FDD0A571-75BF-47A0-B20D-C0A8085AC3A7}" type="parTrans" cxnId="{9B4DC1D0-0933-42AD-B402-BAE36805541F}">
      <dgm:prSet/>
      <dgm:spPr/>
      <dgm:t>
        <a:bodyPr/>
        <a:lstStyle/>
        <a:p>
          <a:endParaRPr lang="fr-FR"/>
        </a:p>
      </dgm:t>
    </dgm:pt>
    <dgm:pt modelId="{F49AE16D-0DC3-4DA7-9732-CC9EE6A681A0}" type="sibTrans" cxnId="{9B4DC1D0-0933-42AD-B402-BAE36805541F}">
      <dgm:prSet/>
      <dgm:spPr/>
      <dgm:t>
        <a:bodyPr/>
        <a:lstStyle/>
        <a:p>
          <a:endParaRPr lang="fr-FR"/>
        </a:p>
      </dgm:t>
    </dgm:pt>
    <dgm:pt modelId="{09562225-7FCE-4E93-8C05-403975C5475D}">
      <dgm:prSet phldrT="[Texte]" phldr="0"/>
      <dgm:spPr/>
      <dgm:t>
        <a:bodyPr/>
        <a:lstStyle/>
        <a:p>
          <a:r>
            <a:rPr lang="fr-FR" dirty="0"/>
            <a:t>4- Analyse statistique des indicateurs</a:t>
          </a:r>
        </a:p>
      </dgm:t>
    </dgm:pt>
    <dgm:pt modelId="{0781F10D-ED0A-48FE-B536-0CE0EEFECEC3}" type="parTrans" cxnId="{F64BF8E3-3C7F-43B9-85CA-B98717DDCE52}">
      <dgm:prSet/>
      <dgm:spPr/>
      <dgm:t>
        <a:bodyPr/>
        <a:lstStyle/>
        <a:p>
          <a:endParaRPr lang="fr-FR"/>
        </a:p>
      </dgm:t>
    </dgm:pt>
    <dgm:pt modelId="{A16D4EFB-D346-4379-AC60-BC2431B43AE4}" type="sibTrans" cxnId="{F64BF8E3-3C7F-43B9-85CA-B98717DDCE52}">
      <dgm:prSet/>
      <dgm:spPr/>
      <dgm:t>
        <a:bodyPr/>
        <a:lstStyle/>
        <a:p>
          <a:endParaRPr lang="fr-FR"/>
        </a:p>
      </dgm:t>
    </dgm:pt>
    <dgm:pt modelId="{91C5EE06-7918-4F4E-ABC8-78B22D3546A2}">
      <dgm:prSet phldrT="[Texte]" phldr="0"/>
      <dgm:spPr/>
      <dgm:t>
        <a:bodyPr/>
        <a:lstStyle/>
        <a:p>
          <a:r>
            <a:rPr lang="fr-FR" dirty="0"/>
            <a:t>3- Sélection des indicateurs pertinents</a:t>
          </a:r>
        </a:p>
      </dgm:t>
    </dgm:pt>
    <dgm:pt modelId="{F8E08B12-C3B4-44EB-8CAC-1ED61F0F2D2E}" type="parTrans" cxnId="{BA2CB65B-D598-4090-8A83-B9D804C83F04}">
      <dgm:prSet/>
      <dgm:spPr/>
      <dgm:t>
        <a:bodyPr/>
        <a:lstStyle/>
        <a:p>
          <a:endParaRPr lang="fr-FR"/>
        </a:p>
      </dgm:t>
    </dgm:pt>
    <dgm:pt modelId="{E6385450-D9A5-4D9C-B992-73589E40A9D7}" type="sibTrans" cxnId="{BA2CB65B-D598-4090-8A83-B9D804C83F04}">
      <dgm:prSet/>
      <dgm:spPr/>
      <dgm:t>
        <a:bodyPr/>
        <a:lstStyle/>
        <a:p>
          <a:endParaRPr lang="fr-FR"/>
        </a:p>
      </dgm:t>
    </dgm:pt>
    <dgm:pt modelId="{137669DF-45F8-40AE-925B-B1ADA604DE22}">
      <dgm:prSet phldrT="[Texte]" phldr="0"/>
      <dgm:spPr/>
      <dgm:t>
        <a:bodyPr/>
        <a:lstStyle/>
        <a:p>
          <a:r>
            <a:rPr lang="fr-FR" b="0" dirty="0"/>
            <a:t>2- Méthodologie de nettoyage et de réduction</a:t>
          </a:r>
        </a:p>
      </dgm:t>
    </dgm:pt>
    <dgm:pt modelId="{6B54155B-5F84-497A-BFEF-EA323E20BA10}" type="parTrans" cxnId="{8D0E12F4-8B86-4A1B-98D0-2FAA70F1362B}">
      <dgm:prSet/>
      <dgm:spPr/>
      <dgm:t>
        <a:bodyPr/>
        <a:lstStyle/>
        <a:p>
          <a:endParaRPr lang="fr-FR"/>
        </a:p>
      </dgm:t>
    </dgm:pt>
    <dgm:pt modelId="{2F249443-FEF1-43B6-A7E1-9A73B0A25AE0}" type="sibTrans" cxnId="{8D0E12F4-8B86-4A1B-98D0-2FAA70F1362B}">
      <dgm:prSet/>
      <dgm:spPr/>
      <dgm:t>
        <a:bodyPr/>
        <a:lstStyle/>
        <a:p>
          <a:endParaRPr lang="fr-FR"/>
        </a:p>
      </dgm:t>
    </dgm:pt>
    <dgm:pt modelId="{10F4FD06-E452-44ED-A921-58727BCB960A}">
      <dgm:prSet phldrT="[Texte]" phldr="0"/>
      <dgm:spPr/>
      <dgm:t>
        <a:bodyPr/>
        <a:lstStyle/>
        <a:p>
          <a:r>
            <a:rPr lang="fr-FR" dirty="0"/>
            <a:t>5- Conclusions et recommandations stratégiques</a:t>
          </a:r>
        </a:p>
      </dgm:t>
    </dgm:pt>
    <dgm:pt modelId="{B7E01A7A-0B52-49F1-9D84-3CDC11E7F5E7}" type="parTrans" cxnId="{8B050C56-35A9-489A-B54E-3E969E6E5C65}">
      <dgm:prSet/>
      <dgm:spPr/>
      <dgm:t>
        <a:bodyPr/>
        <a:lstStyle/>
        <a:p>
          <a:endParaRPr lang="fr-FR"/>
        </a:p>
      </dgm:t>
    </dgm:pt>
    <dgm:pt modelId="{BF084CD2-773F-4397-B5DA-1C0C0BAF6D87}" type="sibTrans" cxnId="{8B050C56-35A9-489A-B54E-3E969E6E5C65}">
      <dgm:prSet/>
      <dgm:spPr/>
      <dgm:t>
        <a:bodyPr/>
        <a:lstStyle/>
        <a:p>
          <a:endParaRPr lang="fr-FR"/>
        </a:p>
      </dgm:t>
    </dgm:pt>
    <dgm:pt modelId="{BB89F849-78B2-43DF-933A-2353D297DD5D}" type="pres">
      <dgm:prSet presAssocID="{2A0612ED-5876-4919-BCC8-600F5B229E71}" presName="linear" presStyleCnt="0">
        <dgm:presLayoutVars>
          <dgm:animLvl val="lvl"/>
          <dgm:resizeHandles val="exact"/>
        </dgm:presLayoutVars>
      </dgm:prSet>
      <dgm:spPr/>
    </dgm:pt>
    <dgm:pt modelId="{BB92269C-473B-4581-93AF-AD006B94C36C}" type="pres">
      <dgm:prSet presAssocID="{ACF00B4C-E6D7-4CF7-AFA6-22ECB4A54A6A}" presName="parentText" presStyleLbl="node1" presStyleIdx="0" presStyleCnt="5">
        <dgm:presLayoutVars>
          <dgm:chMax val="0"/>
          <dgm:bulletEnabled val="1"/>
        </dgm:presLayoutVars>
      </dgm:prSet>
      <dgm:spPr/>
    </dgm:pt>
    <dgm:pt modelId="{4B66C130-72C2-4DC4-9911-87CBCB4195E5}" type="pres">
      <dgm:prSet presAssocID="{F49AE16D-0DC3-4DA7-9732-CC9EE6A681A0}" presName="spacer" presStyleCnt="0"/>
      <dgm:spPr/>
    </dgm:pt>
    <dgm:pt modelId="{90650EEF-1F9D-463E-A867-D4AB9F2E38B6}" type="pres">
      <dgm:prSet presAssocID="{137669DF-45F8-40AE-925B-B1ADA604DE22}" presName="parentText" presStyleLbl="node1" presStyleIdx="1" presStyleCnt="5">
        <dgm:presLayoutVars>
          <dgm:chMax val="0"/>
          <dgm:bulletEnabled val="1"/>
        </dgm:presLayoutVars>
      </dgm:prSet>
      <dgm:spPr/>
    </dgm:pt>
    <dgm:pt modelId="{B6F1EB67-BED4-4BFF-8AB0-2EA5A3B31FFE}" type="pres">
      <dgm:prSet presAssocID="{2F249443-FEF1-43B6-A7E1-9A73B0A25AE0}" presName="spacer" presStyleCnt="0"/>
      <dgm:spPr/>
    </dgm:pt>
    <dgm:pt modelId="{C0F2F60F-49A7-486C-BA84-7742A146D8C7}" type="pres">
      <dgm:prSet presAssocID="{91C5EE06-7918-4F4E-ABC8-78B22D3546A2}" presName="parentText" presStyleLbl="node1" presStyleIdx="2" presStyleCnt="5">
        <dgm:presLayoutVars>
          <dgm:chMax val="0"/>
          <dgm:bulletEnabled val="1"/>
        </dgm:presLayoutVars>
      </dgm:prSet>
      <dgm:spPr/>
    </dgm:pt>
    <dgm:pt modelId="{0D1D8BE0-65D2-40B4-9127-53B188EBFA7A}" type="pres">
      <dgm:prSet presAssocID="{E6385450-D9A5-4D9C-B992-73589E40A9D7}" presName="spacer" presStyleCnt="0"/>
      <dgm:spPr/>
    </dgm:pt>
    <dgm:pt modelId="{188E501D-B60D-4714-8E70-1CD5D6D0CD0B}" type="pres">
      <dgm:prSet presAssocID="{09562225-7FCE-4E93-8C05-403975C5475D}" presName="parentText" presStyleLbl="node1" presStyleIdx="3" presStyleCnt="5">
        <dgm:presLayoutVars>
          <dgm:chMax val="0"/>
          <dgm:bulletEnabled val="1"/>
        </dgm:presLayoutVars>
      </dgm:prSet>
      <dgm:spPr/>
    </dgm:pt>
    <dgm:pt modelId="{01202958-3686-43FE-B599-602B95F887BF}" type="pres">
      <dgm:prSet presAssocID="{A16D4EFB-D346-4379-AC60-BC2431B43AE4}" presName="spacer" presStyleCnt="0"/>
      <dgm:spPr/>
    </dgm:pt>
    <dgm:pt modelId="{DF10A574-F3D9-4FC2-A6EE-E7E8311CF638}" type="pres">
      <dgm:prSet presAssocID="{10F4FD06-E452-44ED-A921-58727BCB960A}" presName="parentText" presStyleLbl="node1" presStyleIdx="4" presStyleCnt="5">
        <dgm:presLayoutVars>
          <dgm:chMax val="0"/>
          <dgm:bulletEnabled val="1"/>
        </dgm:presLayoutVars>
      </dgm:prSet>
      <dgm:spPr/>
    </dgm:pt>
  </dgm:ptLst>
  <dgm:cxnLst>
    <dgm:cxn modelId="{72D84625-8B4D-4B3B-B34F-C7465EF419B4}" type="presOf" srcId="{09562225-7FCE-4E93-8C05-403975C5475D}" destId="{188E501D-B60D-4714-8E70-1CD5D6D0CD0B}" srcOrd="0" destOrd="0" presId="urn:microsoft.com/office/officeart/2005/8/layout/vList2"/>
    <dgm:cxn modelId="{BA2CB65B-D598-4090-8A83-B9D804C83F04}" srcId="{2A0612ED-5876-4919-BCC8-600F5B229E71}" destId="{91C5EE06-7918-4F4E-ABC8-78B22D3546A2}" srcOrd="2" destOrd="0" parTransId="{F8E08B12-C3B4-44EB-8CAC-1ED61F0F2D2E}" sibTransId="{E6385450-D9A5-4D9C-B992-73589E40A9D7}"/>
    <dgm:cxn modelId="{8B050C56-35A9-489A-B54E-3E969E6E5C65}" srcId="{2A0612ED-5876-4919-BCC8-600F5B229E71}" destId="{10F4FD06-E452-44ED-A921-58727BCB960A}" srcOrd="4" destOrd="0" parTransId="{B7E01A7A-0B52-49F1-9D84-3CDC11E7F5E7}" sibTransId="{BF084CD2-773F-4397-B5DA-1C0C0BAF6D87}"/>
    <dgm:cxn modelId="{BB8CFB59-ECE7-4CBC-9556-8A3CF9727DDA}" type="presOf" srcId="{ACF00B4C-E6D7-4CF7-AFA6-22ECB4A54A6A}" destId="{BB92269C-473B-4581-93AF-AD006B94C36C}" srcOrd="0" destOrd="0" presId="urn:microsoft.com/office/officeart/2005/8/layout/vList2"/>
    <dgm:cxn modelId="{9D92CEA4-472E-4B56-8712-594017CD6C24}" type="presOf" srcId="{10F4FD06-E452-44ED-A921-58727BCB960A}" destId="{DF10A574-F3D9-4FC2-A6EE-E7E8311CF638}" srcOrd="0" destOrd="0" presId="urn:microsoft.com/office/officeart/2005/8/layout/vList2"/>
    <dgm:cxn modelId="{1FA19BB3-7E11-45B8-93CE-4B2E16B76669}" type="presOf" srcId="{2A0612ED-5876-4919-BCC8-600F5B229E71}" destId="{BB89F849-78B2-43DF-933A-2353D297DD5D}" srcOrd="0" destOrd="0" presId="urn:microsoft.com/office/officeart/2005/8/layout/vList2"/>
    <dgm:cxn modelId="{1AF982C7-C8EE-4870-AABC-FB5147AC9A32}" type="presOf" srcId="{137669DF-45F8-40AE-925B-B1ADA604DE22}" destId="{90650EEF-1F9D-463E-A867-D4AB9F2E38B6}" srcOrd="0" destOrd="0" presId="urn:microsoft.com/office/officeart/2005/8/layout/vList2"/>
    <dgm:cxn modelId="{9B4DC1D0-0933-42AD-B402-BAE36805541F}" srcId="{2A0612ED-5876-4919-BCC8-600F5B229E71}" destId="{ACF00B4C-E6D7-4CF7-AFA6-22ECB4A54A6A}" srcOrd="0" destOrd="0" parTransId="{FDD0A571-75BF-47A0-B20D-C0A8085AC3A7}" sibTransId="{F49AE16D-0DC3-4DA7-9732-CC9EE6A681A0}"/>
    <dgm:cxn modelId="{F64BF8E3-3C7F-43B9-85CA-B98717DDCE52}" srcId="{2A0612ED-5876-4919-BCC8-600F5B229E71}" destId="{09562225-7FCE-4E93-8C05-403975C5475D}" srcOrd="3" destOrd="0" parTransId="{0781F10D-ED0A-48FE-B536-0CE0EEFECEC3}" sibTransId="{A16D4EFB-D346-4379-AC60-BC2431B43AE4}"/>
    <dgm:cxn modelId="{8D0E12F4-8B86-4A1B-98D0-2FAA70F1362B}" srcId="{2A0612ED-5876-4919-BCC8-600F5B229E71}" destId="{137669DF-45F8-40AE-925B-B1ADA604DE22}" srcOrd="1" destOrd="0" parTransId="{6B54155B-5F84-497A-BFEF-EA323E20BA10}" sibTransId="{2F249443-FEF1-43B6-A7E1-9A73B0A25AE0}"/>
    <dgm:cxn modelId="{4E34AAF5-1699-46BD-92E5-02366CEB6C2B}" type="presOf" srcId="{91C5EE06-7918-4F4E-ABC8-78B22D3546A2}" destId="{C0F2F60F-49A7-486C-BA84-7742A146D8C7}" srcOrd="0" destOrd="0" presId="urn:microsoft.com/office/officeart/2005/8/layout/vList2"/>
    <dgm:cxn modelId="{32BC9673-159F-477D-812B-1E5F3FE83DAD}" type="presParOf" srcId="{BB89F849-78B2-43DF-933A-2353D297DD5D}" destId="{BB92269C-473B-4581-93AF-AD006B94C36C}" srcOrd="0" destOrd="0" presId="urn:microsoft.com/office/officeart/2005/8/layout/vList2"/>
    <dgm:cxn modelId="{A28352EE-237E-4724-8018-9BD872C31A3B}" type="presParOf" srcId="{BB89F849-78B2-43DF-933A-2353D297DD5D}" destId="{4B66C130-72C2-4DC4-9911-87CBCB4195E5}" srcOrd="1" destOrd="0" presId="urn:microsoft.com/office/officeart/2005/8/layout/vList2"/>
    <dgm:cxn modelId="{5CB68A64-ED28-4F71-8174-2BD319D43FD1}" type="presParOf" srcId="{BB89F849-78B2-43DF-933A-2353D297DD5D}" destId="{90650EEF-1F9D-463E-A867-D4AB9F2E38B6}" srcOrd="2" destOrd="0" presId="urn:microsoft.com/office/officeart/2005/8/layout/vList2"/>
    <dgm:cxn modelId="{663B79CA-AF34-42CE-ABD1-1397810ACF3B}" type="presParOf" srcId="{BB89F849-78B2-43DF-933A-2353D297DD5D}" destId="{B6F1EB67-BED4-4BFF-8AB0-2EA5A3B31FFE}" srcOrd="3" destOrd="0" presId="urn:microsoft.com/office/officeart/2005/8/layout/vList2"/>
    <dgm:cxn modelId="{42CC9DDE-BC30-4FD8-8FDD-4AFDD000929E}" type="presParOf" srcId="{BB89F849-78B2-43DF-933A-2353D297DD5D}" destId="{C0F2F60F-49A7-486C-BA84-7742A146D8C7}" srcOrd="4" destOrd="0" presId="urn:microsoft.com/office/officeart/2005/8/layout/vList2"/>
    <dgm:cxn modelId="{9BFAF73C-FF3F-4500-8FD0-55592E017415}" type="presParOf" srcId="{BB89F849-78B2-43DF-933A-2353D297DD5D}" destId="{0D1D8BE0-65D2-40B4-9127-53B188EBFA7A}" srcOrd="5" destOrd="0" presId="urn:microsoft.com/office/officeart/2005/8/layout/vList2"/>
    <dgm:cxn modelId="{722F17F9-025F-4A00-8C4F-4AD0DED9C8D9}" type="presParOf" srcId="{BB89F849-78B2-43DF-933A-2353D297DD5D}" destId="{188E501D-B60D-4714-8E70-1CD5D6D0CD0B}" srcOrd="6" destOrd="0" presId="urn:microsoft.com/office/officeart/2005/8/layout/vList2"/>
    <dgm:cxn modelId="{7E3B1C48-B0EC-471B-84F4-F66A169FC015}" type="presParOf" srcId="{BB89F849-78B2-43DF-933A-2353D297DD5D}" destId="{01202958-3686-43FE-B599-602B95F887BF}" srcOrd="7" destOrd="0" presId="urn:microsoft.com/office/officeart/2005/8/layout/vList2"/>
    <dgm:cxn modelId="{A86046FE-DA09-46BB-9435-870181EB0DD1}" type="presParOf" srcId="{BB89F849-78B2-43DF-933A-2353D297DD5D}" destId="{DF10A574-F3D9-4FC2-A6EE-E7E8311CF638}"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883913-3948-460A-9D72-6180A3B6600D}"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fr-FR"/>
        </a:p>
      </dgm:t>
    </dgm:pt>
    <dgm:pt modelId="{7DC35DBE-77E8-4794-9356-B4FD4CA2156D}">
      <dgm:prSet phldrT="[Texte]" phldr="0"/>
      <dgm:spPr/>
      <dgm:t>
        <a:bodyPr/>
        <a:lstStyle/>
        <a:p>
          <a:r>
            <a:rPr lang="fr-FR" b="1" dirty="0" err="1"/>
            <a:t>Academy</a:t>
          </a:r>
          <a:endParaRPr lang="fr-FR" b="1" dirty="0"/>
        </a:p>
      </dgm:t>
    </dgm:pt>
    <dgm:pt modelId="{F703BED5-3049-4EFA-8046-035B748AC1B4}" type="parTrans" cxnId="{36B9918B-D034-426E-ACAF-90BCF7FEF7FF}">
      <dgm:prSet/>
      <dgm:spPr/>
      <dgm:t>
        <a:bodyPr/>
        <a:lstStyle/>
        <a:p>
          <a:endParaRPr lang="fr-FR"/>
        </a:p>
      </dgm:t>
    </dgm:pt>
    <dgm:pt modelId="{6F98132B-ABB2-49C6-9DA3-D654A65FD130}" type="sibTrans" cxnId="{36B9918B-D034-426E-ACAF-90BCF7FEF7FF}">
      <dgm:prSet/>
      <dgm:spPr/>
      <dgm:t>
        <a:bodyPr/>
        <a:lstStyle/>
        <a:p>
          <a:endParaRPr lang="fr-FR"/>
        </a:p>
      </dgm:t>
    </dgm:pt>
    <dgm:pt modelId="{D36B370B-C427-4566-B3FD-8442F6815D98}">
      <dgm:prSet phldrT="[Texte]" phldr="0" custT="1"/>
      <dgm:spPr/>
      <dgm:t>
        <a:bodyPr anchor="ctr" anchorCtr="1"/>
        <a:lstStyle/>
        <a:p>
          <a:pPr>
            <a:buNone/>
          </a:pPr>
          <a:r>
            <a:rPr lang="fr-FR" sz="2300" dirty="0"/>
            <a:t>Start-up </a:t>
          </a:r>
          <a:r>
            <a:rPr lang="fr-FR" sz="2300" dirty="0" err="1"/>
            <a:t>EdTech</a:t>
          </a:r>
          <a:r>
            <a:rPr lang="fr-FR" sz="2300" dirty="0"/>
            <a:t> qui propose des </a:t>
          </a:r>
          <a:r>
            <a:rPr lang="fr-FR" sz="2300" b="0" i="0" dirty="0"/>
            <a:t>contenus de formation en ligne pour un public de niveau lycée et université</a:t>
          </a:r>
          <a:endParaRPr lang="fr-FR" sz="2300" dirty="0"/>
        </a:p>
      </dgm:t>
    </dgm:pt>
    <dgm:pt modelId="{D9510F50-0BB8-4A1A-93B0-35D622D846AC}" type="parTrans" cxnId="{8E9F22D7-ED1A-4D7E-8B95-398B050FB166}">
      <dgm:prSet/>
      <dgm:spPr/>
      <dgm:t>
        <a:bodyPr/>
        <a:lstStyle/>
        <a:p>
          <a:endParaRPr lang="fr-FR"/>
        </a:p>
      </dgm:t>
    </dgm:pt>
    <dgm:pt modelId="{BDF30E97-670C-4BEA-99B3-0A0577CFA58A}" type="sibTrans" cxnId="{8E9F22D7-ED1A-4D7E-8B95-398B050FB166}">
      <dgm:prSet/>
      <dgm:spPr/>
      <dgm:t>
        <a:bodyPr/>
        <a:lstStyle/>
        <a:p>
          <a:endParaRPr lang="fr-FR"/>
        </a:p>
      </dgm:t>
    </dgm:pt>
    <dgm:pt modelId="{36AA461D-69F0-449A-818B-AD269527D222}">
      <dgm:prSet phldrT="[Texte]" phldr="0"/>
      <dgm:spPr/>
      <dgm:t>
        <a:bodyPr/>
        <a:lstStyle/>
        <a:p>
          <a:r>
            <a:rPr lang="fr-FR" b="1" dirty="0"/>
            <a:t>Le projet</a:t>
          </a:r>
        </a:p>
      </dgm:t>
    </dgm:pt>
    <dgm:pt modelId="{5224802E-5BB9-42EE-8855-64FB18FD0384}" type="parTrans" cxnId="{7DAE04C2-D339-4652-8B42-F21991A61706}">
      <dgm:prSet/>
      <dgm:spPr/>
      <dgm:t>
        <a:bodyPr/>
        <a:lstStyle/>
        <a:p>
          <a:endParaRPr lang="fr-FR"/>
        </a:p>
      </dgm:t>
    </dgm:pt>
    <dgm:pt modelId="{83BE4DE7-B62A-456C-B454-971998ACB9F3}" type="sibTrans" cxnId="{7DAE04C2-D339-4652-8B42-F21991A61706}">
      <dgm:prSet/>
      <dgm:spPr/>
      <dgm:t>
        <a:bodyPr/>
        <a:lstStyle/>
        <a:p>
          <a:endParaRPr lang="fr-FR"/>
        </a:p>
      </dgm:t>
    </dgm:pt>
    <dgm:pt modelId="{233FA908-569B-45C1-A4F5-F12C14F4F639}">
      <dgm:prSet phldrT="[Texte]" custT="1"/>
      <dgm:spPr/>
      <dgm:t>
        <a:bodyPr anchor="ctr"/>
        <a:lstStyle/>
        <a:p>
          <a:pPr marL="228600" lvl="1" indent="-228600" algn="l" defTabSz="1022350">
            <a:lnSpc>
              <a:spcPct val="90000"/>
            </a:lnSpc>
            <a:spcBef>
              <a:spcPct val="0"/>
            </a:spcBef>
            <a:spcAft>
              <a:spcPct val="15000"/>
            </a:spcAft>
            <a:buNone/>
          </a:pPr>
          <a:r>
            <a:rPr lang="en-US" sz="2300" kern="1200" dirty="0">
              <a:solidFill>
                <a:prstClr val="black">
                  <a:hueOff val="0"/>
                  <a:satOff val="0"/>
                  <a:lumOff val="0"/>
                  <a:alphaOff val="0"/>
                </a:prstClr>
              </a:solidFill>
              <a:latin typeface="Franklin Gothic Book" panose="020B0502020104020203"/>
              <a:ea typeface="+mn-ea"/>
              <a:cs typeface="+mn-cs"/>
            </a:rPr>
            <a:t>Expansion </a:t>
          </a:r>
          <a:r>
            <a:rPr lang="en-US" sz="2300" kern="1200" dirty="0" err="1">
              <a:solidFill>
                <a:prstClr val="black">
                  <a:hueOff val="0"/>
                  <a:satOff val="0"/>
                  <a:lumOff val="0"/>
                  <a:alphaOff val="0"/>
                </a:prstClr>
              </a:solidFill>
              <a:latin typeface="Franklin Gothic Book" panose="020B0502020104020203"/>
              <a:ea typeface="+mn-ea"/>
              <a:cs typeface="+mn-cs"/>
            </a:rPr>
            <a:t>internationale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d’Academy</a:t>
          </a:r>
          <a:endParaRPr lang="fr-FR" sz="2300" kern="1200" dirty="0">
            <a:solidFill>
              <a:prstClr val="black">
                <a:hueOff val="0"/>
                <a:satOff val="0"/>
                <a:lumOff val="0"/>
                <a:alphaOff val="0"/>
              </a:prstClr>
            </a:solidFill>
            <a:latin typeface="Franklin Gothic Book" panose="020B0502020104020203"/>
            <a:ea typeface="+mn-ea"/>
            <a:cs typeface="+mn-cs"/>
          </a:endParaRPr>
        </a:p>
      </dgm:t>
    </dgm:pt>
    <dgm:pt modelId="{021EFB22-93A1-445C-88AD-01040B4D2F94}" type="parTrans" cxnId="{F63F058A-A7B4-4C8A-A623-CBD65084CBA8}">
      <dgm:prSet/>
      <dgm:spPr/>
      <dgm:t>
        <a:bodyPr/>
        <a:lstStyle/>
        <a:p>
          <a:endParaRPr lang="fr-FR"/>
        </a:p>
      </dgm:t>
    </dgm:pt>
    <dgm:pt modelId="{460A3050-65BE-4EF5-84FC-A7DA586BD3F9}" type="sibTrans" cxnId="{F63F058A-A7B4-4C8A-A623-CBD65084CBA8}">
      <dgm:prSet/>
      <dgm:spPr/>
      <dgm:t>
        <a:bodyPr/>
        <a:lstStyle/>
        <a:p>
          <a:endParaRPr lang="fr-FR"/>
        </a:p>
      </dgm:t>
    </dgm:pt>
    <dgm:pt modelId="{BA7AA354-3E16-46E2-8C70-000638F21316}">
      <dgm:prSet phldrT="[Texte]" phldr="0"/>
      <dgm:spPr/>
      <dgm:t>
        <a:bodyPr/>
        <a:lstStyle/>
        <a:p>
          <a:r>
            <a:rPr lang="fr-FR" b="1" dirty="0"/>
            <a:t>La mission</a:t>
          </a:r>
        </a:p>
      </dgm:t>
    </dgm:pt>
    <dgm:pt modelId="{8E927028-3C4D-44BB-9A22-2294884E8170}" type="parTrans" cxnId="{DA5366D7-12E8-4A7A-871D-3CAF37BB139A}">
      <dgm:prSet/>
      <dgm:spPr/>
      <dgm:t>
        <a:bodyPr/>
        <a:lstStyle/>
        <a:p>
          <a:endParaRPr lang="fr-FR"/>
        </a:p>
      </dgm:t>
    </dgm:pt>
    <dgm:pt modelId="{7AE55D56-255F-46D5-BAD8-9922244BA107}" type="sibTrans" cxnId="{DA5366D7-12E8-4A7A-871D-3CAF37BB139A}">
      <dgm:prSet/>
      <dgm:spPr/>
      <dgm:t>
        <a:bodyPr/>
        <a:lstStyle/>
        <a:p>
          <a:endParaRPr lang="fr-FR"/>
        </a:p>
      </dgm:t>
    </dgm:pt>
    <dgm:pt modelId="{97EEA254-46EF-4AC8-B210-645A97FBAA09}">
      <dgm:prSet phldrT="[Texte]" custT="1"/>
      <dgm:spPr/>
      <dgm:t>
        <a:bodyPr anchor="ctr"/>
        <a:lstStyle/>
        <a:p>
          <a:pPr marL="228600" lvl="1" indent="-228600" algn="l" defTabSz="1022350">
            <a:lnSpc>
              <a:spcPct val="90000"/>
            </a:lnSpc>
            <a:spcBef>
              <a:spcPct val="0"/>
            </a:spcBef>
            <a:spcAft>
              <a:spcPct val="15000"/>
            </a:spcAft>
            <a:buFontTx/>
            <a:buNone/>
          </a:pPr>
          <a:r>
            <a:rPr lang="en-US" sz="2300" kern="1200" dirty="0">
              <a:solidFill>
                <a:prstClr val="black">
                  <a:hueOff val="0"/>
                  <a:satOff val="0"/>
                  <a:lumOff val="0"/>
                  <a:alphaOff val="0"/>
                </a:prstClr>
              </a:solidFill>
              <a:latin typeface="Franklin Gothic Book" panose="020B0502020104020203"/>
              <a:ea typeface="+mn-ea"/>
              <a:cs typeface="+mn-cs"/>
            </a:rPr>
            <a:t>Faire </a:t>
          </a:r>
          <a:r>
            <a:rPr lang="en-US" sz="2300" kern="1200" dirty="0" err="1">
              <a:solidFill>
                <a:prstClr val="black">
                  <a:hueOff val="0"/>
                  <a:satOff val="0"/>
                  <a:lumOff val="0"/>
                  <a:alphaOff val="0"/>
                </a:prstClr>
              </a:solidFill>
              <a:latin typeface="Franklin Gothic Book" panose="020B0502020104020203"/>
              <a:ea typeface="+mn-ea"/>
              <a:cs typeface="+mn-cs"/>
            </a:rPr>
            <a:t>l’analyse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exploratoire</a:t>
          </a:r>
          <a:r>
            <a:rPr lang="en-US" sz="2300" kern="1200" dirty="0">
              <a:solidFill>
                <a:prstClr val="black">
                  <a:hueOff val="0"/>
                  <a:satOff val="0"/>
                  <a:lumOff val="0"/>
                  <a:alphaOff val="0"/>
                </a:prstClr>
              </a:solidFill>
              <a:latin typeface="Franklin Gothic Book" panose="020B0502020104020203"/>
              <a:ea typeface="+mn-ea"/>
              <a:cs typeface="+mn-cs"/>
            </a:rPr>
            <a:t> des données </a:t>
          </a:r>
          <a:r>
            <a:rPr lang="en-US" sz="2300" kern="1200" dirty="0" err="1">
              <a:solidFill>
                <a:prstClr val="black">
                  <a:hueOff val="0"/>
                  <a:satOff val="0"/>
                  <a:lumOff val="0"/>
                  <a:alphaOff val="0"/>
                </a:prstClr>
              </a:solidFill>
              <a:latin typeface="Franklin Gothic Book" panose="020B0502020104020203"/>
              <a:ea typeface="+mn-ea"/>
              <a:cs typeface="+mn-cs"/>
            </a:rPr>
            <a:t>éducatives</a:t>
          </a:r>
          <a:r>
            <a:rPr lang="en-US" sz="2300" kern="1200" dirty="0">
              <a:solidFill>
                <a:prstClr val="black">
                  <a:hueOff val="0"/>
                  <a:satOff val="0"/>
                  <a:lumOff val="0"/>
                  <a:alphaOff val="0"/>
                </a:prstClr>
              </a:solidFill>
              <a:latin typeface="Franklin Gothic Book" panose="020B0502020104020203"/>
              <a:ea typeface="+mn-ea"/>
              <a:cs typeface="+mn-cs"/>
            </a:rPr>
            <a:t> de la Banque </a:t>
          </a:r>
          <a:r>
            <a:rPr lang="en-US" sz="2300" kern="1200" dirty="0" err="1">
              <a:solidFill>
                <a:prstClr val="black">
                  <a:hueOff val="0"/>
                  <a:satOff val="0"/>
                  <a:lumOff val="0"/>
                  <a:alphaOff val="0"/>
                </a:prstClr>
              </a:solidFill>
              <a:latin typeface="Franklin Gothic Book" panose="020B0502020104020203"/>
              <a:ea typeface="+mn-ea"/>
              <a:cs typeface="+mn-cs"/>
            </a:rPr>
            <a:t>mondiale</a:t>
          </a:r>
          <a:r>
            <a:rPr lang="en-US" sz="2300" kern="1200" dirty="0">
              <a:solidFill>
                <a:prstClr val="black">
                  <a:hueOff val="0"/>
                  <a:satOff val="0"/>
                  <a:lumOff val="0"/>
                  <a:alphaOff val="0"/>
                </a:prstClr>
              </a:solidFill>
              <a:latin typeface="Franklin Gothic Book" panose="020B0502020104020203"/>
              <a:ea typeface="+mn-ea"/>
              <a:cs typeface="+mn-cs"/>
            </a:rPr>
            <a:t> pour guider la </a:t>
          </a:r>
          <a:r>
            <a:rPr lang="en-US" sz="2300" kern="1200" dirty="0" err="1">
              <a:solidFill>
                <a:prstClr val="black">
                  <a:hueOff val="0"/>
                  <a:satOff val="0"/>
                  <a:lumOff val="0"/>
                  <a:alphaOff val="0"/>
                </a:prstClr>
              </a:solidFill>
              <a:latin typeface="Franklin Gothic Book" panose="020B0502020104020203"/>
              <a:ea typeface="+mn-ea"/>
              <a:cs typeface="+mn-cs"/>
            </a:rPr>
            <a:t>prise</a:t>
          </a:r>
          <a:r>
            <a:rPr lang="en-US" sz="2300" kern="1200" dirty="0">
              <a:solidFill>
                <a:prstClr val="black">
                  <a:hueOff val="0"/>
                  <a:satOff val="0"/>
                  <a:lumOff val="0"/>
                  <a:alphaOff val="0"/>
                </a:prstClr>
              </a:solidFill>
              <a:latin typeface="Franklin Gothic Book" panose="020B0502020104020203"/>
              <a:ea typeface="+mn-ea"/>
              <a:cs typeface="+mn-cs"/>
            </a:rPr>
            <a:t> de </a:t>
          </a:r>
          <a:r>
            <a:rPr lang="en-US" sz="2300" kern="1200" dirty="0" err="1">
              <a:solidFill>
                <a:prstClr val="black">
                  <a:hueOff val="0"/>
                  <a:satOff val="0"/>
                  <a:lumOff val="0"/>
                  <a:alphaOff val="0"/>
                </a:prstClr>
              </a:solidFill>
              <a:latin typeface="Franklin Gothic Book" panose="020B0502020104020203"/>
              <a:ea typeface="+mn-ea"/>
              <a:cs typeface="+mn-cs"/>
            </a:rPr>
            <a:t>décision</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stratégique</a:t>
          </a:r>
          <a:endParaRPr lang="fr-FR" sz="2300" kern="1200" dirty="0">
            <a:solidFill>
              <a:prstClr val="black">
                <a:hueOff val="0"/>
                <a:satOff val="0"/>
                <a:lumOff val="0"/>
                <a:alphaOff val="0"/>
              </a:prstClr>
            </a:solidFill>
            <a:latin typeface="Franklin Gothic Book" panose="020B0502020104020203"/>
            <a:ea typeface="+mn-ea"/>
            <a:cs typeface="+mn-cs"/>
          </a:endParaRPr>
        </a:p>
      </dgm:t>
    </dgm:pt>
    <dgm:pt modelId="{FDFBCAB0-F4F9-4534-B100-3A4EEF8F20EB}" type="parTrans" cxnId="{D607F3FF-0AE9-4091-902A-C09068525605}">
      <dgm:prSet/>
      <dgm:spPr/>
      <dgm:t>
        <a:bodyPr/>
        <a:lstStyle/>
        <a:p>
          <a:endParaRPr lang="fr-FR"/>
        </a:p>
      </dgm:t>
    </dgm:pt>
    <dgm:pt modelId="{27FDECA8-D110-4F4C-8ADD-2EAD2F287637}" type="sibTrans" cxnId="{D607F3FF-0AE9-4091-902A-C09068525605}">
      <dgm:prSet/>
      <dgm:spPr/>
      <dgm:t>
        <a:bodyPr/>
        <a:lstStyle/>
        <a:p>
          <a:endParaRPr lang="fr-FR"/>
        </a:p>
      </dgm:t>
    </dgm:pt>
    <dgm:pt modelId="{609E0D4C-5372-457B-B43F-CAA790AD7534}">
      <dgm:prSet phldrT="[Texte]" custT="1"/>
      <dgm:spPr/>
      <dgm:t>
        <a:bodyPr anchor="ctr"/>
        <a:lstStyle/>
        <a:p>
          <a:pPr marL="228600" lvl="1" indent="-228600" algn="l" defTabSz="1022350">
            <a:lnSpc>
              <a:spcPct val="90000"/>
            </a:lnSpc>
            <a:spcBef>
              <a:spcPct val="0"/>
            </a:spcBef>
            <a:spcAft>
              <a:spcPct val="15000"/>
            </a:spcAft>
            <a:buNone/>
          </a:pPr>
          <a:r>
            <a:rPr lang="en-US" sz="2300" kern="1200" dirty="0">
              <a:solidFill>
                <a:prstClr val="black">
                  <a:hueOff val="0"/>
                  <a:satOff val="0"/>
                  <a:lumOff val="0"/>
                  <a:alphaOff val="0"/>
                </a:prstClr>
              </a:solidFill>
              <a:latin typeface="Franklin Gothic Book" panose="020B0502020104020203"/>
              <a:ea typeface="+mn-ea"/>
              <a:cs typeface="+mn-cs"/>
            </a:rPr>
            <a:t>Identifier les pays avec le plus fort </a:t>
          </a:r>
          <a:r>
            <a:rPr lang="en-US" sz="2300" kern="1200" dirty="0" err="1">
              <a:solidFill>
                <a:prstClr val="black">
                  <a:hueOff val="0"/>
                  <a:satOff val="0"/>
                  <a:lumOff val="0"/>
                  <a:alphaOff val="0"/>
                </a:prstClr>
              </a:solidFill>
              <a:latin typeface="Franklin Gothic Book" panose="020B0502020104020203"/>
              <a:ea typeface="+mn-ea"/>
              <a:cs typeface="+mn-cs"/>
            </a:rPr>
            <a:t>potentiel</a:t>
          </a:r>
          <a:r>
            <a:rPr lang="en-US" sz="2300" kern="1200" dirty="0">
              <a:solidFill>
                <a:prstClr val="black">
                  <a:hueOff val="0"/>
                  <a:satOff val="0"/>
                  <a:lumOff val="0"/>
                  <a:alphaOff val="0"/>
                </a:prstClr>
              </a:solidFill>
              <a:latin typeface="Franklin Gothic Book" panose="020B0502020104020203"/>
              <a:ea typeface="+mn-ea"/>
              <a:cs typeface="+mn-cs"/>
            </a:rPr>
            <a:t> de clients et </a:t>
          </a:r>
          <a:r>
            <a:rPr lang="en-US" sz="2300" kern="1200" dirty="0" err="1">
              <a:solidFill>
                <a:prstClr val="black">
                  <a:hueOff val="0"/>
                  <a:satOff val="0"/>
                  <a:lumOff val="0"/>
                  <a:alphaOff val="0"/>
                </a:prstClr>
              </a:solidFill>
              <a:latin typeface="Franklin Gothic Book" panose="020B0502020104020203"/>
              <a:ea typeface="+mn-ea"/>
              <a:cs typeface="+mn-cs"/>
            </a:rPr>
            <a:t>anticiper</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l'évolution</a:t>
          </a:r>
          <a:r>
            <a:rPr lang="en-US" sz="2300" kern="1200" dirty="0">
              <a:solidFill>
                <a:prstClr val="black">
                  <a:hueOff val="0"/>
                  <a:satOff val="0"/>
                  <a:lumOff val="0"/>
                  <a:alphaOff val="0"/>
                </a:prstClr>
              </a:solidFill>
              <a:latin typeface="Franklin Gothic Book" panose="020B0502020104020203"/>
              <a:ea typeface="+mn-ea"/>
              <a:cs typeface="+mn-cs"/>
            </a:rPr>
            <a:t> de </a:t>
          </a:r>
          <a:r>
            <a:rPr lang="en-US" sz="2300" kern="1200" dirty="0" err="1">
              <a:solidFill>
                <a:prstClr val="black">
                  <a:hueOff val="0"/>
                  <a:satOff val="0"/>
                  <a:lumOff val="0"/>
                  <a:alphaOff val="0"/>
                </a:prstClr>
              </a:solidFill>
              <a:latin typeface="Franklin Gothic Book" panose="020B0502020104020203"/>
              <a:ea typeface="+mn-ea"/>
              <a:cs typeface="+mn-cs"/>
            </a:rPr>
            <a:t>ce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potentiel</a:t>
          </a:r>
          <a:r>
            <a:rPr lang="en-US" sz="2300" kern="1200" dirty="0">
              <a:solidFill>
                <a:prstClr val="black">
                  <a:hueOff val="0"/>
                  <a:satOff val="0"/>
                  <a:lumOff val="0"/>
                  <a:alphaOff val="0"/>
                </a:prstClr>
              </a:solidFill>
              <a:latin typeface="Franklin Gothic Book" panose="020B0502020104020203"/>
              <a:ea typeface="+mn-ea"/>
              <a:cs typeface="+mn-cs"/>
            </a:rPr>
            <a:t>.</a:t>
          </a:r>
          <a:endParaRPr lang="fr-FR" sz="2300" kern="1200" dirty="0">
            <a:solidFill>
              <a:prstClr val="black">
                <a:hueOff val="0"/>
                <a:satOff val="0"/>
                <a:lumOff val="0"/>
                <a:alphaOff val="0"/>
              </a:prstClr>
            </a:solidFill>
            <a:latin typeface="Franklin Gothic Book" panose="020B0502020104020203"/>
            <a:ea typeface="+mn-ea"/>
            <a:cs typeface="+mn-cs"/>
          </a:endParaRPr>
        </a:p>
      </dgm:t>
    </dgm:pt>
    <dgm:pt modelId="{F88CA4AF-47B4-470A-B8B0-8629BAEA28CD}" type="parTrans" cxnId="{DE7D293F-FD2A-4983-9F5A-B59427CC054D}">
      <dgm:prSet/>
      <dgm:spPr/>
      <dgm:t>
        <a:bodyPr/>
        <a:lstStyle/>
        <a:p>
          <a:endParaRPr lang="fr-FR"/>
        </a:p>
      </dgm:t>
    </dgm:pt>
    <dgm:pt modelId="{9C62E3BC-50DA-4803-AD00-FE2986B63CBD}" type="sibTrans" cxnId="{DE7D293F-FD2A-4983-9F5A-B59427CC054D}">
      <dgm:prSet/>
      <dgm:spPr/>
      <dgm:t>
        <a:bodyPr/>
        <a:lstStyle/>
        <a:p>
          <a:endParaRPr lang="fr-FR"/>
        </a:p>
      </dgm:t>
    </dgm:pt>
    <dgm:pt modelId="{D6044942-4DB3-4B0B-B640-67B3AF08F9E2}" type="pres">
      <dgm:prSet presAssocID="{BC883913-3948-460A-9D72-6180A3B6600D}" presName="Name0" presStyleCnt="0">
        <dgm:presLayoutVars>
          <dgm:dir/>
          <dgm:animLvl val="lvl"/>
          <dgm:resizeHandles val="exact"/>
        </dgm:presLayoutVars>
      </dgm:prSet>
      <dgm:spPr/>
    </dgm:pt>
    <dgm:pt modelId="{F5E4266E-E830-4684-A6DD-1417408F0BD2}" type="pres">
      <dgm:prSet presAssocID="{7DC35DBE-77E8-4794-9356-B4FD4CA2156D}" presName="composite" presStyleCnt="0"/>
      <dgm:spPr/>
    </dgm:pt>
    <dgm:pt modelId="{1C568DFC-BFF5-42F5-B926-6FB2DD32B29F}" type="pres">
      <dgm:prSet presAssocID="{7DC35DBE-77E8-4794-9356-B4FD4CA2156D}" presName="parTx" presStyleLbl="alignNode1" presStyleIdx="0" presStyleCnt="3">
        <dgm:presLayoutVars>
          <dgm:chMax val="0"/>
          <dgm:chPref val="0"/>
          <dgm:bulletEnabled val="1"/>
        </dgm:presLayoutVars>
      </dgm:prSet>
      <dgm:spPr/>
    </dgm:pt>
    <dgm:pt modelId="{F994588D-5BEE-4E30-9E0A-7C087B5E4B34}" type="pres">
      <dgm:prSet presAssocID="{7DC35DBE-77E8-4794-9356-B4FD4CA2156D}" presName="desTx" presStyleLbl="alignAccFollowNode1" presStyleIdx="0" presStyleCnt="3">
        <dgm:presLayoutVars>
          <dgm:bulletEnabled val="1"/>
        </dgm:presLayoutVars>
      </dgm:prSet>
      <dgm:spPr/>
    </dgm:pt>
    <dgm:pt modelId="{FEC5C3A3-0FB3-4BEB-A847-BFADB3D47DB2}" type="pres">
      <dgm:prSet presAssocID="{6F98132B-ABB2-49C6-9DA3-D654A65FD130}" presName="space" presStyleCnt="0"/>
      <dgm:spPr/>
    </dgm:pt>
    <dgm:pt modelId="{D50B417E-0482-4FD4-B534-85041DAF8755}" type="pres">
      <dgm:prSet presAssocID="{36AA461D-69F0-449A-818B-AD269527D222}" presName="composite" presStyleCnt="0"/>
      <dgm:spPr/>
    </dgm:pt>
    <dgm:pt modelId="{668FFE2D-28FD-48CD-85D3-0BF7C1DF3C7E}" type="pres">
      <dgm:prSet presAssocID="{36AA461D-69F0-449A-818B-AD269527D222}" presName="parTx" presStyleLbl="alignNode1" presStyleIdx="1" presStyleCnt="3">
        <dgm:presLayoutVars>
          <dgm:chMax val="0"/>
          <dgm:chPref val="0"/>
          <dgm:bulletEnabled val="1"/>
        </dgm:presLayoutVars>
      </dgm:prSet>
      <dgm:spPr/>
    </dgm:pt>
    <dgm:pt modelId="{70E9EF1B-11CC-4A82-A139-11C669FFBADD}" type="pres">
      <dgm:prSet presAssocID="{36AA461D-69F0-449A-818B-AD269527D222}" presName="desTx" presStyleLbl="alignAccFollowNode1" presStyleIdx="1" presStyleCnt="3">
        <dgm:presLayoutVars>
          <dgm:bulletEnabled val="1"/>
        </dgm:presLayoutVars>
      </dgm:prSet>
      <dgm:spPr/>
    </dgm:pt>
    <dgm:pt modelId="{211D0444-8051-4F88-B0A2-8747BAA1AE30}" type="pres">
      <dgm:prSet presAssocID="{83BE4DE7-B62A-456C-B454-971998ACB9F3}" presName="space" presStyleCnt="0"/>
      <dgm:spPr/>
    </dgm:pt>
    <dgm:pt modelId="{E41622F0-A19C-4EDC-88B9-53EEA21582C2}" type="pres">
      <dgm:prSet presAssocID="{BA7AA354-3E16-46E2-8C70-000638F21316}" presName="composite" presStyleCnt="0"/>
      <dgm:spPr/>
    </dgm:pt>
    <dgm:pt modelId="{102FFDBD-AE63-42A3-8AE2-79DF48F2E499}" type="pres">
      <dgm:prSet presAssocID="{BA7AA354-3E16-46E2-8C70-000638F21316}" presName="parTx" presStyleLbl="alignNode1" presStyleIdx="2" presStyleCnt="3">
        <dgm:presLayoutVars>
          <dgm:chMax val="0"/>
          <dgm:chPref val="0"/>
          <dgm:bulletEnabled val="1"/>
        </dgm:presLayoutVars>
      </dgm:prSet>
      <dgm:spPr/>
    </dgm:pt>
    <dgm:pt modelId="{8402F420-4D9D-4A30-A76E-42CBD55E3990}" type="pres">
      <dgm:prSet presAssocID="{BA7AA354-3E16-46E2-8C70-000638F21316}" presName="desTx" presStyleLbl="alignAccFollowNode1" presStyleIdx="2" presStyleCnt="3">
        <dgm:presLayoutVars>
          <dgm:bulletEnabled val="1"/>
        </dgm:presLayoutVars>
      </dgm:prSet>
      <dgm:spPr/>
    </dgm:pt>
  </dgm:ptLst>
  <dgm:cxnLst>
    <dgm:cxn modelId="{B56CB010-A04B-4C8B-A68A-A31B0B4764D1}" type="presOf" srcId="{BC883913-3948-460A-9D72-6180A3B6600D}" destId="{D6044942-4DB3-4B0B-B640-67B3AF08F9E2}" srcOrd="0" destOrd="0" presId="urn:microsoft.com/office/officeart/2005/8/layout/hList1"/>
    <dgm:cxn modelId="{42D2C828-BCC5-4E34-B13F-FF772E375CA3}" type="presOf" srcId="{D36B370B-C427-4566-B3FD-8442F6815D98}" destId="{F994588D-5BEE-4E30-9E0A-7C087B5E4B34}" srcOrd="0" destOrd="0" presId="urn:microsoft.com/office/officeart/2005/8/layout/hList1"/>
    <dgm:cxn modelId="{DE7D293F-FD2A-4983-9F5A-B59427CC054D}" srcId="{36AA461D-69F0-449A-818B-AD269527D222}" destId="{609E0D4C-5372-457B-B43F-CAA790AD7534}" srcOrd="1" destOrd="0" parTransId="{F88CA4AF-47B4-470A-B8B0-8629BAEA28CD}" sibTransId="{9C62E3BC-50DA-4803-AD00-FE2986B63CBD}"/>
    <dgm:cxn modelId="{1B219B5A-C23F-40B4-8078-BF96B9F3BCFD}" type="presOf" srcId="{97EEA254-46EF-4AC8-B210-645A97FBAA09}" destId="{8402F420-4D9D-4A30-A76E-42CBD55E3990}" srcOrd="0" destOrd="0" presId="urn:microsoft.com/office/officeart/2005/8/layout/hList1"/>
    <dgm:cxn modelId="{F63F058A-A7B4-4C8A-A623-CBD65084CBA8}" srcId="{36AA461D-69F0-449A-818B-AD269527D222}" destId="{233FA908-569B-45C1-A4F5-F12C14F4F639}" srcOrd="0" destOrd="0" parTransId="{021EFB22-93A1-445C-88AD-01040B4D2F94}" sibTransId="{460A3050-65BE-4EF5-84FC-A7DA586BD3F9}"/>
    <dgm:cxn modelId="{36B9918B-D034-426E-ACAF-90BCF7FEF7FF}" srcId="{BC883913-3948-460A-9D72-6180A3B6600D}" destId="{7DC35DBE-77E8-4794-9356-B4FD4CA2156D}" srcOrd="0" destOrd="0" parTransId="{F703BED5-3049-4EFA-8046-035B748AC1B4}" sibTransId="{6F98132B-ABB2-49C6-9DA3-D654A65FD130}"/>
    <dgm:cxn modelId="{6B15EC8B-868F-4ED7-8588-99D8C41CAEBF}" type="presOf" srcId="{36AA461D-69F0-449A-818B-AD269527D222}" destId="{668FFE2D-28FD-48CD-85D3-0BF7C1DF3C7E}" srcOrd="0" destOrd="0" presId="urn:microsoft.com/office/officeart/2005/8/layout/hList1"/>
    <dgm:cxn modelId="{473C0CBB-ADF8-46D1-8AA9-A6183773A726}" type="presOf" srcId="{7DC35DBE-77E8-4794-9356-B4FD4CA2156D}" destId="{1C568DFC-BFF5-42F5-B926-6FB2DD32B29F}" srcOrd="0" destOrd="0" presId="urn:microsoft.com/office/officeart/2005/8/layout/hList1"/>
    <dgm:cxn modelId="{91D492C0-9844-406A-9DA6-17966CF00E60}" type="presOf" srcId="{BA7AA354-3E16-46E2-8C70-000638F21316}" destId="{102FFDBD-AE63-42A3-8AE2-79DF48F2E499}" srcOrd="0" destOrd="0" presId="urn:microsoft.com/office/officeart/2005/8/layout/hList1"/>
    <dgm:cxn modelId="{7DAE04C2-D339-4652-8B42-F21991A61706}" srcId="{BC883913-3948-460A-9D72-6180A3B6600D}" destId="{36AA461D-69F0-449A-818B-AD269527D222}" srcOrd="1" destOrd="0" parTransId="{5224802E-5BB9-42EE-8855-64FB18FD0384}" sibTransId="{83BE4DE7-B62A-456C-B454-971998ACB9F3}"/>
    <dgm:cxn modelId="{833C68D5-F454-4547-902D-0C731258F715}" type="presOf" srcId="{609E0D4C-5372-457B-B43F-CAA790AD7534}" destId="{70E9EF1B-11CC-4A82-A139-11C669FFBADD}" srcOrd="0" destOrd="1" presId="urn:microsoft.com/office/officeart/2005/8/layout/hList1"/>
    <dgm:cxn modelId="{8E9F22D7-ED1A-4D7E-8B95-398B050FB166}" srcId="{7DC35DBE-77E8-4794-9356-B4FD4CA2156D}" destId="{D36B370B-C427-4566-B3FD-8442F6815D98}" srcOrd="0" destOrd="0" parTransId="{D9510F50-0BB8-4A1A-93B0-35D622D846AC}" sibTransId="{BDF30E97-670C-4BEA-99B3-0A0577CFA58A}"/>
    <dgm:cxn modelId="{DA5366D7-12E8-4A7A-871D-3CAF37BB139A}" srcId="{BC883913-3948-460A-9D72-6180A3B6600D}" destId="{BA7AA354-3E16-46E2-8C70-000638F21316}" srcOrd="2" destOrd="0" parTransId="{8E927028-3C4D-44BB-9A22-2294884E8170}" sibTransId="{7AE55D56-255F-46D5-BAD8-9922244BA107}"/>
    <dgm:cxn modelId="{305532EA-7814-4790-9229-41FF07607433}" type="presOf" srcId="{233FA908-569B-45C1-A4F5-F12C14F4F639}" destId="{70E9EF1B-11CC-4A82-A139-11C669FFBADD}" srcOrd="0" destOrd="0" presId="urn:microsoft.com/office/officeart/2005/8/layout/hList1"/>
    <dgm:cxn modelId="{D607F3FF-0AE9-4091-902A-C09068525605}" srcId="{BA7AA354-3E16-46E2-8C70-000638F21316}" destId="{97EEA254-46EF-4AC8-B210-645A97FBAA09}" srcOrd="0" destOrd="0" parTransId="{FDFBCAB0-F4F9-4534-B100-3A4EEF8F20EB}" sibTransId="{27FDECA8-D110-4F4C-8ADD-2EAD2F287637}"/>
    <dgm:cxn modelId="{C8FE00D2-31F9-41EF-ABF6-56E7DBBD30E1}" type="presParOf" srcId="{D6044942-4DB3-4B0B-B640-67B3AF08F9E2}" destId="{F5E4266E-E830-4684-A6DD-1417408F0BD2}" srcOrd="0" destOrd="0" presId="urn:microsoft.com/office/officeart/2005/8/layout/hList1"/>
    <dgm:cxn modelId="{B354B12E-3470-4FFE-B0D0-F113671E4C11}" type="presParOf" srcId="{F5E4266E-E830-4684-A6DD-1417408F0BD2}" destId="{1C568DFC-BFF5-42F5-B926-6FB2DD32B29F}" srcOrd="0" destOrd="0" presId="urn:microsoft.com/office/officeart/2005/8/layout/hList1"/>
    <dgm:cxn modelId="{6E3A6333-394D-4D8E-9481-C04C1F680962}" type="presParOf" srcId="{F5E4266E-E830-4684-A6DD-1417408F0BD2}" destId="{F994588D-5BEE-4E30-9E0A-7C087B5E4B34}" srcOrd="1" destOrd="0" presId="urn:microsoft.com/office/officeart/2005/8/layout/hList1"/>
    <dgm:cxn modelId="{C65BCA05-D069-498B-A6C5-92F691CAB33B}" type="presParOf" srcId="{D6044942-4DB3-4B0B-B640-67B3AF08F9E2}" destId="{FEC5C3A3-0FB3-4BEB-A847-BFADB3D47DB2}" srcOrd="1" destOrd="0" presId="urn:microsoft.com/office/officeart/2005/8/layout/hList1"/>
    <dgm:cxn modelId="{DDD9D9AF-B522-464B-98F9-5DC6A7BBE90D}" type="presParOf" srcId="{D6044942-4DB3-4B0B-B640-67B3AF08F9E2}" destId="{D50B417E-0482-4FD4-B534-85041DAF8755}" srcOrd="2" destOrd="0" presId="urn:microsoft.com/office/officeart/2005/8/layout/hList1"/>
    <dgm:cxn modelId="{0F01C85E-DA4E-4030-B643-564392064E25}" type="presParOf" srcId="{D50B417E-0482-4FD4-B534-85041DAF8755}" destId="{668FFE2D-28FD-48CD-85D3-0BF7C1DF3C7E}" srcOrd="0" destOrd="0" presId="urn:microsoft.com/office/officeart/2005/8/layout/hList1"/>
    <dgm:cxn modelId="{0E64B8D6-DB3A-4F5A-BB5F-DA1A87337A45}" type="presParOf" srcId="{D50B417E-0482-4FD4-B534-85041DAF8755}" destId="{70E9EF1B-11CC-4A82-A139-11C669FFBADD}" srcOrd="1" destOrd="0" presId="urn:microsoft.com/office/officeart/2005/8/layout/hList1"/>
    <dgm:cxn modelId="{D3915FF1-56BC-4C9C-9C3A-BF48881295AA}" type="presParOf" srcId="{D6044942-4DB3-4B0B-B640-67B3AF08F9E2}" destId="{211D0444-8051-4F88-B0A2-8747BAA1AE30}" srcOrd="3" destOrd="0" presId="urn:microsoft.com/office/officeart/2005/8/layout/hList1"/>
    <dgm:cxn modelId="{F8D9D177-D191-4488-B17B-A21D37D2F359}" type="presParOf" srcId="{D6044942-4DB3-4B0B-B640-67B3AF08F9E2}" destId="{E41622F0-A19C-4EDC-88B9-53EEA21582C2}" srcOrd="4" destOrd="0" presId="urn:microsoft.com/office/officeart/2005/8/layout/hList1"/>
    <dgm:cxn modelId="{BA07A2EE-A16D-4CD9-9412-D30F777B8AF3}" type="presParOf" srcId="{E41622F0-A19C-4EDC-88B9-53EEA21582C2}" destId="{102FFDBD-AE63-42A3-8AE2-79DF48F2E499}" srcOrd="0" destOrd="0" presId="urn:microsoft.com/office/officeart/2005/8/layout/hList1"/>
    <dgm:cxn modelId="{948F44D7-32EB-428A-9FBA-00C761403B7F}" type="presParOf" srcId="{E41622F0-A19C-4EDC-88B9-53EEA21582C2}" destId="{8402F420-4D9D-4A30-A76E-42CBD55E399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EB04EA-2A1D-4233-8432-18F3302557BE}"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fr-FR"/>
        </a:p>
      </dgm:t>
    </dgm:pt>
    <dgm:pt modelId="{2FDE3E36-A963-41DE-A00B-268668388492}">
      <dgm:prSet phldrT="[Texte]"/>
      <dgm:spPr/>
      <dgm:t>
        <a:bodyPr/>
        <a:lstStyle/>
        <a:p>
          <a:r>
            <a:rPr lang="fr-FR" dirty="0"/>
            <a:t>Comparaison des Country Codes avec le référentiel ISO 3166-1 alpha-3. </a:t>
          </a:r>
        </a:p>
      </dgm:t>
    </dgm:pt>
    <dgm:pt modelId="{7DBBED67-8A81-4EE5-A6D3-1197D7ED655D}" type="parTrans" cxnId="{633A46ED-584A-4941-9EBA-CF4BC3E3DD29}">
      <dgm:prSet/>
      <dgm:spPr/>
      <dgm:t>
        <a:bodyPr/>
        <a:lstStyle/>
        <a:p>
          <a:endParaRPr lang="fr-FR"/>
        </a:p>
      </dgm:t>
    </dgm:pt>
    <dgm:pt modelId="{38465228-A23C-46DB-9841-FFB6DA294248}" type="sibTrans" cxnId="{633A46ED-584A-4941-9EBA-CF4BC3E3DD29}">
      <dgm:prSet/>
      <dgm:spPr/>
      <dgm:t>
        <a:bodyPr/>
        <a:lstStyle/>
        <a:p>
          <a:endParaRPr lang="fr-FR"/>
        </a:p>
      </dgm:t>
    </dgm:pt>
    <dgm:pt modelId="{C25B65C7-207C-4621-A1E6-81A22A1C85A2}">
      <dgm:prSet phldrT="[Texte]" phldr="0"/>
      <dgm:spPr/>
      <dgm:t>
        <a:bodyPr/>
        <a:lstStyle/>
        <a:p>
          <a:r>
            <a:rPr lang="fr-FR" dirty="0"/>
            <a:t>Filtrage aux topics éducatifs</a:t>
          </a:r>
        </a:p>
        <a:p>
          <a:r>
            <a:rPr lang="fr-FR" dirty="0"/>
            <a:t>3665 indicateurs </a:t>
          </a:r>
          <a:r>
            <a:rPr lang="fr-FR" dirty="0">
              <a:sym typeface="Wingdings" panose="05000000000000000000" pitchFamily="2" charset="2"/>
            </a:rPr>
            <a:t> 3186 indicateurs</a:t>
          </a:r>
          <a:endParaRPr lang="fr-FR" dirty="0"/>
        </a:p>
      </dgm:t>
    </dgm:pt>
    <dgm:pt modelId="{DFD7828E-255A-4075-8BA4-A474578C30A8}" type="parTrans" cxnId="{F2F7B284-5373-4FAF-9BB7-5E9259665225}">
      <dgm:prSet/>
      <dgm:spPr/>
      <dgm:t>
        <a:bodyPr/>
        <a:lstStyle/>
        <a:p>
          <a:endParaRPr lang="fr-FR"/>
        </a:p>
      </dgm:t>
    </dgm:pt>
    <dgm:pt modelId="{921D4B59-DBA2-436A-A496-359C04F23B5A}" type="sibTrans" cxnId="{F2F7B284-5373-4FAF-9BB7-5E9259665225}">
      <dgm:prSet/>
      <dgm:spPr/>
      <dgm:t>
        <a:bodyPr/>
        <a:lstStyle/>
        <a:p>
          <a:endParaRPr lang="fr-FR"/>
        </a:p>
      </dgm:t>
    </dgm:pt>
    <dgm:pt modelId="{B12339DA-E328-4DAB-A45F-5988D783D595}">
      <dgm:prSet phldrT="[Texte]"/>
      <dgm:spPr/>
      <dgm:t>
        <a:bodyPr/>
        <a:lstStyle/>
        <a:p>
          <a:r>
            <a:rPr lang="fr-FR" dirty="0"/>
            <a:t>Le jeu </a:t>
          </a:r>
          <a:r>
            <a:rPr lang="fr-FR" dirty="0" err="1"/>
            <a:t>EdStatsSeries</a:t>
          </a:r>
          <a:r>
            <a:rPr lang="fr-FR" dirty="0"/>
            <a:t> liste 3 665 indicateurs organisés par topic</a:t>
          </a:r>
        </a:p>
      </dgm:t>
    </dgm:pt>
    <dgm:pt modelId="{6A1F1245-A4E8-446C-BA3F-1C7EC813E9BD}" type="parTrans" cxnId="{7E10F952-AD81-45F0-81DC-860F716DEB34}">
      <dgm:prSet/>
      <dgm:spPr/>
      <dgm:t>
        <a:bodyPr/>
        <a:lstStyle/>
        <a:p>
          <a:endParaRPr lang="fr-FR"/>
        </a:p>
      </dgm:t>
    </dgm:pt>
    <dgm:pt modelId="{8C07A775-DEA7-402A-91F8-A33545DFFDB6}" type="sibTrans" cxnId="{7E10F952-AD81-45F0-81DC-860F716DEB34}">
      <dgm:prSet/>
      <dgm:spPr/>
      <dgm:t>
        <a:bodyPr/>
        <a:lstStyle/>
        <a:p>
          <a:endParaRPr lang="fr-FR"/>
        </a:p>
      </dgm:t>
    </dgm:pt>
    <dgm:pt modelId="{B58F06DE-C433-46C8-B477-7D41AA0D5C6E}">
      <dgm:prSet phldrT="[Texte]"/>
      <dgm:spPr/>
      <dgm:t>
        <a:bodyPr/>
        <a:lstStyle/>
        <a:p>
          <a:r>
            <a:rPr lang="fr-FR" dirty="0"/>
            <a:t>12 topics éducatifs retenus (Secondaire, Tertiaire, </a:t>
          </a:r>
          <a:r>
            <a:rPr lang="fr-FR" dirty="0" err="1"/>
            <a:t>Attainment</a:t>
          </a:r>
          <a:r>
            <a:rPr lang="fr-FR" dirty="0"/>
            <a:t>…)</a:t>
          </a:r>
        </a:p>
      </dgm:t>
    </dgm:pt>
    <dgm:pt modelId="{10830E2A-AF3B-4C95-8443-62126DE83B3F}" type="parTrans" cxnId="{AC9790F9-D35C-485A-8CE6-68C9483A6969}">
      <dgm:prSet/>
      <dgm:spPr/>
      <dgm:t>
        <a:bodyPr/>
        <a:lstStyle/>
        <a:p>
          <a:endParaRPr lang="fr-FR"/>
        </a:p>
      </dgm:t>
    </dgm:pt>
    <dgm:pt modelId="{7E399FA9-8604-4D45-AD97-D96EA06D5E27}" type="sibTrans" cxnId="{AC9790F9-D35C-485A-8CE6-68C9483A6969}">
      <dgm:prSet/>
      <dgm:spPr/>
      <dgm:t>
        <a:bodyPr/>
        <a:lstStyle/>
        <a:p>
          <a:endParaRPr lang="fr-FR"/>
        </a:p>
      </dgm:t>
    </dgm:pt>
    <dgm:pt modelId="{6FDF4061-63DD-4F7C-A3CD-9829557C2CB2}">
      <dgm:prSet phldrT="[Texte]" phldr="0"/>
      <dgm:spPr/>
      <dgm:t>
        <a:bodyPr/>
        <a:lstStyle/>
        <a:p>
          <a:r>
            <a:rPr lang="fr-FR" b="0" dirty="0"/>
            <a:t>Gestion des valeurs manquantes et doublons</a:t>
          </a:r>
        </a:p>
        <a:p>
          <a:r>
            <a:rPr lang="fr-FR" dirty="0"/>
            <a:t>886 930 lignes </a:t>
          </a:r>
          <a:r>
            <a:rPr lang="fr-FR" dirty="0">
              <a:sym typeface="Wingdings" panose="05000000000000000000" pitchFamily="2" charset="2"/>
            </a:rPr>
            <a:t> 688 176 lignes (</a:t>
          </a:r>
          <a:r>
            <a:rPr lang="fr-FR" dirty="0" err="1">
              <a:sym typeface="Wingdings" panose="05000000000000000000" pitchFamily="2" charset="2"/>
            </a:rPr>
            <a:t>df</a:t>
          </a:r>
          <a:r>
            <a:rPr lang="fr-FR" dirty="0">
              <a:sym typeface="Wingdings" panose="05000000000000000000" pitchFamily="2" charset="2"/>
            </a:rPr>
            <a:t>. Data)</a:t>
          </a:r>
          <a:endParaRPr lang="fr-FR" dirty="0"/>
        </a:p>
      </dgm:t>
    </dgm:pt>
    <dgm:pt modelId="{A9C827F6-9D50-4312-9F83-731D0011C7AB}" type="parTrans" cxnId="{4797CF36-2D50-4F94-9477-532343B324A6}">
      <dgm:prSet/>
      <dgm:spPr/>
      <dgm:t>
        <a:bodyPr/>
        <a:lstStyle/>
        <a:p>
          <a:endParaRPr lang="fr-FR"/>
        </a:p>
      </dgm:t>
    </dgm:pt>
    <dgm:pt modelId="{E7061BD1-E748-4358-986C-E9BE20CA79BB}" type="sibTrans" cxnId="{4797CF36-2D50-4F94-9477-532343B324A6}">
      <dgm:prSet/>
      <dgm:spPr/>
      <dgm:t>
        <a:bodyPr/>
        <a:lstStyle/>
        <a:p>
          <a:endParaRPr lang="fr-FR"/>
        </a:p>
      </dgm:t>
    </dgm:pt>
    <dgm:pt modelId="{B4A22319-A2AE-4407-879E-216765D013D0}">
      <dgm:prSet phldrT="[Texte]" phldr="0"/>
      <dgm:spPr/>
      <dgm:t>
        <a:bodyPr/>
        <a:lstStyle/>
        <a:p>
          <a:r>
            <a:rPr lang="fr-FR" dirty="0"/>
            <a:t>Suppression des indicateurs redondants</a:t>
          </a:r>
        </a:p>
        <a:p>
          <a:r>
            <a:rPr lang="fr-FR" dirty="0"/>
            <a:t>3186 indicateurs </a:t>
          </a:r>
          <a:r>
            <a:rPr lang="fr-FR" dirty="0">
              <a:sym typeface="Wingdings" panose="05000000000000000000" pitchFamily="2" charset="2"/>
            </a:rPr>
            <a:t> 6 indicateurs</a:t>
          </a:r>
          <a:endParaRPr lang="fr-FR" dirty="0"/>
        </a:p>
      </dgm:t>
    </dgm:pt>
    <dgm:pt modelId="{84066A0F-90CA-43A4-B198-C6C223707053}" type="parTrans" cxnId="{5C23CAD7-04E1-4820-B789-42300C350904}">
      <dgm:prSet/>
      <dgm:spPr/>
      <dgm:t>
        <a:bodyPr/>
        <a:lstStyle/>
        <a:p>
          <a:endParaRPr lang="fr-FR"/>
        </a:p>
      </dgm:t>
    </dgm:pt>
    <dgm:pt modelId="{69EF4118-FE58-4100-89E2-D09B302043F4}" type="sibTrans" cxnId="{5C23CAD7-04E1-4820-B789-42300C350904}">
      <dgm:prSet/>
      <dgm:spPr/>
      <dgm:t>
        <a:bodyPr/>
        <a:lstStyle/>
        <a:p>
          <a:endParaRPr lang="fr-FR"/>
        </a:p>
      </dgm:t>
    </dgm:pt>
    <dgm:pt modelId="{076AFBEB-185D-4D96-9CE2-A6C5378B4BF9}">
      <dgm:prSet phldrT="[Texte]"/>
      <dgm:spPr/>
      <dgm:t>
        <a:bodyPr/>
        <a:lstStyle/>
        <a:p>
          <a:r>
            <a:rPr lang="fr-FR" dirty="0"/>
            <a:t>Suppression de 26 codes (ARB, EUU, WLD, LAC…). </a:t>
          </a:r>
        </a:p>
      </dgm:t>
    </dgm:pt>
    <dgm:pt modelId="{FE4BF85A-F9B5-42D7-A453-79E44F8D4D2B}" type="parTrans" cxnId="{EC67D8E9-38A0-433F-878F-87D49EE86919}">
      <dgm:prSet/>
      <dgm:spPr/>
      <dgm:t>
        <a:bodyPr/>
        <a:lstStyle/>
        <a:p>
          <a:endParaRPr lang="fr-FR"/>
        </a:p>
      </dgm:t>
    </dgm:pt>
    <dgm:pt modelId="{5EBF83D6-442C-467A-8B8D-8FA811B93300}" type="sibTrans" cxnId="{EC67D8E9-38A0-433F-878F-87D49EE86919}">
      <dgm:prSet/>
      <dgm:spPr/>
      <dgm:t>
        <a:bodyPr/>
        <a:lstStyle/>
        <a:p>
          <a:endParaRPr lang="fr-FR"/>
        </a:p>
      </dgm:t>
    </dgm:pt>
    <dgm:pt modelId="{606E8D96-46E4-4688-8FF0-465E9D25C47E}">
      <dgm:prSet phldrT="[Texte]"/>
      <dgm:spPr/>
      <dgm:t>
        <a:bodyPr/>
        <a:lstStyle/>
        <a:p>
          <a:r>
            <a:rPr lang="fr-FR" dirty="0"/>
            <a:t>Conservation du Kosovo (XKX) qui utilise un code de facto.</a:t>
          </a:r>
        </a:p>
      </dgm:t>
    </dgm:pt>
    <dgm:pt modelId="{A099A06B-EAB1-4537-8031-2212EBFE93FB}" type="parTrans" cxnId="{950D9D35-A01B-40C0-B69C-0D67FD922744}">
      <dgm:prSet/>
      <dgm:spPr/>
      <dgm:t>
        <a:bodyPr/>
        <a:lstStyle/>
        <a:p>
          <a:endParaRPr lang="fr-FR"/>
        </a:p>
      </dgm:t>
    </dgm:pt>
    <dgm:pt modelId="{9E3A163D-ACD7-4132-B07B-6301E6490B81}" type="sibTrans" cxnId="{950D9D35-A01B-40C0-B69C-0D67FD922744}">
      <dgm:prSet/>
      <dgm:spPr/>
      <dgm:t>
        <a:bodyPr/>
        <a:lstStyle/>
        <a:p>
          <a:endParaRPr lang="fr-FR"/>
        </a:p>
      </dgm:t>
    </dgm:pt>
    <dgm:pt modelId="{6D9A2829-8E5B-414A-B3C8-EF6858AF2DB3}">
      <dgm:prSet phldrT="[Texte]"/>
      <dgm:spPr/>
      <dgm:t>
        <a:bodyPr/>
        <a:lstStyle/>
        <a:p>
          <a:r>
            <a:rPr lang="fr-FR" dirty="0"/>
            <a:t>6 topics écartés (Santé, Économie, SABER, etc.)</a:t>
          </a:r>
        </a:p>
      </dgm:t>
    </dgm:pt>
    <dgm:pt modelId="{918386F0-2992-482D-8A62-1DD0527FE593}" type="parTrans" cxnId="{8211050D-D189-4C50-B7CC-5E0C0CAC5A47}">
      <dgm:prSet/>
      <dgm:spPr/>
      <dgm:t>
        <a:bodyPr/>
        <a:lstStyle/>
        <a:p>
          <a:endParaRPr lang="fr-FR"/>
        </a:p>
      </dgm:t>
    </dgm:pt>
    <dgm:pt modelId="{746B91DA-554D-46E7-8325-72E1D72D022E}" type="sibTrans" cxnId="{8211050D-D189-4C50-B7CC-5E0C0CAC5A47}">
      <dgm:prSet/>
      <dgm:spPr/>
      <dgm:t>
        <a:bodyPr/>
        <a:lstStyle/>
        <a:p>
          <a:endParaRPr lang="fr-FR"/>
        </a:p>
      </dgm:t>
    </dgm:pt>
    <dgm:pt modelId="{B0CAE4AF-D4A6-40B6-A48F-B4E4DA9C7082}">
      <dgm:prSet phldrT="[Texte]"/>
      <dgm:spPr/>
      <dgm:t>
        <a:bodyPr/>
        <a:lstStyle/>
        <a:p>
          <a:r>
            <a:rPr lang="fr-FR" dirty="0"/>
            <a:t>Analyse du taux de complétude par année. </a:t>
          </a:r>
        </a:p>
        <a:p>
          <a:r>
            <a:rPr lang="fr-FR" dirty="0"/>
            <a:t>Sélection des années avec le plus de données : 1970, 1975, 1980, 1985, 1990, 1995, 2000, 2005, 2010 (historique) + 2015, 2020, 2025, 2030 (projections).</a:t>
          </a:r>
        </a:p>
      </dgm:t>
    </dgm:pt>
    <dgm:pt modelId="{6A1EF477-DF9A-487B-9480-F08F63F58087}" type="parTrans" cxnId="{33AF1B8A-79CB-45EC-B5A9-7930A8466F5C}">
      <dgm:prSet/>
      <dgm:spPr/>
      <dgm:t>
        <a:bodyPr/>
        <a:lstStyle/>
        <a:p>
          <a:endParaRPr lang="fr-FR"/>
        </a:p>
      </dgm:t>
    </dgm:pt>
    <dgm:pt modelId="{2C4C2520-D130-4FDD-BE99-051A0EE212AC}" type="sibTrans" cxnId="{33AF1B8A-79CB-45EC-B5A9-7930A8466F5C}">
      <dgm:prSet/>
      <dgm:spPr/>
      <dgm:t>
        <a:bodyPr/>
        <a:lstStyle/>
        <a:p>
          <a:endParaRPr lang="fr-FR"/>
        </a:p>
      </dgm:t>
    </dgm:pt>
    <dgm:pt modelId="{A79D2BC1-B81D-4483-B437-23EA84E1D0B1}">
      <dgm:prSet phldrT="[Texte]" phldr="0"/>
      <dgm:spPr/>
      <dgm:t>
        <a:bodyPr/>
        <a:lstStyle/>
        <a:p>
          <a:r>
            <a:rPr lang="fr-FR" dirty="0"/>
            <a:t>Suppression des indicateurs corrélés à &gt; 90 % (ex : BAR.SEC.SCHL.15UP corrélé à 91 % avec BAR.SEC.CMPT).</a:t>
          </a:r>
        </a:p>
      </dgm:t>
    </dgm:pt>
    <dgm:pt modelId="{7B747B28-4AB7-4C33-A4CE-12359B0D4CB7}" type="parTrans" cxnId="{3329CD73-CD9F-4BDC-805C-6AB1E3059A0C}">
      <dgm:prSet/>
      <dgm:spPr/>
      <dgm:t>
        <a:bodyPr/>
        <a:lstStyle/>
        <a:p>
          <a:endParaRPr lang="fr-FR"/>
        </a:p>
      </dgm:t>
    </dgm:pt>
    <dgm:pt modelId="{C8F26A9B-8DDD-4D23-AB07-E22C5A905A22}" type="sibTrans" cxnId="{3329CD73-CD9F-4BDC-805C-6AB1E3059A0C}">
      <dgm:prSet/>
      <dgm:spPr/>
      <dgm:t>
        <a:bodyPr/>
        <a:lstStyle/>
        <a:p>
          <a:endParaRPr lang="fr-FR"/>
        </a:p>
      </dgm:t>
    </dgm:pt>
    <dgm:pt modelId="{730311B6-17F5-4971-9D78-C98926B1B5FD}">
      <dgm:prSet phldrT="[Texte]" phldr="0"/>
      <dgm:spPr/>
      <dgm:t>
        <a:bodyPr/>
        <a:lstStyle/>
        <a:p>
          <a:r>
            <a:rPr lang="fr-FR" dirty="0"/>
            <a:t>Filtre sur la qualité des données</a:t>
          </a:r>
        </a:p>
        <a:p>
          <a:r>
            <a:rPr lang="fr-FR" dirty="0"/>
            <a:t>688 176 lignes </a:t>
          </a:r>
          <a:r>
            <a:rPr lang="fr-FR" dirty="0">
              <a:sym typeface="Wingdings" panose="05000000000000000000" pitchFamily="2" charset="2"/>
            </a:rPr>
            <a:t> 786 lignes (</a:t>
          </a:r>
          <a:r>
            <a:rPr lang="fr-FR" dirty="0" err="1">
              <a:sym typeface="Wingdings" panose="05000000000000000000" pitchFamily="2" charset="2"/>
            </a:rPr>
            <a:t>df</a:t>
          </a:r>
          <a:r>
            <a:rPr lang="fr-FR" dirty="0">
              <a:sym typeface="Wingdings" panose="05000000000000000000" pitchFamily="2" charset="2"/>
            </a:rPr>
            <a:t>. Data)</a:t>
          </a:r>
          <a:endParaRPr lang="fr-FR" dirty="0"/>
        </a:p>
      </dgm:t>
    </dgm:pt>
    <dgm:pt modelId="{79D3C2F5-9E20-47EB-9B42-840E6F4243C7}" type="parTrans" cxnId="{01AF07DB-C900-4958-8B42-B808F9B85A7F}">
      <dgm:prSet/>
      <dgm:spPr/>
      <dgm:t>
        <a:bodyPr/>
        <a:lstStyle/>
        <a:p>
          <a:endParaRPr lang="fr-FR"/>
        </a:p>
      </dgm:t>
    </dgm:pt>
    <dgm:pt modelId="{999ABCE7-2749-4BD1-B832-A7BED4930E39}" type="sibTrans" cxnId="{01AF07DB-C900-4958-8B42-B808F9B85A7F}">
      <dgm:prSet/>
      <dgm:spPr/>
      <dgm:t>
        <a:bodyPr/>
        <a:lstStyle/>
        <a:p>
          <a:endParaRPr lang="fr-FR"/>
        </a:p>
      </dgm:t>
    </dgm:pt>
    <dgm:pt modelId="{5C719F60-F1E2-4E35-8FA8-E55BD680C291}">
      <dgm:prSet phldrT="[Texte]" phldr="0"/>
      <dgm:spPr/>
      <dgm:t>
        <a:bodyPr/>
        <a:lstStyle/>
        <a:p>
          <a:r>
            <a:rPr lang="fr-FR" dirty="0"/>
            <a:t>Suppression des pays sans données historiques OU sans projections.</a:t>
          </a:r>
        </a:p>
      </dgm:t>
    </dgm:pt>
    <dgm:pt modelId="{6FAD1BC3-91AA-432F-B938-32427987372D}" type="parTrans" cxnId="{1A75F055-A436-43A0-B313-862E590F8524}">
      <dgm:prSet/>
      <dgm:spPr/>
      <dgm:t>
        <a:bodyPr/>
        <a:lstStyle/>
        <a:p>
          <a:endParaRPr lang="fr-FR"/>
        </a:p>
      </dgm:t>
    </dgm:pt>
    <dgm:pt modelId="{BF984314-272D-40CE-92E5-05B2948F7DD3}" type="sibTrans" cxnId="{1A75F055-A436-43A0-B313-862E590F8524}">
      <dgm:prSet/>
      <dgm:spPr/>
      <dgm:t>
        <a:bodyPr/>
        <a:lstStyle/>
        <a:p>
          <a:endParaRPr lang="fr-FR"/>
        </a:p>
      </dgm:t>
    </dgm:pt>
    <dgm:pt modelId="{4FC7E299-FCEC-4034-BE33-AEC0BB1108AA}">
      <dgm:prSet phldrT="[Texte]" phldr="0"/>
      <dgm:spPr/>
      <dgm:t>
        <a:bodyPr/>
        <a:lstStyle/>
        <a:p>
          <a:r>
            <a:rPr lang="fr-FR" dirty="0"/>
            <a:t>Résultat : 131 pays avec un jeu de données complet et cohérent.</a:t>
          </a:r>
        </a:p>
      </dgm:t>
    </dgm:pt>
    <dgm:pt modelId="{20DB8C1D-9DBC-46A5-9D52-8AA9075E722A}" type="parTrans" cxnId="{090068DE-8843-475A-B9F2-AEF7C078B9CF}">
      <dgm:prSet/>
      <dgm:spPr/>
      <dgm:t>
        <a:bodyPr/>
        <a:lstStyle/>
        <a:p>
          <a:endParaRPr lang="fr-FR"/>
        </a:p>
      </dgm:t>
    </dgm:pt>
    <dgm:pt modelId="{1AE65387-0925-4C85-8854-A3DDF634DA42}" type="sibTrans" cxnId="{090068DE-8843-475A-B9F2-AEF7C078B9CF}">
      <dgm:prSet/>
      <dgm:spPr/>
      <dgm:t>
        <a:bodyPr/>
        <a:lstStyle/>
        <a:p>
          <a:endParaRPr lang="fr-FR"/>
        </a:p>
      </dgm:t>
    </dgm:pt>
    <dgm:pt modelId="{5034C531-3472-4FAC-A1F0-34DFF2DB5B25}">
      <dgm:prSet phldrT="[Texte]" phldr="0"/>
      <dgm:spPr/>
      <dgm:t>
        <a:bodyPr/>
        <a:lstStyle/>
        <a:p>
          <a:r>
            <a:rPr lang="fr-FR" dirty="0"/>
            <a:t>Identification des vrais pays</a:t>
          </a:r>
        </a:p>
        <a:p>
          <a:r>
            <a:rPr lang="fr-FR" dirty="0"/>
            <a:t>241 pays </a:t>
          </a:r>
          <a:r>
            <a:rPr lang="fr-FR" dirty="0">
              <a:sym typeface="Wingdings" panose="05000000000000000000" pitchFamily="2" charset="2"/>
            </a:rPr>
            <a:t> </a:t>
          </a:r>
          <a:r>
            <a:rPr lang="fr-FR" b="0" dirty="0">
              <a:sym typeface="Wingdings" panose="05000000000000000000" pitchFamily="2" charset="2"/>
            </a:rPr>
            <a:t>215 pays</a:t>
          </a:r>
          <a:endParaRPr lang="fr-FR" b="0" dirty="0"/>
        </a:p>
      </dgm:t>
    </dgm:pt>
    <dgm:pt modelId="{4D7D9F9B-682D-4D25-908C-70007F22CCD8}" type="parTrans" cxnId="{8E431292-B20E-4EDA-8677-4AC5B7BA0ADB}">
      <dgm:prSet/>
      <dgm:spPr/>
      <dgm:t>
        <a:bodyPr/>
        <a:lstStyle/>
        <a:p>
          <a:endParaRPr lang="fr-FR"/>
        </a:p>
      </dgm:t>
    </dgm:pt>
    <dgm:pt modelId="{34395491-81FA-4DC4-8869-8F3632B70398}" type="sibTrans" cxnId="{8E431292-B20E-4EDA-8677-4AC5B7BA0ADB}">
      <dgm:prSet/>
      <dgm:spPr/>
      <dgm:t>
        <a:bodyPr/>
        <a:lstStyle/>
        <a:p>
          <a:endParaRPr lang="fr-FR"/>
        </a:p>
      </dgm:t>
    </dgm:pt>
    <dgm:pt modelId="{5F07F0EA-F20C-4A34-9A2E-7C3ACA8FC382}">
      <dgm:prSet phldrT="[Texte]"/>
      <dgm:spPr/>
      <dgm:t>
        <a:bodyPr/>
        <a:lstStyle/>
        <a:p>
          <a:r>
            <a:rPr lang="fr-FR" dirty="0"/>
            <a:t>Sélection des années pertinentes</a:t>
          </a:r>
        </a:p>
        <a:p>
          <a:r>
            <a:rPr lang="fr-FR" dirty="0"/>
            <a:t>64 années </a:t>
          </a:r>
          <a:r>
            <a:rPr lang="fr-FR" dirty="0">
              <a:sym typeface="Wingdings" panose="05000000000000000000" pitchFamily="2" charset="2"/>
            </a:rPr>
            <a:t> 13 années</a:t>
          </a:r>
          <a:endParaRPr lang="fr-FR" dirty="0"/>
        </a:p>
      </dgm:t>
    </dgm:pt>
    <dgm:pt modelId="{DCA8AD07-04F1-464F-96A6-B423E12009D1}" type="parTrans" cxnId="{3B34CAB4-767F-4CA6-B266-AE636ABBD75E}">
      <dgm:prSet/>
      <dgm:spPr/>
      <dgm:t>
        <a:bodyPr/>
        <a:lstStyle/>
        <a:p>
          <a:endParaRPr lang="fr-FR"/>
        </a:p>
      </dgm:t>
    </dgm:pt>
    <dgm:pt modelId="{610E0C78-D4EA-42FF-B204-E1E987842328}" type="sibTrans" cxnId="{3B34CAB4-767F-4CA6-B266-AE636ABBD75E}">
      <dgm:prSet/>
      <dgm:spPr/>
      <dgm:t>
        <a:bodyPr/>
        <a:lstStyle/>
        <a:p>
          <a:endParaRPr lang="fr-FR"/>
        </a:p>
      </dgm:t>
    </dgm:pt>
    <dgm:pt modelId="{2DF9EF63-7C83-4644-9710-473C1566AA8A}">
      <dgm:prSet/>
      <dgm:spPr/>
      <dgm:t>
        <a:bodyPr/>
        <a:lstStyle/>
        <a:p>
          <a:r>
            <a:rPr lang="fr-FR" b="0" dirty="0"/>
            <a:t>Suppression des lignes et colonnes entièrement vides</a:t>
          </a:r>
        </a:p>
      </dgm:t>
    </dgm:pt>
    <dgm:pt modelId="{1F8667AB-C6CE-418E-9D79-253578B9AE48}" type="parTrans" cxnId="{605DE922-6EEF-4ADB-A762-5AA77D71B033}">
      <dgm:prSet/>
      <dgm:spPr/>
      <dgm:t>
        <a:bodyPr/>
        <a:lstStyle/>
        <a:p>
          <a:endParaRPr lang="fr-FR"/>
        </a:p>
      </dgm:t>
    </dgm:pt>
    <dgm:pt modelId="{F14F82F9-F063-4995-9BDA-D7EB3C5410EB}" type="sibTrans" cxnId="{605DE922-6EEF-4ADB-A762-5AA77D71B033}">
      <dgm:prSet/>
      <dgm:spPr/>
      <dgm:t>
        <a:bodyPr/>
        <a:lstStyle/>
        <a:p>
          <a:endParaRPr lang="fr-FR"/>
        </a:p>
      </dgm:t>
    </dgm:pt>
    <dgm:pt modelId="{FB01B7EF-1C53-41EF-9064-1C3EF7E8D052}">
      <dgm:prSet/>
      <dgm:spPr/>
      <dgm:t>
        <a:bodyPr/>
        <a:lstStyle/>
        <a:p>
          <a:r>
            <a:rPr lang="fr-FR" b="0" dirty="0"/>
            <a:t>Complétion manuelle de 3 pays sans région ou revenu (Gibraltar, Nauru, VGB).</a:t>
          </a:r>
        </a:p>
      </dgm:t>
    </dgm:pt>
    <dgm:pt modelId="{FA2BC831-09C0-43AB-A03E-3050100A181A}" type="parTrans" cxnId="{CADEBF1E-8B87-493C-BFFE-B092FD8A9815}">
      <dgm:prSet/>
      <dgm:spPr/>
      <dgm:t>
        <a:bodyPr/>
        <a:lstStyle/>
        <a:p>
          <a:endParaRPr lang="fr-FR"/>
        </a:p>
      </dgm:t>
    </dgm:pt>
    <dgm:pt modelId="{B67A8D4F-D6A9-46B4-8277-AE4BAF34BEE8}" type="sibTrans" cxnId="{CADEBF1E-8B87-493C-BFFE-B092FD8A9815}">
      <dgm:prSet/>
      <dgm:spPr/>
      <dgm:t>
        <a:bodyPr/>
        <a:lstStyle/>
        <a:p>
          <a:endParaRPr lang="fr-FR"/>
        </a:p>
      </dgm:t>
    </dgm:pt>
    <dgm:pt modelId="{28520E3D-9EC5-41B9-8637-25BE0B58B77D}">
      <dgm:prSet phldrT="[Texte]" phldr="0"/>
      <dgm:spPr/>
      <dgm:t>
        <a:bodyPr/>
        <a:lstStyle/>
        <a:p>
          <a:r>
            <a:rPr lang="fr-FR" dirty="0"/>
            <a:t>Prise en compte de la nature de l’unité (%, taux…) et de la distinction lycée/université</a:t>
          </a:r>
        </a:p>
      </dgm:t>
    </dgm:pt>
    <dgm:pt modelId="{2C57E377-4A68-4F32-A35E-E787746891E3}" type="parTrans" cxnId="{764867C3-84D9-497D-962B-BD0D14B2EA69}">
      <dgm:prSet/>
      <dgm:spPr/>
      <dgm:t>
        <a:bodyPr/>
        <a:lstStyle/>
        <a:p>
          <a:endParaRPr lang="fr-FR"/>
        </a:p>
      </dgm:t>
    </dgm:pt>
    <dgm:pt modelId="{776640FC-162A-4324-B00A-B3744928C39C}" type="sibTrans" cxnId="{764867C3-84D9-497D-962B-BD0D14B2EA69}">
      <dgm:prSet/>
      <dgm:spPr/>
      <dgm:t>
        <a:bodyPr/>
        <a:lstStyle/>
        <a:p>
          <a:endParaRPr lang="fr-FR"/>
        </a:p>
      </dgm:t>
    </dgm:pt>
    <dgm:pt modelId="{BBA00CD9-7821-44DE-A288-DBDD7B0B26C9}">
      <dgm:prSet phldrT="[Texte]" phldr="0"/>
      <dgm:spPr/>
      <dgm:t>
        <a:bodyPr/>
        <a:lstStyle/>
        <a:p>
          <a:r>
            <a:rPr lang="fr-FR" dirty="0"/>
            <a:t>Test de distribution (Shapiro-</a:t>
          </a:r>
          <a:r>
            <a:rPr lang="fr-FR" dirty="0" err="1"/>
            <a:t>Wilk</a:t>
          </a:r>
          <a:r>
            <a:rPr lang="fr-FR" dirty="0"/>
            <a:t>) → données non normales → corrélation de Spearman.</a:t>
          </a:r>
        </a:p>
      </dgm:t>
    </dgm:pt>
    <dgm:pt modelId="{B3B874E0-B687-4D1C-80BB-69B78AA3247D}" type="parTrans" cxnId="{F65C0D0B-ED0E-4D56-8F90-EE17CD1DCECA}">
      <dgm:prSet/>
      <dgm:spPr/>
      <dgm:t>
        <a:bodyPr/>
        <a:lstStyle/>
        <a:p>
          <a:endParaRPr lang="fr-FR"/>
        </a:p>
      </dgm:t>
    </dgm:pt>
    <dgm:pt modelId="{68613D97-E4CD-4FC0-9E20-40D03ACE797B}" type="sibTrans" cxnId="{F65C0D0B-ED0E-4D56-8F90-EE17CD1DCECA}">
      <dgm:prSet/>
      <dgm:spPr/>
      <dgm:t>
        <a:bodyPr/>
        <a:lstStyle/>
        <a:p>
          <a:endParaRPr lang="fr-FR"/>
        </a:p>
      </dgm:t>
    </dgm:pt>
    <dgm:pt modelId="{23397780-5741-4510-91BC-2B56F3799B05}">
      <dgm:prSet phldrT="[Texte]" phldr="0"/>
      <dgm:spPr/>
      <dgm:t>
        <a:bodyPr/>
        <a:lstStyle/>
        <a:p>
          <a:r>
            <a:rPr lang="fr-FR" dirty="0"/>
            <a:t>Prise en compte des indicateurs les plus complétés</a:t>
          </a:r>
        </a:p>
      </dgm:t>
    </dgm:pt>
    <dgm:pt modelId="{D2C7C7EB-C8DF-4224-A9F2-9B355E42D973}" type="parTrans" cxnId="{B16E7CFB-2C42-4647-85EB-46AA4F83FA04}">
      <dgm:prSet/>
      <dgm:spPr/>
      <dgm:t>
        <a:bodyPr/>
        <a:lstStyle/>
        <a:p>
          <a:endParaRPr lang="fr-FR"/>
        </a:p>
      </dgm:t>
    </dgm:pt>
    <dgm:pt modelId="{9CE376B2-E29F-486F-A8B3-9C9BDF356B00}" type="sibTrans" cxnId="{B16E7CFB-2C42-4647-85EB-46AA4F83FA04}">
      <dgm:prSet/>
      <dgm:spPr/>
      <dgm:t>
        <a:bodyPr/>
        <a:lstStyle/>
        <a:p>
          <a:endParaRPr lang="fr-FR"/>
        </a:p>
      </dgm:t>
    </dgm:pt>
    <dgm:pt modelId="{0F2EC90E-FE3F-45EC-ABB6-CB4945E12296}">
      <dgm:prSet phldrT="[Texte]" phldr="0"/>
      <dgm:spPr/>
      <dgm:t>
        <a:bodyPr/>
        <a:lstStyle/>
        <a:p>
          <a:r>
            <a:rPr lang="fr-FR" dirty="0"/>
            <a:t>Pas de distinction de genre, de tranches d’âge</a:t>
          </a:r>
        </a:p>
      </dgm:t>
    </dgm:pt>
    <dgm:pt modelId="{49155886-6740-467C-9C48-A322B4424044}" type="parTrans" cxnId="{36A495A0-7AE1-4C96-B62E-9892A18DAC81}">
      <dgm:prSet/>
      <dgm:spPr/>
      <dgm:t>
        <a:bodyPr/>
        <a:lstStyle/>
        <a:p>
          <a:endParaRPr lang="fr-FR"/>
        </a:p>
      </dgm:t>
    </dgm:pt>
    <dgm:pt modelId="{0A95BB0D-DEDD-45E4-A8D7-DA6D0801EECA}" type="sibTrans" cxnId="{36A495A0-7AE1-4C96-B62E-9892A18DAC81}">
      <dgm:prSet/>
      <dgm:spPr/>
      <dgm:t>
        <a:bodyPr/>
        <a:lstStyle/>
        <a:p>
          <a:endParaRPr lang="fr-FR"/>
        </a:p>
      </dgm:t>
    </dgm:pt>
    <dgm:pt modelId="{C7469103-EA46-4EEF-9139-07CA0E52DF31}">
      <dgm:prSet phldrT="[Texte]"/>
      <dgm:spPr/>
      <dgm:t>
        <a:bodyPr/>
        <a:lstStyle/>
        <a:p>
          <a:r>
            <a:rPr lang="fr-FR" dirty="0"/>
            <a:t>Limite à 2030 pour une projection raisonnable à 15 ans d’un point de vue business.</a:t>
          </a:r>
        </a:p>
      </dgm:t>
    </dgm:pt>
    <dgm:pt modelId="{4A26391F-3F55-4771-A298-A8A8DC8FAF12}" type="parTrans" cxnId="{87CBC2AB-A506-4D61-8F4A-B5345C1495CA}">
      <dgm:prSet/>
      <dgm:spPr/>
      <dgm:t>
        <a:bodyPr/>
        <a:lstStyle/>
        <a:p>
          <a:endParaRPr lang="fr-FR"/>
        </a:p>
      </dgm:t>
    </dgm:pt>
    <dgm:pt modelId="{F098A7F6-1881-483C-9E5E-458D1848D627}" type="sibTrans" cxnId="{87CBC2AB-A506-4D61-8F4A-B5345C1495CA}">
      <dgm:prSet/>
      <dgm:spPr/>
      <dgm:t>
        <a:bodyPr/>
        <a:lstStyle/>
        <a:p>
          <a:endParaRPr lang="fr-FR"/>
        </a:p>
      </dgm:t>
    </dgm:pt>
    <dgm:pt modelId="{42E72EA3-4EAC-4FB2-A2E4-06B32E132E59}" type="pres">
      <dgm:prSet presAssocID="{3BEB04EA-2A1D-4233-8432-18F3302557BE}" presName="diagram" presStyleCnt="0">
        <dgm:presLayoutVars>
          <dgm:dir/>
          <dgm:resizeHandles val="exact"/>
        </dgm:presLayoutVars>
      </dgm:prSet>
      <dgm:spPr/>
    </dgm:pt>
    <dgm:pt modelId="{1E7EC837-9112-4B88-9DD1-5D63816B8520}" type="pres">
      <dgm:prSet presAssocID="{5034C531-3472-4FAC-A1F0-34DFF2DB5B25}" presName="node" presStyleLbl="node1" presStyleIdx="0" presStyleCnt="6">
        <dgm:presLayoutVars>
          <dgm:bulletEnabled val="1"/>
        </dgm:presLayoutVars>
      </dgm:prSet>
      <dgm:spPr/>
    </dgm:pt>
    <dgm:pt modelId="{A0480953-4DD1-414E-88CC-88E85D4E6385}" type="pres">
      <dgm:prSet presAssocID="{34395491-81FA-4DC4-8869-8F3632B70398}" presName="sibTrans" presStyleCnt="0"/>
      <dgm:spPr/>
    </dgm:pt>
    <dgm:pt modelId="{833F6EF0-253A-444C-9583-AE2075EFDEBE}" type="pres">
      <dgm:prSet presAssocID="{C25B65C7-207C-4621-A1E6-81A22A1C85A2}" presName="node" presStyleLbl="node1" presStyleIdx="1" presStyleCnt="6">
        <dgm:presLayoutVars>
          <dgm:bulletEnabled val="1"/>
        </dgm:presLayoutVars>
      </dgm:prSet>
      <dgm:spPr/>
    </dgm:pt>
    <dgm:pt modelId="{575CC1A7-A819-4962-882C-BA95D46ED264}" type="pres">
      <dgm:prSet presAssocID="{921D4B59-DBA2-436A-A496-359C04F23B5A}" presName="sibTrans" presStyleCnt="0"/>
      <dgm:spPr/>
    </dgm:pt>
    <dgm:pt modelId="{7A5C887B-1F57-430F-9662-B886F3813F95}" type="pres">
      <dgm:prSet presAssocID="{6FDF4061-63DD-4F7C-A3CD-9829557C2CB2}" presName="node" presStyleLbl="node1" presStyleIdx="2" presStyleCnt="6">
        <dgm:presLayoutVars>
          <dgm:bulletEnabled val="1"/>
        </dgm:presLayoutVars>
      </dgm:prSet>
      <dgm:spPr/>
    </dgm:pt>
    <dgm:pt modelId="{AC00E228-A4CB-4727-824C-C17114AF76EA}" type="pres">
      <dgm:prSet presAssocID="{E7061BD1-E748-4358-986C-E9BE20CA79BB}" presName="sibTrans" presStyleCnt="0"/>
      <dgm:spPr/>
    </dgm:pt>
    <dgm:pt modelId="{F09D749F-4360-4F48-8B5E-0C828DD2CA9D}" type="pres">
      <dgm:prSet presAssocID="{5F07F0EA-F20C-4A34-9A2E-7C3ACA8FC382}" presName="node" presStyleLbl="node1" presStyleIdx="3" presStyleCnt="6">
        <dgm:presLayoutVars>
          <dgm:bulletEnabled val="1"/>
        </dgm:presLayoutVars>
      </dgm:prSet>
      <dgm:spPr/>
    </dgm:pt>
    <dgm:pt modelId="{DC3D97F5-5920-4570-B37E-69D067B188F9}" type="pres">
      <dgm:prSet presAssocID="{610E0C78-D4EA-42FF-B204-E1E987842328}" presName="sibTrans" presStyleCnt="0"/>
      <dgm:spPr/>
    </dgm:pt>
    <dgm:pt modelId="{B63B4A12-EA6E-48CE-9BF8-1B73A4BC8CCA}" type="pres">
      <dgm:prSet presAssocID="{B4A22319-A2AE-4407-879E-216765D013D0}" presName="node" presStyleLbl="node1" presStyleIdx="4" presStyleCnt="6">
        <dgm:presLayoutVars>
          <dgm:bulletEnabled val="1"/>
        </dgm:presLayoutVars>
      </dgm:prSet>
      <dgm:spPr/>
    </dgm:pt>
    <dgm:pt modelId="{2C339424-00F9-4BDD-BB18-8A2828DD509B}" type="pres">
      <dgm:prSet presAssocID="{69EF4118-FE58-4100-89E2-D09B302043F4}" presName="sibTrans" presStyleCnt="0"/>
      <dgm:spPr/>
    </dgm:pt>
    <dgm:pt modelId="{C3B838F9-67A7-45A3-8726-DA103E79368E}" type="pres">
      <dgm:prSet presAssocID="{730311B6-17F5-4971-9D78-C98926B1B5FD}" presName="node" presStyleLbl="node1" presStyleIdx="5" presStyleCnt="6">
        <dgm:presLayoutVars>
          <dgm:bulletEnabled val="1"/>
        </dgm:presLayoutVars>
      </dgm:prSet>
      <dgm:spPr/>
    </dgm:pt>
  </dgm:ptLst>
  <dgm:cxnLst>
    <dgm:cxn modelId="{EEDFF907-00E9-478D-8F10-BDA4FF702FFC}" type="presOf" srcId="{C7469103-EA46-4EEF-9139-07CA0E52DF31}" destId="{F09D749F-4360-4F48-8B5E-0C828DD2CA9D}" srcOrd="0" destOrd="2" presId="urn:microsoft.com/office/officeart/2005/8/layout/default"/>
    <dgm:cxn modelId="{F65C0D0B-ED0E-4D56-8F90-EE17CD1DCECA}" srcId="{B4A22319-A2AE-4407-879E-216765D013D0}" destId="{BBA00CD9-7821-44DE-A288-DBDD7B0B26C9}" srcOrd="2" destOrd="0" parTransId="{B3B874E0-B687-4D1C-80BB-69B78AA3247D}" sibTransId="{68613D97-E4CD-4FC0-9E20-40D03ACE797B}"/>
    <dgm:cxn modelId="{8211050D-D189-4C50-B7CC-5E0C0CAC5A47}" srcId="{C25B65C7-207C-4621-A1E6-81A22A1C85A2}" destId="{6D9A2829-8E5B-414A-B3C8-EF6858AF2DB3}" srcOrd="2" destOrd="0" parTransId="{918386F0-2992-482D-8A62-1DD0527FE593}" sibTransId="{746B91DA-554D-46E7-8325-72E1D72D022E}"/>
    <dgm:cxn modelId="{3C70AE17-2A99-428A-8149-35B02F12CB23}" type="presOf" srcId="{B58F06DE-C433-46C8-B477-7D41AA0D5C6E}" destId="{833F6EF0-253A-444C-9583-AE2075EFDEBE}" srcOrd="0" destOrd="2" presId="urn:microsoft.com/office/officeart/2005/8/layout/default"/>
    <dgm:cxn modelId="{CADEBF1E-8B87-493C-BFFE-B092FD8A9815}" srcId="{6FDF4061-63DD-4F7C-A3CD-9829557C2CB2}" destId="{FB01B7EF-1C53-41EF-9064-1C3EF7E8D052}" srcOrd="1" destOrd="0" parTransId="{FA2BC831-09C0-43AB-A03E-3050100A181A}" sibTransId="{B67A8D4F-D6A9-46B4-8277-AE4BAF34BEE8}"/>
    <dgm:cxn modelId="{A0431922-6B21-4D08-96F3-8D06BF8969CB}" type="presOf" srcId="{076AFBEB-185D-4D96-9CE2-A6C5378B4BF9}" destId="{1E7EC837-9112-4B88-9DD1-5D63816B8520}" srcOrd="0" destOrd="2" presId="urn:microsoft.com/office/officeart/2005/8/layout/default"/>
    <dgm:cxn modelId="{605DE922-6EEF-4ADB-A762-5AA77D71B033}" srcId="{6FDF4061-63DD-4F7C-A3CD-9829557C2CB2}" destId="{2DF9EF63-7C83-4644-9710-473C1566AA8A}" srcOrd="0" destOrd="0" parTransId="{1F8667AB-C6CE-418E-9D79-253578B9AE48}" sibTransId="{F14F82F9-F063-4995-9BDA-D7EB3C5410EB}"/>
    <dgm:cxn modelId="{FA7BDA2B-41AB-4CAA-A423-F12808ACC880}" type="presOf" srcId="{2DF9EF63-7C83-4644-9710-473C1566AA8A}" destId="{7A5C887B-1F57-430F-9662-B886F3813F95}" srcOrd="0" destOrd="1" presId="urn:microsoft.com/office/officeart/2005/8/layout/default"/>
    <dgm:cxn modelId="{089ACB34-9013-48E3-A41E-383FF7C8FD74}" type="presOf" srcId="{C25B65C7-207C-4621-A1E6-81A22A1C85A2}" destId="{833F6EF0-253A-444C-9583-AE2075EFDEBE}" srcOrd="0" destOrd="0" presId="urn:microsoft.com/office/officeart/2005/8/layout/default"/>
    <dgm:cxn modelId="{523A7435-5DB4-48ED-B344-EA3747CAE224}" type="presOf" srcId="{6D9A2829-8E5B-414A-B3C8-EF6858AF2DB3}" destId="{833F6EF0-253A-444C-9583-AE2075EFDEBE}" srcOrd="0" destOrd="3" presId="urn:microsoft.com/office/officeart/2005/8/layout/default"/>
    <dgm:cxn modelId="{950D9D35-A01B-40C0-B69C-0D67FD922744}" srcId="{5034C531-3472-4FAC-A1F0-34DFF2DB5B25}" destId="{606E8D96-46E4-4688-8FF0-465E9D25C47E}" srcOrd="2" destOrd="0" parTransId="{A099A06B-EAB1-4537-8031-2212EBFE93FB}" sibTransId="{9E3A163D-ACD7-4132-B07B-6301E6490B81}"/>
    <dgm:cxn modelId="{4797CF36-2D50-4F94-9477-532343B324A6}" srcId="{3BEB04EA-2A1D-4233-8432-18F3302557BE}" destId="{6FDF4061-63DD-4F7C-A3CD-9829557C2CB2}" srcOrd="2" destOrd="0" parTransId="{A9C827F6-9D50-4312-9F83-731D0011C7AB}" sibTransId="{E7061BD1-E748-4358-986C-E9BE20CA79BB}"/>
    <dgm:cxn modelId="{ACC5C75F-72A8-42D0-8C8E-ED6EF8B37A0C}" type="presOf" srcId="{28520E3D-9EC5-41B9-8637-25BE0B58B77D}" destId="{B63B4A12-EA6E-48CE-9BF8-1B73A4BC8CCA}" srcOrd="0" destOrd="5" presId="urn:microsoft.com/office/officeart/2005/8/layout/default"/>
    <dgm:cxn modelId="{718E2B4D-C1E1-4A74-922F-C21DC4A4DDC0}" type="presOf" srcId="{A79D2BC1-B81D-4483-B437-23EA84E1D0B1}" destId="{B63B4A12-EA6E-48CE-9BF8-1B73A4BC8CCA}" srcOrd="0" destOrd="4" presId="urn:microsoft.com/office/officeart/2005/8/layout/default"/>
    <dgm:cxn modelId="{7E10F952-AD81-45F0-81DC-860F716DEB34}" srcId="{C25B65C7-207C-4621-A1E6-81A22A1C85A2}" destId="{B12339DA-E328-4DAB-A45F-5988D783D595}" srcOrd="0" destOrd="0" parTransId="{6A1F1245-A4E8-446C-BA3F-1C7EC813E9BD}" sibTransId="{8C07A775-DEA7-402A-91F8-A33545DFFDB6}"/>
    <dgm:cxn modelId="{3329CD73-CD9F-4BDC-805C-6AB1E3059A0C}" srcId="{B4A22319-A2AE-4407-879E-216765D013D0}" destId="{A79D2BC1-B81D-4483-B437-23EA84E1D0B1}" srcOrd="3" destOrd="0" parTransId="{7B747B28-4AB7-4C33-A4CE-12359B0D4CB7}" sibTransId="{C8F26A9B-8DDD-4D23-AB07-E22C5A905A22}"/>
    <dgm:cxn modelId="{1A75F055-A436-43A0-B313-862E590F8524}" srcId="{730311B6-17F5-4971-9D78-C98926B1B5FD}" destId="{5C719F60-F1E2-4E35-8FA8-E55BD680C291}" srcOrd="0" destOrd="0" parTransId="{6FAD1BC3-91AA-432F-B938-32427987372D}" sibTransId="{BF984314-272D-40CE-92E5-05B2948F7DD3}"/>
    <dgm:cxn modelId="{3362747D-B61F-449E-9760-3409CDA9300A}" type="presOf" srcId="{FB01B7EF-1C53-41EF-9064-1C3EF7E8D052}" destId="{7A5C887B-1F57-430F-9662-B886F3813F95}" srcOrd="0" destOrd="2" presId="urn:microsoft.com/office/officeart/2005/8/layout/default"/>
    <dgm:cxn modelId="{4C2EA084-3360-4A1A-8AF8-4E6D461448D5}" type="presOf" srcId="{5C719F60-F1E2-4E35-8FA8-E55BD680C291}" destId="{C3B838F9-67A7-45A3-8726-DA103E79368E}" srcOrd="0" destOrd="1" presId="urn:microsoft.com/office/officeart/2005/8/layout/default"/>
    <dgm:cxn modelId="{F2F7B284-5373-4FAF-9BB7-5E9259665225}" srcId="{3BEB04EA-2A1D-4233-8432-18F3302557BE}" destId="{C25B65C7-207C-4621-A1E6-81A22A1C85A2}" srcOrd="1" destOrd="0" parTransId="{DFD7828E-255A-4075-8BA4-A474578C30A8}" sibTransId="{921D4B59-DBA2-436A-A496-359C04F23B5A}"/>
    <dgm:cxn modelId="{91339285-A6F5-4CCF-85F9-EBD67A3A644D}" type="presOf" srcId="{23397780-5741-4510-91BC-2B56F3799B05}" destId="{B63B4A12-EA6E-48CE-9BF8-1B73A4BC8CCA}" srcOrd="0" destOrd="1" presId="urn:microsoft.com/office/officeart/2005/8/layout/default"/>
    <dgm:cxn modelId="{33AF1B8A-79CB-45EC-B5A9-7930A8466F5C}" srcId="{5F07F0EA-F20C-4A34-9A2E-7C3ACA8FC382}" destId="{B0CAE4AF-D4A6-40B6-A48F-B4E4DA9C7082}" srcOrd="0" destOrd="0" parTransId="{6A1EF477-DF9A-487B-9480-F08F63F58087}" sibTransId="{2C4C2520-D130-4FDD-BE99-051A0EE212AC}"/>
    <dgm:cxn modelId="{12FAE68F-5203-4C9A-8201-BE328DC542C1}" type="presOf" srcId="{2FDE3E36-A963-41DE-A00B-268668388492}" destId="{1E7EC837-9112-4B88-9DD1-5D63816B8520}" srcOrd="0" destOrd="1" presId="urn:microsoft.com/office/officeart/2005/8/layout/default"/>
    <dgm:cxn modelId="{BD1CAB90-F13D-4F1F-965D-53D455A29986}" type="presOf" srcId="{4FC7E299-FCEC-4034-BE33-AEC0BB1108AA}" destId="{C3B838F9-67A7-45A3-8726-DA103E79368E}" srcOrd="0" destOrd="2" presId="urn:microsoft.com/office/officeart/2005/8/layout/default"/>
    <dgm:cxn modelId="{8E431292-B20E-4EDA-8677-4AC5B7BA0ADB}" srcId="{3BEB04EA-2A1D-4233-8432-18F3302557BE}" destId="{5034C531-3472-4FAC-A1F0-34DFF2DB5B25}" srcOrd="0" destOrd="0" parTransId="{4D7D9F9B-682D-4D25-908C-70007F22CCD8}" sibTransId="{34395491-81FA-4DC4-8869-8F3632B70398}"/>
    <dgm:cxn modelId="{75271899-63B3-49FD-A271-3070DC1BF5CE}" type="presOf" srcId="{5F07F0EA-F20C-4A34-9A2E-7C3ACA8FC382}" destId="{F09D749F-4360-4F48-8B5E-0C828DD2CA9D}" srcOrd="0" destOrd="0" presId="urn:microsoft.com/office/officeart/2005/8/layout/default"/>
    <dgm:cxn modelId="{36A495A0-7AE1-4C96-B62E-9892A18DAC81}" srcId="{B4A22319-A2AE-4407-879E-216765D013D0}" destId="{0F2EC90E-FE3F-45EC-ABB6-CB4945E12296}" srcOrd="1" destOrd="0" parTransId="{49155886-6740-467C-9C48-A322B4424044}" sibTransId="{0A95BB0D-DEDD-45E4-A8D7-DA6D0801EECA}"/>
    <dgm:cxn modelId="{BE1921A3-36F3-455A-A48A-9DA5C4154464}" type="presOf" srcId="{6FDF4061-63DD-4F7C-A3CD-9829557C2CB2}" destId="{7A5C887B-1F57-430F-9662-B886F3813F95}" srcOrd="0" destOrd="0" presId="urn:microsoft.com/office/officeart/2005/8/layout/default"/>
    <dgm:cxn modelId="{F8FAADA5-BE57-4120-ABD0-59AAD78696D9}" type="presOf" srcId="{730311B6-17F5-4971-9D78-C98926B1B5FD}" destId="{C3B838F9-67A7-45A3-8726-DA103E79368E}" srcOrd="0" destOrd="0" presId="urn:microsoft.com/office/officeart/2005/8/layout/default"/>
    <dgm:cxn modelId="{36AE39AA-0C3C-4747-939F-65E7414963CA}" type="presOf" srcId="{BBA00CD9-7821-44DE-A288-DBDD7B0B26C9}" destId="{B63B4A12-EA6E-48CE-9BF8-1B73A4BC8CCA}" srcOrd="0" destOrd="3" presId="urn:microsoft.com/office/officeart/2005/8/layout/default"/>
    <dgm:cxn modelId="{87CBC2AB-A506-4D61-8F4A-B5345C1495CA}" srcId="{5F07F0EA-F20C-4A34-9A2E-7C3ACA8FC382}" destId="{C7469103-EA46-4EEF-9139-07CA0E52DF31}" srcOrd="1" destOrd="0" parTransId="{4A26391F-3F55-4771-A298-A8A8DC8FAF12}" sibTransId="{F098A7F6-1881-483C-9E5E-458D1848D627}"/>
    <dgm:cxn modelId="{122C47B2-8692-46D1-920F-04A1C01DCD6B}" type="presOf" srcId="{5034C531-3472-4FAC-A1F0-34DFF2DB5B25}" destId="{1E7EC837-9112-4B88-9DD1-5D63816B8520}" srcOrd="0" destOrd="0" presId="urn:microsoft.com/office/officeart/2005/8/layout/default"/>
    <dgm:cxn modelId="{3B34CAB4-767F-4CA6-B266-AE636ABBD75E}" srcId="{3BEB04EA-2A1D-4233-8432-18F3302557BE}" destId="{5F07F0EA-F20C-4A34-9A2E-7C3ACA8FC382}" srcOrd="3" destOrd="0" parTransId="{DCA8AD07-04F1-464F-96A6-B423E12009D1}" sibTransId="{610E0C78-D4EA-42FF-B204-E1E987842328}"/>
    <dgm:cxn modelId="{BE90DCB4-4C47-4233-8755-BD9F6848C16B}" type="presOf" srcId="{606E8D96-46E4-4688-8FF0-465E9D25C47E}" destId="{1E7EC837-9112-4B88-9DD1-5D63816B8520}" srcOrd="0" destOrd="3" presId="urn:microsoft.com/office/officeart/2005/8/layout/default"/>
    <dgm:cxn modelId="{CDFBDEBD-B171-44B5-BBB0-CE7A0C9FE1E0}" type="presOf" srcId="{0F2EC90E-FE3F-45EC-ABB6-CB4945E12296}" destId="{B63B4A12-EA6E-48CE-9BF8-1B73A4BC8CCA}" srcOrd="0" destOrd="2" presId="urn:microsoft.com/office/officeart/2005/8/layout/default"/>
    <dgm:cxn modelId="{2A19BEBE-7E0E-4B50-A936-08F4C5C992A5}" type="presOf" srcId="{3BEB04EA-2A1D-4233-8432-18F3302557BE}" destId="{42E72EA3-4EAC-4FB2-A2E4-06B32E132E59}" srcOrd="0" destOrd="0" presId="urn:microsoft.com/office/officeart/2005/8/layout/default"/>
    <dgm:cxn modelId="{764867C3-84D9-497D-962B-BD0D14B2EA69}" srcId="{B4A22319-A2AE-4407-879E-216765D013D0}" destId="{28520E3D-9EC5-41B9-8637-25BE0B58B77D}" srcOrd="4" destOrd="0" parTransId="{2C57E377-4A68-4F32-A35E-E787746891E3}" sibTransId="{776640FC-162A-4324-B00A-B3744928C39C}"/>
    <dgm:cxn modelId="{278A22D1-6AFA-4D94-90B8-CF0549F2A859}" type="presOf" srcId="{B4A22319-A2AE-4407-879E-216765D013D0}" destId="{B63B4A12-EA6E-48CE-9BF8-1B73A4BC8CCA}" srcOrd="0" destOrd="0" presId="urn:microsoft.com/office/officeart/2005/8/layout/default"/>
    <dgm:cxn modelId="{5C23CAD7-04E1-4820-B789-42300C350904}" srcId="{3BEB04EA-2A1D-4233-8432-18F3302557BE}" destId="{B4A22319-A2AE-4407-879E-216765D013D0}" srcOrd="4" destOrd="0" parTransId="{84066A0F-90CA-43A4-B198-C6C223707053}" sibTransId="{69EF4118-FE58-4100-89E2-D09B302043F4}"/>
    <dgm:cxn modelId="{01AF07DB-C900-4958-8B42-B808F9B85A7F}" srcId="{3BEB04EA-2A1D-4233-8432-18F3302557BE}" destId="{730311B6-17F5-4971-9D78-C98926B1B5FD}" srcOrd="5" destOrd="0" parTransId="{79D3C2F5-9E20-47EB-9B42-840E6F4243C7}" sibTransId="{999ABCE7-2749-4BD1-B832-A7BED4930E39}"/>
    <dgm:cxn modelId="{090068DE-8843-475A-B9F2-AEF7C078B9CF}" srcId="{730311B6-17F5-4971-9D78-C98926B1B5FD}" destId="{4FC7E299-FCEC-4034-BE33-AEC0BB1108AA}" srcOrd="1" destOrd="0" parTransId="{20DB8C1D-9DBC-46A5-9D52-8AA9075E722A}" sibTransId="{1AE65387-0925-4C85-8854-A3DDF634DA42}"/>
    <dgm:cxn modelId="{EC67D8E9-38A0-433F-878F-87D49EE86919}" srcId="{5034C531-3472-4FAC-A1F0-34DFF2DB5B25}" destId="{076AFBEB-185D-4D96-9CE2-A6C5378B4BF9}" srcOrd="1" destOrd="0" parTransId="{FE4BF85A-F9B5-42D7-A453-79E44F8D4D2B}" sibTransId="{5EBF83D6-442C-467A-8B8D-8FA811B93300}"/>
    <dgm:cxn modelId="{633A46ED-584A-4941-9EBA-CF4BC3E3DD29}" srcId="{5034C531-3472-4FAC-A1F0-34DFF2DB5B25}" destId="{2FDE3E36-A963-41DE-A00B-268668388492}" srcOrd="0" destOrd="0" parTransId="{7DBBED67-8A81-4EE5-A6D3-1197D7ED655D}" sibTransId="{38465228-A23C-46DB-9841-FFB6DA294248}"/>
    <dgm:cxn modelId="{57A2ADEF-ACE9-430E-9692-B4EC156831FF}" type="presOf" srcId="{B12339DA-E328-4DAB-A45F-5988D783D595}" destId="{833F6EF0-253A-444C-9583-AE2075EFDEBE}" srcOrd="0" destOrd="1" presId="urn:microsoft.com/office/officeart/2005/8/layout/default"/>
    <dgm:cxn modelId="{AC9790F9-D35C-485A-8CE6-68C9483A6969}" srcId="{C25B65C7-207C-4621-A1E6-81A22A1C85A2}" destId="{B58F06DE-C433-46C8-B477-7D41AA0D5C6E}" srcOrd="1" destOrd="0" parTransId="{10830E2A-AF3B-4C95-8443-62126DE83B3F}" sibTransId="{7E399FA9-8604-4D45-AD97-D96EA06D5E27}"/>
    <dgm:cxn modelId="{B16E7CFB-2C42-4647-85EB-46AA4F83FA04}" srcId="{B4A22319-A2AE-4407-879E-216765D013D0}" destId="{23397780-5741-4510-91BC-2B56F3799B05}" srcOrd="0" destOrd="0" parTransId="{D2C7C7EB-C8DF-4224-A9F2-9B355E42D973}" sibTransId="{9CE376B2-E29F-486F-A8B3-9C9BDF356B00}"/>
    <dgm:cxn modelId="{7F7DCAFC-DDB1-40A8-821D-0DB4F8E56822}" type="presOf" srcId="{B0CAE4AF-D4A6-40B6-A48F-B4E4DA9C7082}" destId="{F09D749F-4360-4F48-8B5E-0C828DD2CA9D}" srcOrd="0" destOrd="1" presId="urn:microsoft.com/office/officeart/2005/8/layout/default"/>
    <dgm:cxn modelId="{BA93FA37-3B67-4E5B-9DF5-B74B529F616E}" type="presParOf" srcId="{42E72EA3-4EAC-4FB2-A2E4-06B32E132E59}" destId="{1E7EC837-9112-4B88-9DD1-5D63816B8520}" srcOrd="0" destOrd="0" presId="urn:microsoft.com/office/officeart/2005/8/layout/default"/>
    <dgm:cxn modelId="{2A84866F-DFA3-4309-97C3-4098C487D92B}" type="presParOf" srcId="{42E72EA3-4EAC-4FB2-A2E4-06B32E132E59}" destId="{A0480953-4DD1-414E-88CC-88E85D4E6385}" srcOrd="1" destOrd="0" presId="urn:microsoft.com/office/officeart/2005/8/layout/default"/>
    <dgm:cxn modelId="{62D6DD6F-476E-4E3D-B176-AF47F490D9B7}" type="presParOf" srcId="{42E72EA3-4EAC-4FB2-A2E4-06B32E132E59}" destId="{833F6EF0-253A-444C-9583-AE2075EFDEBE}" srcOrd="2" destOrd="0" presId="urn:microsoft.com/office/officeart/2005/8/layout/default"/>
    <dgm:cxn modelId="{7CFC8D51-9B7C-47F5-B284-2D31F78DA26F}" type="presParOf" srcId="{42E72EA3-4EAC-4FB2-A2E4-06B32E132E59}" destId="{575CC1A7-A819-4962-882C-BA95D46ED264}" srcOrd="3" destOrd="0" presId="urn:microsoft.com/office/officeart/2005/8/layout/default"/>
    <dgm:cxn modelId="{18FA87DB-C846-45B5-A5EA-D2A9FD665AD2}" type="presParOf" srcId="{42E72EA3-4EAC-4FB2-A2E4-06B32E132E59}" destId="{7A5C887B-1F57-430F-9662-B886F3813F95}" srcOrd="4" destOrd="0" presId="urn:microsoft.com/office/officeart/2005/8/layout/default"/>
    <dgm:cxn modelId="{82C9AB4F-4D1D-42C6-AD50-4ECE47E6ECAA}" type="presParOf" srcId="{42E72EA3-4EAC-4FB2-A2E4-06B32E132E59}" destId="{AC00E228-A4CB-4727-824C-C17114AF76EA}" srcOrd="5" destOrd="0" presId="urn:microsoft.com/office/officeart/2005/8/layout/default"/>
    <dgm:cxn modelId="{3779383B-F988-4C00-80B5-1BE861C854F5}" type="presParOf" srcId="{42E72EA3-4EAC-4FB2-A2E4-06B32E132E59}" destId="{F09D749F-4360-4F48-8B5E-0C828DD2CA9D}" srcOrd="6" destOrd="0" presId="urn:microsoft.com/office/officeart/2005/8/layout/default"/>
    <dgm:cxn modelId="{67C4B9B3-2A37-4903-8BAC-2BAF233A197F}" type="presParOf" srcId="{42E72EA3-4EAC-4FB2-A2E4-06B32E132E59}" destId="{DC3D97F5-5920-4570-B37E-69D067B188F9}" srcOrd="7" destOrd="0" presId="urn:microsoft.com/office/officeart/2005/8/layout/default"/>
    <dgm:cxn modelId="{6902E675-FC06-444B-AC1B-64204076610E}" type="presParOf" srcId="{42E72EA3-4EAC-4FB2-A2E4-06B32E132E59}" destId="{B63B4A12-EA6E-48CE-9BF8-1B73A4BC8CCA}" srcOrd="8" destOrd="0" presId="urn:microsoft.com/office/officeart/2005/8/layout/default"/>
    <dgm:cxn modelId="{1DF21EBD-55F8-4A58-91A0-325524671BAB}" type="presParOf" srcId="{42E72EA3-4EAC-4FB2-A2E4-06B32E132E59}" destId="{2C339424-00F9-4BDD-BB18-8A2828DD509B}" srcOrd="9" destOrd="0" presId="urn:microsoft.com/office/officeart/2005/8/layout/default"/>
    <dgm:cxn modelId="{103285CA-2DB6-4C6E-8453-1F92CF77457B}" type="presParOf" srcId="{42E72EA3-4EAC-4FB2-A2E4-06B32E132E59}" destId="{C3B838F9-67A7-45A3-8726-DA103E79368E}"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75D96506-60DB-428A-B53C-61F66EEA8315}"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fr-FR"/>
        </a:p>
      </dgm:t>
    </dgm:pt>
    <dgm:pt modelId="{82D2DAD8-42F4-433A-ACFE-8B2578F01FDE}">
      <dgm:prSet phldrT="[Texte]"/>
      <dgm:spPr/>
      <dgm:t>
        <a:bodyPr/>
        <a:lstStyle/>
        <a:p>
          <a:r>
            <a:rPr lang="fr-FR" dirty="0"/>
            <a:t>BAR.SEC.CMPT.15UP.ZS</a:t>
          </a:r>
        </a:p>
      </dgm:t>
    </dgm:pt>
    <dgm:pt modelId="{7AFE58CD-214D-4021-9558-A5322E2094EE}" type="parTrans" cxnId="{82BAA6BE-4DA0-47E1-8BA6-F85EBB1A5B5F}">
      <dgm:prSet/>
      <dgm:spPr/>
      <dgm:t>
        <a:bodyPr/>
        <a:lstStyle/>
        <a:p>
          <a:endParaRPr lang="fr-FR"/>
        </a:p>
      </dgm:t>
    </dgm:pt>
    <dgm:pt modelId="{FF2C89B1-6485-40B6-8E42-417494A9F30D}" type="sibTrans" cxnId="{82BAA6BE-4DA0-47E1-8BA6-F85EBB1A5B5F}">
      <dgm:prSet/>
      <dgm:spPr/>
      <dgm:t>
        <a:bodyPr/>
        <a:lstStyle/>
        <a:p>
          <a:endParaRPr lang="fr-FR"/>
        </a:p>
      </dgm:t>
    </dgm:pt>
    <dgm:pt modelId="{7DC1BF32-183E-424C-AB79-6836914D199C}">
      <dgm:prSet phldrT="[Texte]"/>
      <dgm:spPr/>
      <dgm:t>
        <a:bodyPr/>
        <a:lstStyle/>
        <a:p>
          <a:r>
            <a:rPr lang="fr-FR" dirty="0"/>
            <a:t>Mesure le vivier de lycéens potentiels déjà éduqués</a:t>
          </a:r>
        </a:p>
      </dgm:t>
    </dgm:pt>
    <dgm:pt modelId="{7E9DF4F6-276F-484E-BE3A-6B7A46DC6834}" type="parTrans" cxnId="{F54AD115-C93E-43C8-871D-C81E9127DD08}">
      <dgm:prSet/>
      <dgm:spPr/>
      <dgm:t>
        <a:bodyPr/>
        <a:lstStyle/>
        <a:p>
          <a:endParaRPr lang="fr-FR"/>
        </a:p>
      </dgm:t>
    </dgm:pt>
    <dgm:pt modelId="{7AD49D72-0547-4F36-B5C4-62029FB3130A}" type="sibTrans" cxnId="{F54AD115-C93E-43C8-871D-C81E9127DD08}">
      <dgm:prSet/>
      <dgm:spPr/>
      <dgm:t>
        <a:bodyPr/>
        <a:lstStyle/>
        <a:p>
          <a:endParaRPr lang="fr-FR"/>
        </a:p>
      </dgm:t>
    </dgm:pt>
    <dgm:pt modelId="{6291D284-A206-4496-82F5-E1E1D42BDB19}">
      <dgm:prSet phldrT="[Texte]"/>
      <dgm:spPr/>
      <dgm:t>
        <a:bodyPr/>
        <a:lstStyle/>
        <a:p>
          <a:r>
            <a:rPr lang="fr-FR" dirty="0"/>
            <a:t>BAR.TER.CMPT.15UP.ZS</a:t>
          </a:r>
        </a:p>
      </dgm:t>
    </dgm:pt>
    <dgm:pt modelId="{FE26BE16-7BD8-420D-9CFA-F1079CECAFD6}" type="parTrans" cxnId="{696DC289-BE7C-48F5-892D-F96F5E926ECD}">
      <dgm:prSet/>
      <dgm:spPr/>
      <dgm:t>
        <a:bodyPr/>
        <a:lstStyle/>
        <a:p>
          <a:endParaRPr lang="fr-FR"/>
        </a:p>
      </dgm:t>
    </dgm:pt>
    <dgm:pt modelId="{AC8574DA-9CCD-4F87-8A44-433FC044C1B4}" type="sibTrans" cxnId="{696DC289-BE7C-48F5-892D-F96F5E926ECD}">
      <dgm:prSet/>
      <dgm:spPr/>
      <dgm:t>
        <a:bodyPr/>
        <a:lstStyle/>
        <a:p>
          <a:endParaRPr lang="fr-FR"/>
        </a:p>
      </dgm:t>
    </dgm:pt>
    <dgm:pt modelId="{BD6F5985-E57C-488B-BFFC-A4608483FF2D}">
      <dgm:prSet phldrT="[Texte]"/>
      <dgm:spPr/>
      <dgm:t>
        <a:bodyPr/>
        <a:lstStyle/>
        <a:p>
          <a:r>
            <a:rPr lang="fr-FR" dirty="0"/>
            <a:t>Mesure le vivier d'étudiants ayant accès à l'enseignement supérieur</a:t>
          </a:r>
        </a:p>
      </dgm:t>
    </dgm:pt>
    <dgm:pt modelId="{4AD06A63-C47B-4A11-9E71-EABC00E5F833}" type="parTrans" cxnId="{BB3F57D9-BC08-478C-A9C7-3E8CC0D2BB2C}">
      <dgm:prSet/>
      <dgm:spPr/>
      <dgm:t>
        <a:bodyPr/>
        <a:lstStyle/>
        <a:p>
          <a:endParaRPr lang="fr-FR"/>
        </a:p>
      </dgm:t>
    </dgm:pt>
    <dgm:pt modelId="{5903202D-C9D7-4D49-B20F-36B64A3071C7}" type="sibTrans" cxnId="{BB3F57D9-BC08-478C-A9C7-3E8CC0D2BB2C}">
      <dgm:prSet/>
      <dgm:spPr/>
      <dgm:t>
        <a:bodyPr/>
        <a:lstStyle/>
        <a:p>
          <a:endParaRPr lang="fr-FR"/>
        </a:p>
      </dgm:t>
    </dgm:pt>
    <dgm:pt modelId="{01CE8728-A4B0-4D7E-8874-7FC6756925B9}">
      <dgm:prSet phldrT="[Texte]"/>
      <dgm:spPr/>
      <dgm:t>
        <a:bodyPr/>
        <a:lstStyle/>
        <a:p>
          <a:r>
            <a:rPr lang="fr-FR" dirty="0"/>
            <a:t>Part de la population 15 ans et + ayant complété l'enseignement supérieur (université)</a:t>
          </a:r>
        </a:p>
      </dgm:t>
    </dgm:pt>
    <dgm:pt modelId="{77AF9593-35DC-462D-982C-DD0ED19A780B}" type="parTrans" cxnId="{B193CB36-806D-4753-822D-644F5C2100FF}">
      <dgm:prSet/>
      <dgm:spPr/>
      <dgm:t>
        <a:bodyPr/>
        <a:lstStyle/>
        <a:p>
          <a:endParaRPr lang="fr-FR"/>
        </a:p>
      </dgm:t>
    </dgm:pt>
    <dgm:pt modelId="{35CF3C4C-0354-481D-B3DB-6B6014CF61DB}" type="sibTrans" cxnId="{B193CB36-806D-4753-822D-644F5C2100FF}">
      <dgm:prSet/>
      <dgm:spPr/>
      <dgm:t>
        <a:bodyPr/>
        <a:lstStyle/>
        <a:p>
          <a:endParaRPr lang="fr-FR"/>
        </a:p>
      </dgm:t>
    </dgm:pt>
    <dgm:pt modelId="{BAD5A89F-4C80-4A9E-9A07-2D668576E16B}">
      <dgm:prSet phldrT="[Texte]"/>
      <dgm:spPr/>
      <dgm:t>
        <a:bodyPr/>
        <a:lstStyle/>
        <a:p>
          <a:r>
            <a:rPr lang="fr-FR" dirty="0"/>
            <a:t>SE.SEC.ENRR</a:t>
          </a:r>
        </a:p>
      </dgm:t>
    </dgm:pt>
    <dgm:pt modelId="{990271B2-513E-4E73-808B-CB6AF416E680}" type="parTrans" cxnId="{EDE2D03D-C37E-475D-AD93-33A7247D6444}">
      <dgm:prSet/>
      <dgm:spPr/>
      <dgm:t>
        <a:bodyPr/>
        <a:lstStyle/>
        <a:p>
          <a:endParaRPr lang="fr-FR"/>
        </a:p>
      </dgm:t>
    </dgm:pt>
    <dgm:pt modelId="{BEC5E7AC-11FB-419C-92EB-996DB96E3233}" type="sibTrans" cxnId="{EDE2D03D-C37E-475D-AD93-33A7247D6444}">
      <dgm:prSet/>
      <dgm:spPr/>
      <dgm:t>
        <a:bodyPr/>
        <a:lstStyle/>
        <a:p>
          <a:endParaRPr lang="fr-FR"/>
        </a:p>
      </dgm:t>
    </dgm:pt>
    <dgm:pt modelId="{7909802C-5DF8-4D05-9049-F0F3EE1AB4B0}">
      <dgm:prSet phldrT="[Texte]"/>
      <dgm:spPr/>
      <dgm:t>
        <a:bodyPr/>
        <a:lstStyle/>
        <a:p>
          <a:r>
            <a:rPr lang="fr-FR" dirty="0"/>
            <a:t>Indique la demande actuelle de formation au lycée</a:t>
          </a:r>
        </a:p>
      </dgm:t>
    </dgm:pt>
    <dgm:pt modelId="{2A31AC6F-B422-4312-B91F-BA5D63E8A344}" type="parTrans" cxnId="{1E9A5986-BF22-490F-9867-50D35CA93F36}">
      <dgm:prSet/>
      <dgm:spPr/>
      <dgm:t>
        <a:bodyPr/>
        <a:lstStyle/>
        <a:p>
          <a:endParaRPr lang="fr-FR"/>
        </a:p>
      </dgm:t>
    </dgm:pt>
    <dgm:pt modelId="{2853E794-0ED5-44A5-9A7C-DA2DDC38AE2B}" type="sibTrans" cxnId="{1E9A5986-BF22-490F-9867-50D35CA93F36}">
      <dgm:prSet/>
      <dgm:spPr/>
      <dgm:t>
        <a:bodyPr/>
        <a:lstStyle/>
        <a:p>
          <a:endParaRPr lang="fr-FR"/>
        </a:p>
      </dgm:t>
    </dgm:pt>
    <dgm:pt modelId="{BE66CCBE-72FF-40DE-AD12-AE2EB1F2A0FB}">
      <dgm:prSet phldrT="[Texte]"/>
      <dgm:spPr/>
      <dgm:t>
        <a:bodyPr/>
        <a:lstStyle/>
        <a:p>
          <a:r>
            <a:rPr lang="fr-FR" dirty="0"/>
            <a:t>Ratio d'inscription brut dans le secondaire, tous âges confondus (peut dépasser 100 %)</a:t>
          </a:r>
        </a:p>
      </dgm:t>
    </dgm:pt>
    <dgm:pt modelId="{E07C41EE-DDF6-4FBA-B8AB-87E89A712073}" type="parTrans" cxnId="{B55A7E01-F09C-4E76-AEC3-EBABDECE6ED7}">
      <dgm:prSet/>
      <dgm:spPr/>
      <dgm:t>
        <a:bodyPr/>
        <a:lstStyle/>
        <a:p>
          <a:endParaRPr lang="fr-FR"/>
        </a:p>
      </dgm:t>
    </dgm:pt>
    <dgm:pt modelId="{4CF272A6-5E9D-4169-8ED9-9C132F9CD40E}" type="sibTrans" cxnId="{B55A7E01-F09C-4E76-AEC3-EBABDECE6ED7}">
      <dgm:prSet/>
      <dgm:spPr/>
      <dgm:t>
        <a:bodyPr/>
        <a:lstStyle/>
        <a:p>
          <a:endParaRPr lang="fr-FR"/>
        </a:p>
      </dgm:t>
    </dgm:pt>
    <dgm:pt modelId="{F98CE9C6-48F6-4499-8B68-26B36EC543D3}">
      <dgm:prSet phldrT="[Texte]" phldr="0"/>
      <dgm:spPr/>
      <dgm:t>
        <a:bodyPr/>
        <a:lstStyle/>
        <a:p>
          <a:r>
            <a:rPr lang="fr-FR" dirty="0"/>
            <a:t>SE.TER.ENRR</a:t>
          </a:r>
        </a:p>
      </dgm:t>
    </dgm:pt>
    <dgm:pt modelId="{F263EE0E-ED92-4CA7-8AB1-313678C6DD25}" type="parTrans" cxnId="{1F4BD7F4-D87B-4885-AF27-E0F552C4EE6E}">
      <dgm:prSet/>
      <dgm:spPr/>
      <dgm:t>
        <a:bodyPr/>
        <a:lstStyle/>
        <a:p>
          <a:endParaRPr lang="fr-FR"/>
        </a:p>
      </dgm:t>
    </dgm:pt>
    <dgm:pt modelId="{81942387-DE1E-4E6B-9567-BA2006B3B7C2}" type="sibTrans" cxnId="{1F4BD7F4-D87B-4885-AF27-E0F552C4EE6E}">
      <dgm:prSet/>
      <dgm:spPr/>
      <dgm:t>
        <a:bodyPr/>
        <a:lstStyle/>
        <a:p>
          <a:endParaRPr lang="fr-FR"/>
        </a:p>
      </dgm:t>
    </dgm:pt>
    <dgm:pt modelId="{2FB33A0D-5283-4C0A-9BCE-CDF799D21375}">
      <dgm:prSet phldrT="[Texte]" phldr="0"/>
      <dgm:spPr/>
      <dgm:t>
        <a:bodyPr/>
        <a:lstStyle/>
        <a:p>
          <a:r>
            <a:rPr lang="fr-FR" dirty="0"/>
            <a:t>Indique la demande actuelle de formation universitaire</a:t>
          </a:r>
        </a:p>
      </dgm:t>
    </dgm:pt>
    <dgm:pt modelId="{82056EC8-18ED-4A7B-862D-A1BC83D6954B}" type="parTrans" cxnId="{F26B5604-DFA4-4943-8455-5292DAFE9D5A}">
      <dgm:prSet/>
      <dgm:spPr/>
      <dgm:t>
        <a:bodyPr/>
        <a:lstStyle/>
        <a:p>
          <a:endParaRPr lang="fr-FR"/>
        </a:p>
      </dgm:t>
    </dgm:pt>
    <dgm:pt modelId="{9087DC93-62E8-4B31-85E0-0F40750BF5E4}" type="sibTrans" cxnId="{F26B5604-DFA4-4943-8455-5292DAFE9D5A}">
      <dgm:prSet/>
      <dgm:spPr/>
      <dgm:t>
        <a:bodyPr/>
        <a:lstStyle/>
        <a:p>
          <a:endParaRPr lang="fr-FR"/>
        </a:p>
      </dgm:t>
    </dgm:pt>
    <dgm:pt modelId="{2AFE6DC0-8C8B-4215-A645-CC1CF0803FD1}">
      <dgm:prSet phldrT="[Texte]" phldr="0"/>
      <dgm:spPr/>
      <dgm:t>
        <a:bodyPr/>
        <a:lstStyle/>
        <a:p>
          <a:r>
            <a:rPr lang="fr-FR" dirty="0"/>
            <a:t>PRJ.ATT.15UP.3.MF</a:t>
          </a:r>
        </a:p>
      </dgm:t>
    </dgm:pt>
    <dgm:pt modelId="{7ECC9FDC-0CEA-454B-ADED-0AB9CEC7A1E6}" type="parTrans" cxnId="{88D36A93-0165-440B-8244-B7BDCBBB3BD8}">
      <dgm:prSet/>
      <dgm:spPr/>
      <dgm:t>
        <a:bodyPr/>
        <a:lstStyle/>
        <a:p>
          <a:endParaRPr lang="fr-FR"/>
        </a:p>
      </dgm:t>
    </dgm:pt>
    <dgm:pt modelId="{7B278396-C6BF-4FE8-B738-E95E25AB2714}" type="sibTrans" cxnId="{88D36A93-0165-440B-8244-B7BDCBBB3BD8}">
      <dgm:prSet/>
      <dgm:spPr/>
      <dgm:t>
        <a:bodyPr/>
        <a:lstStyle/>
        <a:p>
          <a:endParaRPr lang="fr-FR"/>
        </a:p>
      </dgm:t>
    </dgm:pt>
    <dgm:pt modelId="{3DB7AF84-289D-4064-AA2D-37923AA55671}">
      <dgm:prSet phldrT="[Texte]" phldr="0"/>
      <dgm:spPr/>
      <dgm:t>
        <a:bodyPr/>
        <a:lstStyle/>
        <a:p>
          <a:r>
            <a:rPr lang="fr-FR" dirty="0"/>
            <a:t>PRJ.ATT.15UP.4.MF</a:t>
          </a:r>
        </a:p>
      </dgm:t>
    </dgm:pt>
    <dgm:pt modelId="{9844D044-E565-4243-AD01-AF0E2DE68184}" type="parTrans" cxnId="{32F61192-CC20-4939-9E9F-005FF9C937BB}">
      <dgm:prSet/>
      <dgm:spPr/>
      <dgm:t>
        <a:bodyPr/>
        <a:lstStyle/>
        <a:p>
          <a:endParaRPr lang="fr-FR"/>
        </a:p>
      </dgm:t>
    </dgm:pt>
    <dgm:pt modelId="{22B1F5BE-E4DB-4AE1-8341-3D8D49B2FBA7}" type="sibTrans" cxnId="{32F61192-CC20-4939-9E9F-005FF9C937BB}">
      <dgm:prSet/>
      <dgm:spPr/>
      <dgm:t>
        <a:bodyPr/>
        <a:lstStyle/>
        <a:p>
          <a:endParaRPr lang="fr-FR"/>
        </a:p>
      </dgm:t>
    </dgm:pt>
    <dgm:pt modelId="{43D964F8-1685-44B2-964E-9E3216FB6D12}">
      <dgm:prSet phldrT="[Texte]" phldr="0"/>
      <dgm:spPr/>
      <dgm:t>
        <a:bodyPr/>
        <a:lstStyle/>
        <a:p>
          <a:r>
            <a:rPr lang="fr-FR" dirty="0"/>
            <a:t>Anticipe l’évolution du marché secondaire d’ici 2030</a:t>
          </a:r>
        </a:p>
      </dgm:t>
    </dgm:pt>
    <dgm:pt modelId="{CE738CA3-D365-4B6F-9DAF-4065B4A40B25}" type="parTrans" cxnId="{7604AF30-9E98-472F-996E-377A08889980}">
      <dgm:prSet/>
      <dgm:spPr/>
      <dgm:t>
        <a:bodyPr/>
        <a:lstStyle/>
        <a:p>
          <a:endParaRPr lang="fr-FR"/>
        </a:p>
      </dgm:t>
    </dgm:pt>
    <dgm:pt modelId="{95519A14-0DE5-4DCF-B552-C487C3513B54}" type="sibTrans" cxnId="{7604AF30-9E98-472F-996E-377A08889980}">
      <dgm:prSet/>
      <dgm:spPr/>
      <dgm:t>
        <a:bodyPr/>
        <a:lstStyle/>
        <a:p>
          <a:endParaRPr lang="fr-FR"/>
        </a:p>
      </dgm:t>
    </dgm:pt>
    <dgm:pt modelId="{4391E6E0-6F41-41C2-88C2-B0C98FEA836E}">
      <dgm:prSet phldrT="[Texte]" phldr="0"/>
      <dgm:spPr/>
      <dgm:t>
        <a:bodyPr/>
        <a:lstStyle/>
        <a:p>
          <a:r>
            <a:rPr lang="fr-FR" dirty="0"/>
            <a:t>Anticipe la croissance du marché universitaire à horizon 2030</a:t>
          </a:r>
        </a:p>
      </dgm:t>
    </dgm:pt>
    <dgm:pt modelId="{629A7460-9135-4303-B034-C9711C51DB4B}" type="parTrans" cxnId="{5AA3F333-2104-4FE6-B28D-25FBA231BBFF}">
      <dgm:prSet/>
      <dgm:spPr/>
      <dgm:t>
        <a:bodyPr/>
        <a:lstStyle/>
        <a:p>
          <a:endParaRPr lang="fr-FR"/>
        </a:p>
      </dgm:t>
    </dgm:pt>
    <dgm:pt modelId="{CC2DE7E7-3986-4945-993D-27F977095BDA}" type="sibTrans" cxnId="{5AA3F333-2104-4FE6-B28D-25FBA231BBFF}">
      <dgm:prSet/>
      <dgm:spPr/>
      <dgm:t>
        <a:bodyPr/>
        <a:lstStyle/>
        <a:p>
          <a:endParaRPr lang="fr-FR"/>
        </a:p>
      </dgm:t>
    </dgm:pt>
    <dgm:pt modelId="{B6A0BD60-2314-42BF-86BC-CFA994C216D7}">
      <dgm:prSet phldrT="[Texte]"/>
      <dgm:spPr/>
      <dgm:t>
        <a:bodyPr/>
        <a:lstStyle/>
        <a:p>
          <a:r>
            <a:rPr lang="fr-FR" dirty="0"/>
            <a:t>Part de la population 15 ans et + ayant complété l'enseignement secondaire (lycée)</a:t>
          </a:r>
        </a:p>
      </dgm:t>
    </dgm:pt>
    <dgm:pt modelId="{31664035-9AEC-48B0-8A2A-EC67CE9A3F48}" type="parTrans" cxnId="{B7377CE4-0F9A-4737-8586-967ED8C3C193}">
      <dgm:prSet/>
      <dgm:spPr/>
      <dgm:t>
        <a:bodyPr/>
        <a:lstStyle/>
        <a:p>
          <a:endParaRPr lang="fr-FR"/>
        </a:p>
      </dgm:t>
    </dgm:pt>
    <dgm:pt modelId="{F7EAAC1B-914F-4273-A5DE-37B78FAE7448}" type="sibTrans" cxnId="{B7377CE4-0F9A-4737-8586-967ED8C3C193}">
      <dgm:prSet/>
      <dgm:spPr/>
      <dgm:t>
        <a:bodyPr/>
        <a:lstStyle/>
        <a:p>
          <a:endParaRPr lang="fr-FR"/>
        </a:p>
      </dgm:t>
    </dgm:pt>
    <dgm:pt modelId="{A85882A7-EA10-4F9B-B5A7-A51D907EA7AE}">
      <dgm:prSet phldrT="[Texte]" phldr="0"/>
      <dgm:spPr/>
      <dgm:t>
        <a:bodyPr/>
        <a:lstStyle/>
        <a:p>
          <a:r>
            <a:rPr lang="fr-FR" dirty="0"/>
            <a:t>Ratio d'inscription brut dans le tertiaire, tous âges confondus</a:t>
          </a:r>
        </a:p>
      </dgm:t>
    </dgm:pt>
    <dgm:pt modelId="{3CB22E9E-F26B-4B8F-8209-CF997B32CD14}" type="parTrans" cxnId="{A97D78D4-8003-4477-8AC2-19BD8D55BB18}">
      <dgm:prSet/>
      <dgm:spPr/>
      <dgm:t>
        <a:bodyPr/>
        <a:lstStyle/>
        <a:p>
          <a:endParaRPr lang="fr-FR"/>
        </a:p>
      </dgm:t>
    </dgm:pt>
    <dgm:pt modelId="{D7554E79-8D2F-4543-8C79-A7FC8E1CCA47}" type="sibTrans" cxnId="{A97D78D4-8003-4477-8AC2-19BD8D55BB18}">
      <dgm:prSet/>
      <dgm:spPr/>
      <dgm:t>
        <a:bodyPr/>
        <a:lstStyle/>
        <a:p>
          <a:endParaRPr lang="fr-FR"/>
        </a:p>
      </dgm:t>
    </dgm:pt>
    <dgm:pt modelId="{55BF9F70-C6A2-49F0-BB8C-8B75C5D989AD}">
      <dgm:prSet/>
      <dgm:spPr/>
      <dgm:t>
        <a:bodyPr/>
        <a:lstStyle/>
        <a:p>
          <a:r>
            <a:rPr lang="fr-FR" dirty="0"/>
            <a:t>Part projeté de la population 15 ans et + atteignant le niveau secondaire supérieur (2015-2030)</a:t>
          </a:r>
        </a:p>
      </dgm:t>
    </dgm:pt>
    <dgm:pt modelId="{FB1ADAD0-6F8A-432B-B89D-8E602E7129C8}" type="parTrans" cxnId="{CDA29CED-4E1F-46AE-AEDE-6C53221DD433}">
      <dgm:prSet/>
      <dgm:spPr/>
      <dgm:t>
        <a:bodyPr/>
        <a:lstStyle/>
        <a:p>
          <a:endParaRPr lang="fr-FR"/>
        </a:p>
      </dgm:t>
    </dgm:pt>
    <dgm:pt modelId="{749C0755-CBAC-422B-9046-9D340C75775D}" type="sibTrans" cxnId="{CDA29CED-4E1F-46AE-AEDE-6C53221DD433}">
      <dgm:prSet/>
      <dgm:spPr/>
      <dgm:t>
        <a:bodyPr/>
        <a:lstStyle/>
        <a:p>
          <a:endParaRPr lang="fr-FR"/>
        </a:p>
      </dgm:t>
    </dgm:pt>
    <dgm:pt modelId="{275C31C8-E047-4111-96C7-77F1DCA1A792}">
      <dgm:prSet phldrT="[Texte]" phldr="0"/>
      <dgm:spPr/>
      <dgm:t>
        <a:bodyPr/>
        <a:lstStyle/>
        <a:p>
          <a:r>
            <a:rPr lang="fr-FR" dirty="0"/>
            <a:t>Part projeté de pop. 15+ ayant atteint le niveau post-bac</a:t>
          </a:r>
        </a:p>
      </dgm:t>
    </dgm:pt>
    <dgm:pt modelId="{1CE7583A-4C03-4D40-8685-D290B42380D9}" type="parTrans" cxnId="{68B8CA34-6021-4C2D-B921-A04E74310457}">
      <dgm:prSet/>
      <dgm:spPr/>
      <dgm:t>
        <a:bodyPr/>
        <a:lstStyle/>
        <a:p>
          <a:endParaRPr lang="fr-FR"/>
        </a:p>
      </dgm:t>
    </dgm:pt>
    <dgm:pt modelId="{D9C1F9FB-9E83-49EC-BC0D-5E8D3F991A8F}" type="sibTrans" cxnId="{68B8CA34-6021-4C2D-B921-A04E74310457}">
      <dgm:prSet/>
      <dgm:spPr/>
      <dgm:t>
        <a:bodyPr/>
        <a:lstStyle/>
        <a:p>
          <a:endParaRPr lang="fr-FR"/>
        </a:p>
      </dgm:t>
    </dgm:pt>
    <dgm:pt modelId="{6F1F0B85-01E0-45A3-9485-CA5B794CEEBB}" type="pres">
      <dgm:prSet presAssocID="{75D96506-60DB-428A-B53C-61F66EEA8315}" presName="Name0" presStyleCnt="0">
        <dgm:presLayoutVars>
          <dgm:dir/>
          <dgm:animLvl val="lvl"/>
          <dgm:resizeHandles val="exact"/>
        </dgm:presLayoutVars>
      </dgm:prSet>
      <dgm:spPr/>
    </dgm:pt>
    <dgm:pt modelId="{582B42D7-B93E-4C8C-ACA8-B9EC26C9CF09}" type="pres">
      <dgm:prSet presAssocID="{82D2DAD8-42F4-433A-ACFE-8B2578F01FDE}" presName="linNode" presStyleCnt="0"/>
      <dgm:spPr/>
    </dgm:pt>
    <dgm:pt modelId="{90D2D753-BCF1-4BBE-9024-7B5FCC79EC61}" type="pres">
      <dgm:prSet presAssocID="{82D2DAD8-42F4-433A-ACFE-8B2578F01FDE}" presName="parentText" presStyleLbl="node1" presStyleIdx="0" presStyleCnt="6">
        <dgm:presLayoutVars>
          <dgm:chMax val="1"/>
          <dgm:bulletEnabled val="1"/>
        </dgm:presLayoutVars>
      </dgm:prSet>
      <dgm:spPr/>
    </dgm:pt>
    <dgm:pt modelId="{522EFCAF-9506-4F30-BE65-D293A210999D}" type="pres">
      <dgm:prSet presAssocID="{82D2DAD8-42F4-433A-ACFE-8B2578F01FDE}" presName="descendantText" presStyleLbl="alignAccFollowNode1" presStyleIdx="0" presStyleCnt="6">
        <dgm:presLayoutVars>
          <dgm:bulletEnabled val="1"/>
        </dgm:presLayoutVars>
      </dgm:prSet>
      <dgm:spPr/>
    </dgm:pt>
    <dgm:pt modelId="{504B958B-6553-4D4D-A1D5-9525A286E1BA}" type="pres">
      <dgm:prSet presAssocID="{FF2C89B1-6485-40B6-8E42-417494A9F30D}" presName="sp" presStyleCnt="0"/>
      <dgm:spPr/>
    </dgm:pt>
    <dgm:pt modelId="{F562D361-D920-491F-8830-680DDEDA194D}" type="pres">
      <dgm:prSet presAssocID="{6291D284-A206-4496-82F5-E1E1D42BDB19}" presName="linNode" presStyleCnt="0"/>
      <dgm:spPr/>
    </dgm:pt>
    <dgm:pt modelId="{9AF52C30-07D9-4C83-806C-0C0E6B23FFB2}" type="pres">
      <dgm:prSet presAssocID="{6291D284-A206-4496-82F5-E1E1D42BDB19}" presName="parentText" presStyleLbl="node1" presStyleIdx="1" presStyleCnt="6">
        <dgm:presLayoutVars>
          <dgm:chMax val="1"/>
          <dgm:bulletEnabled val="1"/>
        </dgm:presLayoutVars>
      </dgm:prSet>
      <dgm:spPr/>
    </dgm:pt>
    <dgm:pt modelId="{B26E1452-01F9-4F2A-84B1-842C59C1EDBA}" type="pres">
      <dgm:prSet presAssocID="{6291D284-A206-4496-82F5-E1E1D42BDB19}" presName="descendantText" presStyleLbl="alignAccFollowNode1" presStyleIdx="1" presStyleCnt="6">
        <dgm:presLayoutVars>
          <dgm:bulletEnabled val="1"/>
        </dgm:presLayoutVars>
      </dgm:prSet>
      <dgm:spPr/>
    </dgm:pt>
    <dgm:pt modelId="{0BCD572E-7330-47F1-818A-2D9114999245}" type="pres">
      <dgm:prSet presAssocID="{AC8574DA-9CCD-4F87-8A44-433FC044C1B4}" presName="sp" presStyleCnt="0"/>
      <dgm:spPr/>
    </dgm:pt>
    <dgm:pt modelId="{42D75446-09DB-46C5-AD04-711689F96D76}" type="pres">
      <dgm:prSet presAssocID="{BAD5A89F-4C80-4A9E-9A07-2D668576E16B}" presName="linNode" presStyleCnt="0"/>
      <dgm:spPr/>
    </dgm:pt>
    <dgm:pt modelId="{10E303FC-04E5-4F6F-8322-08DE88EAF362}" type="pres">
      <dgm:prSet presAssocID="{BAD5A89F-4C80-4A9E-9A07-2D668576E16B}" presName="parentText" presStyleLbl="node1" presStyleIdx="2" presStyleCnt="6">
        <dgm:presLayoutVars>
          <dgm:chMax val="1"/>
          <dgm:bulletEnabled val="1"/>
        </dgm:presLayoutVars>
      </dgm:prSet>
      <dgm:spPr/>
    </dgm:pt>
    <dgm:pt modelId="{56729F98-A7C2-4C11-82C9-5CE713F1251F}" type="pres">
      <dgm:prSet presAssocID="{BAD5A89F-4C80-4A9E-9A07-2D668576E16B}" presName="descendantText" presStyleLbl="alignAccFollowNode1" presStyleIdx="2" presStyleCnt="6">
        <dgm:presLayoutVars>
          <dgm:bulletEnabled val="1"/>
        </dgm:presLayoutVars>
      </dgm:prSet>
      <dgm:spPr/>
    </dgm:pt>
    <dgm:pt modelId="{6D62F388-5910-44D3-AA41-6A90DFFDA958}" type="pres">
      <dgm:prSet presAssocID="{BEC5E7AC-11FB-419C-92EB-996DB96E3233}" presName="sp" presStyleCnt="0"/>
      <dgm:spPr/>
    </dgm:pt>
    <dgm:pt modelId="{6630D353-6898-4D38-A4C4-07096D821E3B}" type="pres">
      <dgm:prSet presAssocID="{F98CE9C6-48F6-4499-8B68-26B36EC543D3}" presName="linNode" presStyleCnt="0"/>
      <dgm:spPr/>
    </dgm:pt>
    <dgm:pt modelId="{5FE218E4-C294-47CC-AA39-60B86A629E2E}" type="pres">
      <dgm:prSet presAssocID="{F98CE9C6-48F6-4499-8B68-26B36EC543D3}" presName="parentText" presStyleLbl="node1" presStyleIdx="3" presStyleCnt="6">
        <dgm:presLayoutVars>
          <dgm:chMax val="1"/>
          <dgm:bulletEnabled val="1"/>
        </dgm:presLayoutVars>
      </dgm:prSet>
      <dgm:spPr/>
    </dgm:pt>
    <dgm:pt modelId="{485E776A-E4AB-473B-A623-EBFDB0E4E10C}" type="pres">
      <dgm:prSet presAssocID="{F98CE9C6-48F6-4499-8B68-26B36EC543D3}" presName="descendantText" presStyleLbl="alignAccFollowNode1" presStyleIdx="3" presStyleCnt="6">
        <dgm:presLayoutVars>
          <dgm:bulletEnabled val="1"/>
        </dgm:presLayoutVars>
      </dgm:prSet>
      <dgm:spPr/>
    </dgm:pt>
    <dgm:pt modelId="{4A72729B-1FA5-464F-9616-D5B3CFE9F64B}" type="pres">
      <dgm:prSet presAssocID="{81942387-DE1E-4E6B-9567-BA2006B3B7C2}" presName="sp" presStyleCnt="0"/>
      <dgm:spPr/>
    </dgm:pt>
    <dgm:pt modelId="{C8E748E7-D072-4566-A1F6-3D36DC5CD1BC}" type="pres">
      <dgm:prSet presAssocID="{2AFE6DC0-8C8B-4215-A645-CC1CF0803FD1}" presName="linNode" presStyleCnt="0"/>
      <dgm:spPr/>
    </dgm:pt>
    <dgm:pt modelId="{EECDF362-F104-43E9-B3A0-C66F151C2304}" type="pres">
      <dgm:prSet presAssocID="{2AFE6DC0-8C8B-4215-A645-CC1CF0803FD1}" presName="parentText" presStyleLbl="node1" presStyleIdx="4" presStyleCnt="6">
        <dgm:presLayoutVars>
          <dgm:chMax val="1"/>
          <dgm:bulletEnabled val="1"/>
        </dgm:presLayoutVars>
      </dgm:prSet>
      <dgm:spPr/>
    </dgm:pt>
    <dgm:pt modelId="{1E6E55DC-B4F9-4341-B8BA-9633D8E7387A}" type="pres">
      <dgm:prSet presAssocID="{2AFE6DC0-8C8B-4215-A645-CC1CF0803FD1}" presName="descendantText" presStyleLbl="alignAccFollowNode1" presStyleIdx="4" presStyleCnt="6">
        <dgm:presLayoutVars>
          <dgm:bulletEnabled val="1"/>
        </dgm:presLayoutVars>
      </dgm:prSet>
      <dgm:spPr/>
    </dgm:pt>
    <dgm:pt modelId="{9E23B0ED-0BED-48EB-BD36-F2E454E519C6}" type="pres">
      <dgm:prSet presAssocID="{7B278396-C6BF-4FE8-B738-E95E25AB2714}" presName="sp" presStyleCnt="0"/>
      <dgm:spPr/>
    </dgm:pt>
    <dgm:pt modelId="{A897A423-2017-4454-BA30-F03BDC67BBB5}" type="pres">
      <dgm:prSet presAssocID="{3DB7AF84-289D-4064-AA2D-37923AA55671}" presName="linNode" presStyleCnt="0"/>
      <dgm:spPr/>
    </dgm:pt>
    <dgm:pt modelId="{CD20C397-FD8B-4751-B2C9-1612B340E446}" type="pres">
      <dgm:prSet presAssocID="{3DB7AF84-289D-4064-AA2D-37923AA55671}" presName="parentText" presStyleLbl="node1" presStyleIdx="5" presStyleCnt="6">
        <dgm:presLayoutVars>
          <dgm:chMax val="1"/>
          <dgm:bulletEnabled val="1"/>
        </dgm:presLayoutVars>
      </dgm:prSet>
      <dgm:spPr/>
    </dgm:pt>
    <dgm:pt modelId="{71E2FB23-5F3C-46F1-B0B2-10BF2EC50626}" type="pres">
      <dgm:prSet presAssocID="{3DB7AF84-289D-4064-AA2D-37923AA55671}" presName="descendantText" presStyleLbl="alignAccFollowNode1" presStyleIdx="5" presStyleCnt="6">
        <dgm:presLayoutVars>
          <dgm:bulletEnabled val="1"/>
        </dgm:presLayoutVars>
      </dgm:prSet>
      <dgm:spPr/>
    </dgm:pt>
  </dgm:ptLst>
  <dgm:cxnLst>
    <dgm:cxn modelId="{B55A7E01-F09C-4E76-AEC3-EBABDECE6ED7}" srcId="{BAD5A89F-4C80-4A9E-9A07-2D668576E16B}" destId="{BE66CCBE-72FF-40DE-AD12-AE2EB1F2A0FB}" srcOrd="1" destOrd="0" parTransId="{E07C41EE-DDF6-4FBA-B8AB-87E89A712073}" sibTransId="{4CF272A6-5E9D-4169-8ED9-9C132F9CD40E}"/>
    <dgm:cxn modelId="{F26B5604-DFA4-4943-8455-5292DAFE9D5A}" srcId="{F98CE9C6-48F6-4499-8B68-26B36EC543D3}" destId="{2FB33A0D-5283-4C0A-9BCE-CDF799D21375}" srcOrd="0" destOrd="0" parTransId="{82056EC8-18ED-4A7B-862D-A1BC83D6954B}" sibTransId="{9087DC93-62E8-4B31-85E0-0F40750BF5E4}"/>
    <dgm:cxn modelId="{CA4D5813-184C-4DBF-98BA-F4B69A688FC4}" type="presOf" srcId="{55BF9F70-C6A2-49F0-BB8C-8B75C5D989AD}" destId="{1E6E55DC-B4F9-4341-B8BA-9633D8E7387A}" srcOrd="0" destOrd="1" presId="urn:microsoft.com/office/officeart/2005/8/layout/vList5"/>
    <dgm:cxn modelId="{586EBC13-DCB1-4EB2-B311-7CE2B76839AC}" type="presOf" srcId="{7909802C-5DF8-4D05-9049-F0F3EE1AB4B0}" destId="{56729F98-A7C2-4C11-82C9-5CE713F1251F}" srcOrd="0" destOrd="0" presId="urn:microsoft.com/office/officeart/2005/8/layout/vList5"/>
    <dgm:cxn modelId="{F54AD115-C93E-43C8-871D-C81E9127DD08}" srcId="{82D2DAD8-42F4-433A-ACFE-8B2578F01FDE}" destId="{7DC1BF32-183E-424C-AB79-6836914D199C}" srcOrd="0" destOrd="0" parTransId="{7E9DF4F6-276F-484E-BE3A-6B7A46DC6834}" sibTransId="{7AD49D72-0547-4F36-B5C4-62029FB3130A}"/>
    <dgm:cxn modelId="{6F1CC02B-BB31-4CDE-9B75-0CA0780DBC89}" type="presOf" srcId="{F98CE9C6-48F6-4499-8B68-26B36EC543D3}" destId="{5FE218E4-C294-47CC-AA39-60B86A629E2E}" srcOrd="0" destOrd="0" presId="urn:microsoft.com/office/officeart/2005/8/layout/vList5"/>
    <dgm:cxn modelId="{7604AF30-9E98-472F-996E-377A08889980}" srcId="{2AFE6DC0-8C8B-4215-A645-CC1CF0803FD1}" destId="{43D964F8-1685-44B2-964E-9E3216FB6D12}" srcOrd="0" destOrd="0" parTransId="{CE738CA3-D365-4B6F-9DAF-4065B4A40B25}" sibTransId="{95519A14-0DE5-4DCF-B552-C487C3513B54}"/>
    <dgm:cxn modelId="{C623A431-67D2-49DD-9BEC-8588C03BB669}" type="presOf" srcId="{3DB7AF84-289D-4064-AA2D-37923AA55671}" destId="{CD20C397-FD8B-4751-B2C9-1612B340E446}" srcOrd="0" destOrd="0" presId="urn:microsoft.com/office/officeart/2005/8/layout/vList5"/>
    <dgm:cxn modelId="{5AA3F333-2104-4FE6-B28D-25FBA231BBFF}" srcId="{3DB7AF84-289D-4064-AA2D-37923AA55671}" destId="{4391E6E0-6F41-41C2-88C2-B0C98FEA836E}" srcOrd="0" destOrd="0" parTransId="{629A7460-9135-4303-B034-C9711C51DB4B}" sibTransId="{CC2DE7E7-3986-4945-993D-27F977095BDA}"/>
    <dgm:cxn modelId="{68B8CA34-6021-4C2D-B921-A04E74310457}" srcId="{3DB7AF84-289D-4064-AA2D-37923AA55671}" destId="{275C31C8-E047-4111-96C7-77F1DCA1A792}" srcOrd="1" destOrd="0" parTransId="{1CE7583A-4C03-4D40-8685-D290B42380D9}" sibTransId="{D9C1F9FB-9E83-49EC-BC0D-5E8D3F991A8F}"/>
    <dgm:cxn modelId="{B193CB36-806D-4753-822D-644F5C2100FF}" srcId="{6291D284-A206-4496-82F5-E1E1D42BDB19}" destId="{01CE8728-A4B0-4D7E-8874-7FC6756925B9}" srcOrd="1" destOrd="0" parTransId="{77AF9593-35DC-462D-982C-DD0ED19A780B}" sibTransId="{35CF3C4C-0354-481D-B3DB-6B6014CF61DB}"/>
    <dgm:cxn modelId="{EDE2D03D-C37E-475D-AD93-33A7247D6444}" srcId="{75D96506-60DB-428A-B53C-61F66EEA8315}" destId="{BAD5A89F-4C80-4A9E-9A07-2D668576E16B}" srcOrd="2" destOrd="0" parTransId="{990271B2-513E-4E73-808B-CB6AF416E680}" sibTransId="{BEC5E7AC-11FB-419C-92EB-996DB96E3233}"/>
    <dgm:cxn modelId="{22508862-E5CE-49CD-B031-341744143299}" type="presOf" srcId="{82D2DAD8-42F4-433A-ACFE-8B2578F01FDE}" destId="{90D2D753-BCF1-4BBE-9024-7B5FCC79EC61}" srcOrd="0" destOrd="0" presId="urn:microsoft.com/office/officeart/2005/8/layout/vList5"/>
    <dgm:cxn modelId="{0B65AB43-BDB0-4E93-AA47-117089986F44}" type="presOf" srcId="{B6A0BD60-2314-42BF-86BC-CFA994C216D7}" destId="{522EFCAF-9506-4F30-BE65-D293A210999D}" srcOrd="0" destOrd="1" presId="urn:microsoft.com/office/officeart/2005/8/layout/vList5"/>
    <dgm:cxn modelId="{F01AE04C-A300-4603-8CD7-08C381531810}" type="presOf" srcId="{BD6F5985-E57C-488B-BFFC-A4608483FF2D}" destId="{B26E1452-01F9-4F2A-84B1-842C59C1EDBA}" srcOrd="0" destOrd="0" presId="urn:microsoft.com/office/officeart/2005/8/layout/vList5"/>
    <dgm:cxn modelId="{FAE93075-BF1C-41E1-BA61-FE6BF62605ED}" type="presOf" srcId="{75D96506-60DB-428A-B53C-61F66EEA8315}" destId="{6F1F0B85-01E0-45A3-9485-CA5B794CEEBB}" srcOrd="0" destOrd="0" presId="urn:microsoft.com/office/officeart/2005/8/layout/vList5"/>
    <dgm:cxn modelId="{09891F57-4800-467B-8D35-E29AE76846B1}" type="presOf" srcId="{4391E6E0-6F41-41C2-88C2-B0C98FEA836E}" destId="{71E2FB23-5F3C-46F1-B0B2-10BF2EC50626}" srcOrd="0" destOrd="0" presId="urn:microsoft.com/office/officeart/2005/8/layout/vList5"/>
    <dgm:cxn modelId="{2846A47A-937E-46D5-A0BF-EE558BA3D959}" type="presOf" srcId="{01CE8728-A4B0-4D7E-8874-7FC6756925B9}" destId="{B26E1452-01F9-4F2A-84B1-842C59C1EDBA}" srcOrd="0" destOrd="1" presId="urn:microsoft.com/office/officeart/2005/8/layout/vList5"/>
    <dgm:cxn modelId="{0B97A97D-0391-4698-819B-2B65C04DAFD3}" type="presOf" srcId="{2AFE6DC0-8C8B-4215-A645-CC1CF0803FD1}" destId="{EECDF362-F104-43E9-B3A0-C66F151C2304}" srcOrd="0" destOrd="0" presId="urn:microsoft.com/office/officeart/2005/8/layout/vList5"/>
    <dgm:cxn modelId="{1E9A5986-BF22-490F-9867-50D35CA93F36}" srcId="{BAD5A89F-4C80-4A9E-9A07-2D668576E16B}" destId="{7909802C-5DF8-4D05-9049-F0F3EE1AB4B0}" srcOrd="0" destOrd="0" parTransId="{2A31AC6F-B422-4312-B91F-BA5D63E8A344}" sibTransId="{2853E794-0ED5-44A5-9A7C-DA2DDC38AE2B}"/>
    <dgm:cxn modelId="{696DC289-BE7C-48F5-892D-F96F5E926ECD}" srcId="{75D96506-60DB-428A-B53C-61F66EEA8315}" destId="{6291D284-A206-4496-82F5-E1E1D42BDB19}" srcOrd="1" destOrd="0" parTransId="{FE26BE16-7BD8-420D-9CFA-F1079CECAFD6}" sibTransId="{AC8574DA-9CCD-4F87-8A44-433FC044C1B4}"/>
    <dgm:cxn modelId="{08CFB88E-9FB3-43B6-B54B-89142A6FBFC6}" type="presOf" srcId="{7DC1BF32-183E-424C-AB79-6836914D199C}" destId="{522EFCAF-9506-4F30-BE65-D293A210999D}" srcOrd="0" destOrd="0" presId="urn:microsoft.com/office/officeart/2005/8/layout/vList5"/>
    <dgm:cxn modelId="{32F61192-CC20-4939-9E9F-005FF9C937BB}" srcId="{75D96506-60DB-428A-B53C-61F66EEA8315}" destId="{3DB7AF84-289D-4064-AA2D-37923AA55671}" srcOrd="5" destOrd="0" parTransId="{9844D044-E565-4243-AD01-AF0E2DE68184}" sibTransId="{22B1F5BE-E4DB-4AE1-8341-3D8D49B2FBA7}"/>
    <dgm:cxn modelId="{88D36A93-0165-440B-8244-B7BDCBBB3BD8}" srcId="{75D96506-60DB-428A-B53C-61F66EEA8315}" destId="{2AFE6DC0-8C8B-4215-A645-CC1CF0803FD1}" srcOrd="4" destOrd="0" parTransId="{7ECC9FDC-0CEA-454B-ADED-0AB9CEC7A1E6}" sibTransId="{7B278396-C6BF-4FE8-B738-E95E25AB2714}"/>
    <dgm:cxn modelId="{82BAA6BE-4DA0-47E1-8BA6-F85EBB1A5B5F}" srcId="{75D96506-60DB-428A-B53C-61F66EEA8315}" destId="{82D2DAD8-42F4-433A-ACFE-8B2578F01FDE}" srcOrd="0" destOrd="0" parTransId="{7AFE58CD-214D-4021-9558-A5322E2094EE}" sibTransId="{FF2C89B1-6485-40B6-8E42-417494A9F30D}"/>
    <dgm:cxn modelId="{3443E7BE-1BAD-4174-B0C6-CB3E01C17B72}" type="presOf" srcId="{2FB33A0D-5283-4C0A-9BCE-CDF799D21375}" destId="{485E776A-E4AB-473B-A623-EBFDB0E4E10C}" srcOrd="0" destOrd="0" presId="urn:microsoft.com/office/officeart/2005/8/layout/vList5"/>
    <dgm:cxn modelId="{A97D78D4-8003-4477-8AC2-19BD8D55BB18}" srcId="{F98CE9C6-48F6-4499-8B68-26B36EC543D3}" destId="{A85882A7-EA10-4F9B-B5A7-A51D907EA7AE}" srcOrd="1" destOrd="0" parTransId="{3CB22E9E-F26B-4B8F-8209-CF997B32CD14}" sibTransId="{D7554E79-8D2F-4543-8C79-A7FC8E1CCA47}"/>
    <dgm:cxn modelId="{BB3F57D9-BC08-478C-A9C7-3E8CC0D2BB2C}" srcId="{6291D284-A206-4496-82F5-E1E1D42BDB19}" destId="{BD6F5985-E57C-488B-BFFC-A4608483FF2D}" srcOrd="0" destOrd="0" parTransId="{4AD06A63-C47B-4A11-9E71-EABC00E5F833}" sibTransId="{5903202D-C9D7-4D49-B20F-36B64A3071C7}"/>
    <dgm:cxn modelId="{8D02B8DA-483C-4999-B932-A455925AE054}" type="presOf" srcId="{43D964F8-1685-44B2-964E-9E3216FB6D12}" destId="{1E6E55DC-B4F9-4341-B8BA-9633D8E7387A}" srcOrd="0" destOrd="0" presId="urn:microsoft.com/office/officeart/2005/8/layout/vList5"/>
    <dgm:cxn modelId="{E09115E0-2AE0-4EC9-A7AD-F9705FB0BD08}" type="presOf" srcId="{BE66CCBE-72FF-40DE-AD12-AE2EB1F2A0FB}" destId="{56729F98-A7C2-4C11-82C9-5CE713F1251F}" srcOrd="0" destOrd="1" presId="urn:microsoft.com/office/officeart/2005/8/layout/vList5"/>
    <dgm:cxn modelId="{85A3D0E0-0416-43A2-8957-5C398073BBAC}" type="presOf" srcId="{BAD5A89F-4C80-4A9E-9A07-2D668576E16B}" destId="{10E303FC-04E5-4F6F-8322-08DE88EAF362}" srcOrd="0" destOrd="0" presId="urn:microsoft.com/office/officeart/2005/8/layout/vList5"/>
    <dgm:cxn modelId="{B7377CE4-0F9A-4737-8586-967ED8C3C193}" srcId="{82D2DAD8-42F4-433A-ACFE-8B2578F01FDE}" destId="{B6A0BD60-2314-42BF-86BC-CFA994C216D7}" srcOrd="1" destOrd="0" parTransId="{31664035-9AEC-48B0-8A2A-EC67CE9A3F48}" sibTransId="{F7EAAC1B-914F-4273-A5DE-37B78FAE7448}"/>
    <dgm:cxn modelId="{3DEBB0E5-E635-409C-9975-D1A58FC3D6EB}" type="presOf" srcId="{A85882A7-EA10-4F9B-B5A7-A51D907EA7AE}" destId="{485E776A-E4AB-473B-A623-EBFDB0E4E10C}" srcOrd="0" destOrd="1" presId="urn:microsoft.com/office/officeart/2005/8/layout/vList5"/>
    <dgm:cxn modelId="{FCCB4DE7-6341-4220-9F5D-35F3A1EA1503}" type="presOf" srcId="{275C31C8-E047-4111-96C7-77F1DCA1A792}" destId="{71E2FB23-5F3C-46F1-B0B2-10BF2EC50626}" srcOrd="0" destOrd="1" presId="urn:microsoft.com/office/officeart/2005/8/layout/vList5"/>
    <dgm:cxn modelId="{974E27E9-134B-4BED-BD4A-E9BF75E4AB57}" type="presOf" srcId="{6291D284-A206-4496-82F5-E1E1D42BDB19}" destId="{9AF52C30-07D9-4C83-806C-0C0E6B23FFB2}" srcOrd="0" destOrd="0" presId="urn:microsoft.com/office/officeart/2005/8/layout/vList5"/>
    <dgm:cxn modelId="{CDA29CED-4E1F-46AE-AEDE-6C53221DD433}" srcId="{2AFE6DC0-8C8B-4215-A645-CC1CF0803FD1}" destId="{55BF9F70-C6A2-49F0-BB8C-8B75C5D989AD}" srcOrd="1" destOrd="0" parTransId="{FB1ADAD0-6F8A-432B-B89D-8E602E7129C8}" sibTransId="{749C0755-CBAC-422B-9046-9D340C75775D}"/>
    <dgm:cxn modelId="{1F4BD7F4-D87B-4885-AF27-E0F552C4EE6E}" srcId="{75D96506-60DB-428A-B53C-61F66EEA8315}" destId="{F98CE9C6-48F6-4499-8B68-26B36EC543D3}" srcOrd="3" destOrd="0" parTransId="{F263EE0E-ED92-4CA7-8AB1-313678C6DD25}" sibTransId="{81942387-DE1E-4E6B-9567-BA2006B3B7C2}"/>
    <dgm:cxn modelId="{0DE4F65F-C67B-47BD-937A-8E0F13D1D3B3}" type="presParOf" srcId="{6F1F0B85-01E0-45A3-9485-CA5B794CEEBB}" destId="{582B42D7-B93E-4C8C-ACA8-B9EC26C9CF09}" srcOrd="0" destOrd="0" presId="urn:microsoft.com/office/officeart/2005/8/layout/vList5"/>
    <dgm:cxn modelId="{064B2C97-5171-4673-BA72-DA7DE21BF488}" type="presParOf" srcId="{582B42D7-B93E-4C8C-ACA8-B9EC26C9CF09}" destId="{90D2D753-BCF1-4BBE-9024-7B5FCC79EC61}" srcOrd="0" destOrd="0" presId="urn:microsoft.com/office/officeart/2005/8/layout/vList5"/>
    <dgm:cxn modelId="{CEA14AC0-EA9D-4B66-9BA5-7F89636A0EC5}" type="presParOf" srcId="{582B42D7-B93E-4C8C-ACA8-B9EC26C9CF09}" destId="{522EFCAF-9506-4F30-BE65-D293A210999D}" srcOrd="1" destOrd="0" presId="urn:microsoft.com/office/officeart/2005/8/layout/vList5"/>
    <dgm:cxn modelId="{429061D3-9D49-4A04-9AB2-D6383F1E99EA}" type="presParOf" srcId="{6F1F0B85-01E0-45A3-9485-CA5B794CEEBB}" destId="{504B958B-6553-4D4D-A1D5-9525A286E1BA}" srcOrd="1" destOrd="0" presId="urn:microsoft.com/office/officeart/2005/8/layout/vList5"/>
    <dgm:cxn modelId="{6914ED18-C517-446A-930F-6402A513DE97}" type="presParOf" srcId="{6F1F0B85-01E0-45A3-9485-CA5B794CEEBB}" destId="{F562D361-D920-491F-8830-680DDEDA194D}" srcOrd="2" destOrd="0" presId="urn:microsoft.com/office/officeart/2005/8/layout/vList5"/>
    <dgm:cxn modelId="{FF250D46-1BF6-43A2-8F08-D819FF510C36}" type="presParOf" srcId="{F562D361-D920-491F-8830-680DDEDA194D}" destId="{9AF52C30-07D9-4C83-806C-0C0E6B23FFB2}" srcOrd="0" destOrd="0" presId="urn:microsoft.com/office/officeart/2005/8/layout/vList5"/>
    <dgm:cxn modelId="{69A4E1C6-0C48-45B3-B424-1A33723AB282}" type="presParOf" srcId="{F562D361-D920-491F-8830-680DDEDA194D}" destId="{B26E1452-01F9-4F2A-84B1-842C59C1EDBA}" srcOrd="1" destOrd="0" presId="urn:microsoft.com/office/officeart/2005/8/layout/vList5"/>
    <dgm:cxn modelId="{EFCF3EC2-A80B-45B9-AEAF-608ED650B5A2}" type="presParOf" srcId="{6F1F0B85-01E0-45A3-9485-CA5B794CEEBB}" destId="{0BCD572E-7330-47F1-818A-2D9114999245}" srcOrd="3" destOrd="0" presId="urn:microsoft.com/office/officeart/2005/8/layout/vList5"/>
    <dgm:cxn modelId="{237029FA-2186-47F3-AEAE-CE87610A36FF}" type="presParOf" srcId="{6F1F0B85-01E0-45A3-9485-CA5B794CEEBB}" destId="{42D75446-09DB-46C5-AD04-711689F96D76}" srcOrd="4" destOrd="0" presId="urn:microsoft.com/office/officeart/2005/8/layout/vList5"/>
    <dgm:cxn modelId="{9AA5C19E-0D70-43B9-B931-3DA7BBE2D49E}" type="presParOf" srcId="{42D75446-09DB-46C5-AD04-711689F96D76}" destId="{10E303FC-04E5-4F6F-8322-08DE88EAF362}" srcOrd="0" destOrd="0" presId="urn:microsoft.com/office/officeart/2005/8/layout/vList5"/>
    <dgm:cxn modelId="{7E42C8FB-7908-4CB7-BD3E-C297C73FF012}" type="presParOf" srcId="{42D75446-09DB-46C5-AD04-711689F96D76}" destId="{56729F98-A7C2-4C11-82C9-5CE713F1251F}" srcOrd="1" destOrd="0" presId="urn:microsoft.com/office/officeart/2005/8/layout/vList5"/>
    <dgm:cxn modelId="{BA4AA70E-7EE7-4F34-8F00-E35D6B05A9F2}" type="presParOf" srcId="{6F1F0B85-01E0-45A3-9485-CA5B794CEEBB}" destId="{6D62F388-5910-44D3-AA41-6A90DFFDA958}" srcOrd="5" destOrd="0" presId="urn:microsoft.com/office/officeart/2005/8/layout/vList5"/>
    <dgm:cxn modelId="{6E6016B0-52C5-40CD-8900-6AD305D70A15}" type="presParOf" srcId="{6F1F0B85-01E0-45A3-9485-CA5B794CEEBB}" destId="{6630D353-6898-4D38-A4C4-07096D821E3B}" srcOrd="6" destOrd="0" presId="urn:microsoft.com/office/officeart/2005/8/layout/vList5"/>
    <dgm:cxn modelId="{EA448AB8-3F49-4EE7-8E2E-7A76B44DE2BA}" type="presParOf" srcId="{6630D353-6898-4D38-A4C4-07096D821E3B}" destId="{5FE218E4-C294-47CC-AA39-60B86A629E2E}" srcOrd="0" destOrd="0" presId="urn:microsoft.com/office/officeart/2005/8/layout/vList5"/>
    <dgm:cxn modelId="{33856657-6E48-440D-B3DA-676DD74ED5B0}" type="presParOf" srcId="{6630D353-6898-4D38-A4C4-07096D821E3B}" destId="{485E776A-E4AB-473B-A623-EBFDB0E4E10C}" srcOrd="1" destOrd="0" presId="urn:microsoft.com/office/officeart/2005/8/layout/vList5"/>
    <dgm:cxn modelId="{1C1D81AA-004A-4943-B0FC-99CEE539D766}" type="presParOf" srcId="{6F1F0B85-01E0-45A3-9485-CA5B794CEEBB}" destId="{4A72729B-1FA5-464F-9616-D5B3CFE9F64B}" srcOrd="7" destOrd="0" presId="urn:microsoft.com/office/officeart/2005/8/layout/vList5"/>
    <dgm:cxn modelId="{C1FB6701-266A-4304-B565-E53DCA119371}" type="presParOf" srcId="{6F1F0B85-01E0-45A3-9485-CA5B794CEEBB}" destId="{C8E748E7-D072-4566-A1F6-3D36DC5CD1BC}" srcOrd="8" destOrd="0" presId="urn:microsoft.com/office/officeart/2005/8/layout/vList5"/>
    <dgm:cxn modelId="{7EBEA3C8-0AF7-48BC-B1D4-0A536D267474}" type="presParOf" srcId="{C8E748E7-D072-4566-A1F6-3D36DC5CD1BC}" destId="{EECDF362-F104-43E9-B3A0-C66F151C2304}" srcOrd="0" destOrd="0" presId="urn:microsoft.com/office/officeart/2005/8/layout/vList5"/>
    <dgm:cxn modelId="{D301C0EE-33E3-4C93-844B-3F960C69D67E}" type="presParOf" srcId="{C8E748E7-D072-4566-A1F6-3D36DC5CD1BC}" destId="{1E6E55DC-B4F9-4341-B8BA-9633D8E7387A}" srcOrd="1" destOrd="0" presId="urn:microsoft.com/office/officeart/2005/8/layout/vList5"/>
    <dgm:cxn modelId="{FED31288-1ED1-4DCB-A8A2-9F24881045CF}" type="presParOf" srcId="{6F1F0B85-01E0-45A3-9485-CA5B794CEEBB}" destId="{9E23B0ED-0BED-48EB-BD36-F2E454E519C6}" srcOrd="9" destOrd="0" presId="urn:microsoft.com/office/officeart/2005/8/layout/vList5"/>
    <dgm:cxn modelId="{E147A378-9A84-4691-A538-D7792362F6C8}" type="presParOf" srcId="{6F1F0B85-01E0-45A3-9485-CA5B794CEEBB}" destId="{A897A423-2017-4454-BA30-F03BDC67BBB5}" srcOrd="10" destOrd="0" presId="urn:microsoft.com/office/officeart/2005/8/layout/vList5"/>
    <dgm:cxn modelId="{E40C0F5E-C47D-40CE-8CD0-4AEB79F2E864}" type="presParOf" srcId="{A897A423-2017-4454-BA30-F03BDC67BBB5}" destId="{CD20C397-FD8B-4751-B2C9-1612B340E446}" srcOrd="0" destOrd="0" presId="urn:microsoft.com/office/officeart/2005/8/layout/vList5"/>
    <dgm:cxn modelId="{29C546F6-135F-421A-B896-E1AA910126BF}" type="presParOf" srcId="{A897A423-2017-4454-BA30-F03BDC67BBB5}" destId="{71E2FB23-5F3C-46F1-B0B2-10BF2EC5062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2269C-473B-4581-93AF-AD006B94C36C}">
      <dsp:nvSpPr>
        <dsp:cNvPr id="0" name=""/>
        <dsp:cNvSpPr/>
      </dsp:nvSpPr>
      <dsp:spPr>
        <a:xfrm>
          <a:off x="0" y="58563"/>
          <a:ext cx="11029950" cy="638819"/>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1- Présentation du projet et des données</a:t>
          </a:r>
        </a:p>
      </dsp:txBody>
      <dsp:txXfrm>
        <a:off x="31185" y="89748"/>
        <a:ext cx="10967580" cy="576449"/>
      </dsp:txXfrm>
    </dsp:sp>
    <dsp:sp modelId="{90650EEF-1F9D-463E-A867-D4AB9F2E38B6}">
      <dsp:nvSpPr>
        <dsp:cNvPr id="0" name=""/>
        <dsp:cNvSpPr/>
      </dsp:nvSpPr>
      <dsp:spPr>
        <a:xfrm>
          <a:off x="0" y="778023"/>
          <a:ext cx="11029950" cy="638819"/>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b="0" kern="1200" dirty="0"/>
            <a:t>2- Méthodologie de nettoyage et de réduction</a:t>
          </a:r>
        </a:p>
      </dsp:txBody>
      <dsp:txXfrm>
        <a:off x="31185" y="809208"/>
        <a:ext cx="10967580" cy="576449"/>
      </dsp:txXfrm>
    </dsp:sp>
    <dsp:sp modelId="{C0F2F60F-49A7-486C-BA84-7742A146D8C7}">
      <dsp:nvSpPr>
        <dsp:cNvPr id="0" name=""/>
        <dsp:cNvSpPr/>
      </dsp:nvSpPr>
      <dsp:spPr>
        <a:xfrm>
          <a:off x="0" y="1497483"/>
          <a:ext cx="11029950" cy="638819"/>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3- Sélection des indicateurs pertinents</a:t>
          </a:r>
        </a:p>
      </dsp:txBody>
      <dsp:txXfrm>
        <a:off x="31185" y="1528668"/>
        <a:ext cx="10967580" cy="576449"/>
      </dsp:txXfrm>
    </dsp:sp>
    <dsp:sp modelId="{188E501D-B60D-4714-8E70-1CD5D6D0CD0B}">
      <dsp:nvSpPr>
        <dsp:cNvPr id="0" name=""/>
        <dsp:cNvSpPr/>
      </dsp:nvSpPr>
      <dsp:spPr>
        <a:xfrm>
          <a:off x="0" y="2216943"/>
          <a:ext cx="11029950" cy="638819"/>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4- Analyse statistique des indicateurs</a:t>
          </a:r>
        </a:p>
      </dsp:txBody>
      <dsp:txXfrm>
        <a:off x="31185" y="2248128"/>
        <a:ext cx="10967580" cy="576449"/>
      </dsp:txXfrm>
    </dsp:sp>
    <dsp:sp modelId="{DF10A574-F3D9-4FC2-A6EE-E7E8311CF638}">
      <dsp:nvSpPr>
        <dsp:cNvPr id="0" name=""/>
        <dsp:cNvSpPr/>
      </dsp:nvSpPr>
      <dsp:spPr>
        <a:xfrm>
          <a:off x="0" y="2936403"/>
          <a:ext cx="11029950" cy="638819"/>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dirty="0"/>
            <a:t>5- Conclusions et recommandations stratégiques</a:t>
          </a:r>
        </a:p>
      </dsp:txBody>
      <dsp:txXfrm>
        <a:off x="31185" y="2967588"/>
        <a:ext cx="10967580" cy="5764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568DFC-BFF5-42F5-B926-6FB2DD32B29F}">
      <dsp:nvSpPr>
        <dsp:cNvPr id="0" name=""/>
        <dsp:cNvSpPr/>
      </dsp:nvSpPr>
      <dsp:spPr>
        <a:xfrm>
          <a:off x="3446" y="3070"/>
          <a:ext cx="3360687" cy="1152000"/>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fr-FR" sz="4000" b="1" kern="1200" dirty="0" err="1"/>
            <a:t>Academy</a:t>
          </a:r>
          <a:endParaRPr lang="fr-FR" sz="4000" b="1" kern="1200" dirty="0"/>
        </a:p>
      </dsp:txBody>
      <dsp:txXfrm>
        <a:off x="3446" y="3070"/>
        <a:ext cx="3360687" cy="1152000"/>
      </dsp:txXfrm>
    </dsp:sp>
    <dsp:sp modelId="{F994588D-5BEE-4E30-9E0A-7C087B5E4B34}">
      <dsp:nvSpPr>
        <dsp:cNvPr id="0" name=""/>
        <dsp:cNvSpPr/>
      </dsp:nvSpPr>
      <dsp:spPr>
        <a:xfrm>
          <a:off x="3446" y="1155070"/>
          <a:ext cx="3360687" cy="2475646"/>
        </a:xfrm>
        <a:prstGeom prst="rect">
          <a:avLst/>
        </a:prstGeom>
        <a:solidFill>
          <a:schemeClr val="accent2">
            <a:tint val="40000"/>
            <a:alpha val="90000"/>
            <a:hueOff val="0"/>
            <a:satOff val="0"/>
            <a:lumOff val="0"/>
            <a:alphaOff val="0"/>
          </a:schemeClr>
        </a:solidFill>
        <a:ln w="2222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ctr" anchorCtr="1">
          <a:noAutofit/>
        </a:bodyPr>
        <a:lstStyle/>
        <a:p>
          <a:pPr marL="228600" lvl="1" indent="-228600" algn="l" defTabSz="1022350">
            <a:lnSpc>
              <a:spcPct val="90000"/>
            </a:lnSpc>
            <a:spcBef>
              <a:spcPct val="0"/>
            </a:spcBef>
            <a:spcAft>
              <a:spcPct val="15000"/>
            </a:spcAft>
            <a:buNone/>
          </a:pPr>
          <a:r>
            <a:rPr lang="fr-FR" sz="2300" kern="1200" dirty="0"/>
            <a:t>Start-up </a:t>
          </a:r>
          <a:r>
            <a:rPr lang="fr-FR" sz="2300" kern="1200" dirty="0" err="1"/>
            <a:t>EdTech</a:t>
          </a:r>
          <a:r>
            <a:rPr lang="fr-FR" sz="2300" kern="1200" dirty="0"/>
            <a:t> qui propose des </a:t>
          </a:r>
          <a:r>
            <a:rPr lang="fr-FR" sz="2300" b="0" i="0" kern="1200" dirty="0"/>
            <a:t>contenus de formation en ligne pour un public de niveau lycée et université</a:t>
          </a:r>
          <a:endParaRPr lang="fr-FR" sz="2300" kern="1200" dirty="0"/>
        </a:p>
      </dsp:txBody>
      <dsp:txXfrm>
        <a:off x="3446" y="1155070"/>
        <a:ext cx="3360687" cy="2475646"/>
      </dsp:txXfrm>
    </dsp:sp>
    <dsp:sp modelId="{668FFE2D-28FD-48CD-85D3-0BF7C1DF3C7E}">
      <dsp:nvSpPr>
        <dsp:cNvPr id="0" name=""/>
        <dsp:cNvSpPr/>
      </dsp:nvSpPr>
      <dsp:spPr>
        <a:xfrm>
          <a:off x="3834631" y="3070"/>
          <a:ext cx="3360687" cy="1152000"/>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fr-FR" sz="4000" b="1" kern="1200" dirty="0"/>
            <a:t>Le projet</a:t>
          </a:r>
        </a:p>
      </dsp:txBody>
      <dsp:txXfrm>
        <a:off x="3834631" y="3070"/>
        <a:ext cx="3360687" cy="1152000"/>
      </dsp:txXfrm>
    </dsp:sp>
    <dsp:sp modelId="{70E9EF1B-11CC-4A82-A139-11C669FFBADD}">
      <dsp:nvSpPr>
        <dsp:cNvPr id="0" name=""/>
        <dsp:cNvSpPr/>
      </dsp:nvSpPr>
      <dsp:spPr>
        <a:xfrm>
          <a:off x="3834631" y="1155070"/>
          <a:ext cx="3360687" cy="2475646"/>
        </a:xfrm>
        <a:prstGeom prst="rect">
          <a:avLst/>
        </a:prstGeom>
        <a:solidFill>
          <a:schemeClr val="accent3">
            <a:tint val="40000"/>
            <a:alpha val="90000"/>
            <a:hueOff val="0"/>
            <a:satOff val="0"/>
            <a:lumOff val="0"/>
            <a:alphaOff val="0"/>
          </a:schemeClr>
        </a:solidFill>
        <a:ln w="22225"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ctr" anchorCtr="0">
          <a:noAutofit/>
        </a:bodyPr>
        <a:lstStyle/>
        <a:p>
          <a:pPr marL="228600" lvl="1" indent="-228600" algn="l" defTabSz="1022350">
            <a:lnSpc>
              <a:spcPct val="90000"/>
            </a:lnSpc>
            <a:spcBef>
              <a:spcPct val="0"/>
            </a:spcBef>
            <a:spcAft>
              <a:spcPct val="15000"/>
            </a:spcAft>
            <a:buNone/>
          </a:pPr>
          <a:r>
            <a:rPr lang="en-US" sz="2300" kern="1200" dirty="0">
              <a:solidFill>
                <a:prstClr val="black">
                  <a:hueOff val="0"/>
                  <a:satOff val="0"/>
                  <a:lumOff val="0"/>
                  <a:alphaOff val="0"/>
                </a:prstClr>
              </a:solidFill>
              <a:latin typeface="Franklin Gothic Book" panose="020B0502020104020203"/>
              <a:ea typeface="+mn-ea"/>
              <a:cs typeface="+mn-cs"/>
            </a:rPr>
            <a:t>Expansion </a:t>
          </a:r>
          <a:r>
            <a:rPr lang="en-US" sz="2300" kern="1200" dirty="0" err="1">
              <a:solidFill>
                <a:prstClr val="black">
                  <a:hueOff val="0"/>
                  <a:satOff val="0"/>
                  <a:lumOff val="0"/>
                  <a:alphaOff val="0"/>
                </a:prstClr>
              </a:solidFill>
              <a:latin typeface="Franklin Gothic Book" panose="020B0502020104020203"/>
              <a:ea typeface="+mn-ea"/>
              <a:cs typeface="+mn-cs"/>
            </a:rPr>
            <a:t>internationale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d’Academy</a:t>
          </a:r>
          <a:endParaRPr lang="fr-FR" sz="2300" kern="1200" dirty="0">
            <a:solidFill>
              <a:prstClr val="black">
                <a:hueOff val="0"/>
                <a:satOff val="0"/>
                <a:lumOff val="0"/>
                <a:alphaOff val="0"/>
              </a:prstClr>
            </a:solidFill>
            <a:latin typeface="Franklin Gothic Book" panose="020B0502020104020203"/>
            <a:ea typeface="+mn-ea"/>
            <a:cs typeface="+mn-cs"/>
          </a:endParaRPr>
        </a:p>
        <a:p>
          <a:pPr marL="228600" lvl="1" indent="-228600" algn="l" defTabSz="1022350">
            <a:lnSpc>
              <a:spcPct val="90000"/>
            </a:lnSpc>
            <a:spcBef>
              <a:spcPct val="0"/>
            </a:spcBef>
            <a:spcAft>
              <a:spcPct val="15000"/>
            </a:spcAft>
            <a:buNone/>
          </a:pPr>
          <a:r>
            <a:rPr lang="en-US" sz="2300" kern="1200" dirty="0">
              <a:solidFill>
                <a:prstClr val="black">
                  <a:hueOff val="0"/>
                  <a:satOff val="0"/>
                  <a:lumOff val="0"/>
                  <a:alphaOff val="0"/>
                </a:prstClr>
              </a:solidFill>
              <a:latin typeface="Franklin Gothic Book" panose="020B0502020104020203"/>
              <a:ea typeface="+mn-ea"/>
              <a:cs typeface="+mn-cs"/>
            </a:rPr>
            <a:t>Identifier les pays avec le plus fort </a:t>
          </a:r>
          <a:r>
            <a:rPr lang="en-US" sz="2300" kern="1200" dirty="0" err="1">
              <a:solidFill>
                <a:prstClr val="black">
                  <a:hueOff val="0"/>
                  <a:satOff val="0"/>
                  <a:lumOff val="0"/>
                  <a:alphaOff val="0"/>
                </a:prstClr>
              </a:solidFill>
              <a:latin typeface="Franklin Gothic Book" panose="020B0502020104020203"/>
              <a:ea typeface="+mn-ea"/>
              <a:cs typeface="+mn-cs"/>
            </a:rPr>
            <a:t>potentiel</a:t>
          </a:r>
          <a:r>
            <a:rPr lang="en-US" sz="2300" kern="1200" dirty="0">
              <a:solidFill>
                <a:prstClr val="black">
                  <a:hueOff val="0"/>
                  <a:satOff val="0"/>
                  <a:lumOff val="0"/>
                  <a:alphaOff val="0"/>
                </a:prstClr>
              </a:solidFill>
              <a:latin typeface="Franklin Gothic Book" panose="020B0502020104020203"/>
              <a:ea typeface="+mn-ea"/>
              <a:cs typeface="+mn-cs"/>
            </a:rPr>
            <a:t> de clients et </a:t>
          </a:r>
          <a:r>
            <a:rPr lang="en-US" sz="2300" kern="1200" dirty="0" err="1">
              <a:solidFill>
                <a:prstClr val="black">
                  <a:hueOff val="0"/>
                  <a:satOff val="0"/>
                  <a:lumOff val="0"/>
                  <a:alphaOff val="0"/>
                </a:prstClr>
              </a:solidFill>
              <a:latin typeface="Franklin Gothic Book" panose="020B0502020104020203"/>
              <a:ea typeface="+mn-ea"/>
              <a:cs typeface="+mn-cs"/>
            </a:rPr>
            <a:t>anticiper</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l'évolution</a:t>
          </a:r>
          <a:r>
            <a:rPr lang="en-US" sz="2300" kern="1200" dirty="0">
              <a:solidFill>
                <a:prstClr val="black">
                  <a:hueOff val="0"/>
                  <a:satOff val="0"/>
                  <a:lumOff val="0"/>
                  <a:alphaOff val="0"/>
                </a:prstClr>
              </a:solidFill>
              <a:latin typeface="Franklin Gothic Book" panose="020B0502020104020203"/>
              <a:ea typeface="+mn-ea"/>
              <a:cs typeface="+mn-cs"/>
            </a:rPr>
            <a:t> de </a:t>
          </a:r>
          <a:r>
            <a:rPr lang="en-US" sz="2300" kern="1200" dirty="0" err="1">
              <a:solidFill>
                <a:prstClr val="black">
                  <a:hueOff val="0"/>
                  <a:satOff val="0"/>
                  <a:lumOff val="0"/>
                  <a:alphaOff val="0"/>
                </a:prstClr>
              </a:solidFill>
              <a:latin typeface="Franklin Gothic Book" panose="020B0502020104020203"/>
              <a:ea typeface="+mn-ea"/>
              <a:cs typeface="+mn-cs"/>
            </a:rPr>
            <a:t>ce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potentiel</a:t>
          </a:r>
          <a:r>
            <a:rPr lang="en-US" sz="2300" kern="1200" dirty="0">
              <a:solidFill>
                <a:prstClr val="black">
                  <a:hueOff val="0"/>
                  <a:satOff val="0"/>
                  <a:lumOff val="0"/>
                  <a:alphaOff val="0"/>
                </a:prstClr>
              </a:solidFill>
              <a:latin typeface="Franklin Gothic Book" panose="020B0502020104020203"/>
              <a:ea typeface="+mn-ea"/>
              <a:cs typeface="+mn-cs"/>
            </a:rPr>
            <a:t>.</a:t>
          </a:r>
          <a:endParaRPr lang="fr-FR" sz="2300" kern="1200" dirty="0">
            <a:solidFill>
              <a:prstClr val="black">
                <a:hueOff val="0"/>
                <a:satOff val="0"/>
                <a:lumOff val="0"/>
                <a:alphaOff val="0"/>
              </a:prstClr>
            </a:solidFill>
            <a:latin typeface="Franklin Gothic Book" panose="020B0502020104020203"/>
            <a:ea typeface="+mn-ea"/>
            <a:cs typeface="+mn-cs"/>
          </a:endParaRPr>
        </a:p>
      </dsp:txBody>
      <dsp:txXfrm>
        <a:off x="3834631" y="1155070"/>
        <a:ext cx="3360687" cy="2475646"/>
      </dsp:txXfrm>
    </dsp:sp>
    <dsp:sp modelId="{102FFDBD-AE63-42A3-8AE2-79DF48F2E499}">
      <dsp:nvSpPr>
        <dsp:cNvPr id="0" name=""/>
        <dsp:cNvSpPr/>
      </dsp:nvSpPr>
      <dsp:spPr>
        <a:xfrm>
          <a:off x="7665815" y="3070"/>
          <a:ext cx="3360687" cy="1152000"/>
        </a:xfrm>
        <a:prstGeom prst="rect">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162560" rIns="284480" bIns="162560" numCol="1" spcCol="1270" anchor="ctr" anchorCtr="0">
          <a:noAutofit/>
        </a:bodyPr>
        <a:lstStyle/>
        <a:p>
          <a:pPr marL="0" lvl="0" indent="0" algn="ctr" defTabSz="1778000">
            <a:lnSpc>
              <a:spcPct val="90000"/>
            </a:lnSpc>
            <a:spcBef>
              <a:spcPct val="0"/>
            </a:spcBef>
            <a:spcAft>
              <a:spcPct val="35000"/>
            </a:spcAft>
            <a:buNone/>
          </a:pPr>
          <a:r>
            <a:rPr lang="fr-FR" sz="4000" b="1" kern="1200" dirty="0"/>
            <a:t>La mission</a:t>
          </a:r>
        </a:p>
      </dsp:txBody>
      <dsp:txXfrm>
        <a:off x="7665815" y="3070"/>
        <a:ext cx="3360687" cy="1152000"/>
      </dsp:txXfrm>
    </dsp:sp>
    <dsp:sp modelId="{8402F420-4D9D-4A30-A76E-42CBD55E3990}">
      <dsp:nvSpPr>
        <dsp:cNvPr id="0" name=""/>
        <dsp:cNvSpPr/>
      </dsp:nvSpPr>
      <dsp:spPr>
        <a:xfrm>
          <a:off x="7665815" y="1155070"/>
          <a:ext cx="3360687" cy="2475646"/>
        </a:xfrm>
        <a:prstGeom prst="rect">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ctr" anchorCtr="0">
          <a:noAutofit/>
        </a:bodyPr>
        <a:lstStyle/>
        <a:p>
          <a:pPr marL="228600" lvl="1" indent="-228600" algn="l" defTabSz="1022350">
            <a:lnSpc>
              <a:spcPct val="90000"/>
            </a:lnSpc>
            <a:spcBef>
              <a:spcPct val="0"/>
            </a:spcBef>
            <a:spcAft>
              <a:spcPct val="15000"/>
            </a:spcAft>
            <a:buFontTx/>
            <a:buNone/>
          </a:pPr>
          <a:r>
            <a:rPr lang="en-US" sz="2300" kern="1200" dirty="0">
              <a:solidFill>
                <a:prstClr val="black">
                  <a:hueOff val="0"/>
                  <a:satOff val="0"/>
                  <a:lumOff val="0"/>
                  <a:alphaOff val="0"/>
                </a:prstClr>
              </a:solidFill>
              <a:latin typeface="Franklin Gothic Book" panose="020B0502020104020203"/>
              <a:ea typeface="+mn-ea"/>
              <a:cs typeface="+mn-cs"/>
            </a:rPr>
            <a:t>Faire </a:t>
          </a:r>
          <a:r>
            <a:rPr lang="en-US" sz="2300" kern="1200" dirty="0" err="1">
              <a:solidFill>
                <a:prstClr val="black">
                  <a:hueOff val="0"/>
                  <a:satOff val="0"/>
                  <a:lumOff val="0"/>
                  <a:alphaOff val="0"/>
                </a:prstClr>
              </a:solidFill>
              <a:latin typeface="Franklin Gothic Book" panose="020B0502020104020203"/>
              <a:ea typeface="+mn-ea"/>
              <a:cs typeface="+mn-cs"/>
            </a:rPr>
            <a:t>l’analyse</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exploratoire</a:t>
          </a:r>
          <a:r>
            <a:rPr lang="en-US" sz="2300" kern="1200" dirty="0">
              <a:solidFill>
                <a:prstClr val="black">
                  <a:hueOff val="0"/>
                  <a:satOff val="0"/>
                  <a:lumOff val="0"/>
                  <a:alphaOff val="0"/>
                </a:prstClr>
              </a:solidFill>
              <a:latin typeface="Franklin Gothic Book" panose="020B0502020104020203"/>
              <a:ea typeface="+mn-ea"/>
              <a:cs typeface="+mn-cs"/>
            </a:rPr>
            <a:t> des données </a:t>
          </a:r>
          <a:r>
            <a:rPr lang="en-US" sz="2300" kern="1200" dirty="0" err="1">
              <a:solidFill>
                <a:prstClr val="black">
                  <a:hueOff val="0"/>
                  <a:satOff val="0"/>
                  <a:lumOff val="0"/>
                  <a:alphaOff val="0"/>
                </a:prstClr>
              </a:solidFill>
              <a:latin typeface="Franklin Gothic Book" panose="020B0502020104020203"/>
              <a:ea typeface="+mn-ea"/>
              <a:cs typeface="+mn-cs"/>
            </a:rPr>
            <a:t>éducatives</a:t>
          </a:r>
          <a:r>
            <a:rPr lang="en-US" sz="2300" kern="1200" dirty="0">
              <a:solidFill>
                <a:prstClr val="black">
                  <a:hueOff val="0"/>
                  <a:satOff val="0"/>
                  <a:lumOff val="0"/>
                  <a:alphaOff val="0"/>
                </a:prstClr>
              </a:solidFill>
              <a:latin typeface="Franklin Gothic Book" panose="020B0502020104020203"/>
              <a:ea typeface="+mn-ea"/>
              <a:cs typeface="+mn-cs"/>
            </a:rPr>
            <a:t> de la Banque </a:t>
          </a:r>
          <a:r>
            <a:rPr lang="en-US" sz="2300" kern="1200" dirty="0" err="1">
              <a:solidFill>
                <a:prstClr val="black">
                  <a:hueOff val="0"/>
                  <a:satOff val="0"/>
                  <a:lumOff val="0"/>
                  <a:alphaOff val="0"/>
                </a:prstClr>
              </a:solidFill>
              <a:latin typeface="Franklin Gothic Book" panose="020B0502020104020203"/>
              <a:ea typeface="+mn-ea"/>
              <a:cs typeface="+mn-cs"/>
            </a:rPr>
            <a:t>mondiale</a:t>
          </a:r>
          <a:r>
            <a:rPr lang="en-US" sz="2300" kern="1200" dirty="0">
              <a:solidFill>
                <a:prstClr val="black">
                  <a:hueOff val="0"/>
                  <a:satOff val="0"/>
                  <a:lumOff val="0"/>
                  <a:alphaOff val="0"/>
                </a:prstClr>
              </a:solidFill>
              <a:latin typeface="Franklin Gothic Book" panose="020B0502020104020203"/>
              <a:ea typeface="+mn-ea"/>
              <a:cs typeface="+mn-cs"/>
            </a:rPr>
            <a:t> pour guider la </a:t>
          </a:r>
          <a:r>
            <a:rPr lang="en-US" sz="2300" kern="1200" dirty="0" err="1">
              <a:solidFill>
                <a:prstClr val="black">
                  <a:hueOff val="0"/>
                  <a:satOff val="0"/>
                  <a:lumOff val="0"/>
                  <a:alphaOff val="0"/>
                </a:prstClr>
              </a:solidFill>
              <a:latin typeface="Franklin Gothic Book" panose="020B0502020104020203"/>
              <a:ea typeface="+mn-ea"/>
              <a:cs typeface="+mn-cs"/>
            </a:rPr>
            <a:t>prise</a:t>
          </a:r>
          <a:r>
            <a:rPr lang="en-US" sz="2300" kern="1200" dirty="0">
              <a:solidFill>
                <a:prstClr val="black">
                  <a:hueOff val="0"/>
                  <a:satOff val="0"/>
                  <a:lumOff val="0"/>
                  <a:alphaOff val="0"/>
                </a:prstClr>
              </a:solidFill>
              <a:latin typeface="Franklin Gothic Book" panose="020B0502020104020203"/>
              <a:ea typeface="+mn-ea"/>
              <a:cs typeface="+mn-cs"/>
            </a:rPr>
            <a:t> de </a:t>
          </a:r>
          <a:r>
            <a:rPr lang="en-US" sz="2300" kern="1200" dirty="0" err="1">
              <a:solidFill>
                <a:prstClr val="black">
                  <a:hueOff val="0"/>
                  <a:satOff val="0"/>
                  <a:lumOff val="0"/>
                  <a:alphaOff val="0"/>
                </a:prstClr>
              </a:solidFill>
              <a:latin typeface="Franklin Gothic Book" panose="020B0502020104020203"/>
              <a:ea typeface="+mn-ea"/>
              <a:cs typeface="+mn-cs"/>
            </a:rPr>
            <a:t>décision</a:t>
          </a:r>
          <a:r>
            <a:rPr lang="en-US" sz="2300" kern="1200" dirty="0">
              <a:solidFill>
                <a:prstClr val="black">
                  <a:hueOff val="0"/>
                  <a:satOff val="0"/>
                  <a:lumOff val="0"/>
                  <a:alphaOff val="0"/>
                </a:prstClr>
              </a:solidFill>
              <a:latin typeface="Franklin Gothic Book" panose="020B0502020104020203"/>
              <a:ea typeface="+mn-ea"/>
              <a:cs typeface="+mn-cs"/>
            </a:rPr>
            <a:t> </a:t>
          </a:r>
          <a:r>
            <a:rPr lang="en-US" sz="2300" kern="1200" dirty="0" err="1">
              <a:solidFill>
                <a:prstClr val="black">
                  <a:hueOff val="0"/>
                  <a:satOff val="0"/>
                  <a:lumOff val="0"/>
                  <a:alphaOff val="0"/>
                </a:prstClr>
              </a:solidFill>
              <a:latin typeface="Franklin Gothic Book" panose="020B0502020104020203"/>
              <a:ea typeface="+mn-ea"/>
              <a:cs typeface="+mn-cs"/>
            </a:rPr>
            <a:t>stratégique</a:t>
          </a:r>
          <a:endParaRPr lang="fr-FR" sz="2300" kern="1200" dirty="0">
            <a:solidFill>
              <a:prstClr val="black">
                <a:hueOff val="0"/>
                <a:satOff val="0"/>
                <a:lumOff val="0"/>
                <a:alphaOff val="0"/>
              </a:prstClr>
            </a:solidFill>
            <a:latin typeface="Franklin Gothic Book" panose="020B0502020104020203"/>
            <a:ea typeface="+mn-ea"/>
            <a:cs typeface="+mn-cs"/>
          </a:endParaRPr>
        </a:p>
      </dsp:txBody>
      <dsp:txXfrm>
        <a:off x="7665815" y="1155070"/>
        <a:ext cx="3360687" cy="24756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7EC837-9112-4B88-9DD1-5D63816B8520}">
      <dsp:nvSpPr>
        <dsp:cNvPr id="0" name=""/>
        <dsp:cNvSpPr/>
      </dsp:nvSpPr>
      <dsp:spPr>
        <a:xfrm>
          <a:off x="0" y="313904"/>
          <a:ext cx="3199092" cy="1919455"/>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kern="1200" dirty="0"/>
            <a:t>Identification des vrais pays</a:t>
          </a:r>
        </a:p>
        <a:p>
          <a:pPr marL="0" lvl="0" indent="0" algn="l" defTabSz="577850">
            <a:lnSpc>
              <a:spcPct val="90000"/>
            </a:lnSpc>
            <a:spcBef>
              <a:spcPct val="0"/>
            </a:spcBef>
            <a:spcAft>
              <a:spcPct val="35000"/>
            </a:spcAft>
            <a:buNone/>
          </a:pPr>
          <a:r>
            <a:rPr lang="fr-FR" sz="1300" kern="1200" dirty="0"/>
            <a:t>241 pays </a:t>
          </a:r>
          <a:r>
            <a:rPr lang="fr-FR" sz="1300" kern="1200" dirty="0">
              <a:sym typeface="Wingdings" panose="05000000000000000000" pitchFamily="2" charset="2"/>
            </a:rPr>
            <a:t> </a:t>
          </a:r>
          <a:r>
            <a:rPr lang="fr-FR" sz="1300" b="0" kern="1200" dirty="0">
              <a:sym typeface="Wingdings" panose="05000000000000000000" pitchFamily="2" charset="2"/>
            </a:rPr>
            <a:t>215 pays</a:t>
          </a:r>
          <a:endParaRPr lang="fr-FR" sz="1300" b="0" kern="1200" dirty="0"/>
        </a:p>
        <a:p>
          <a:pPr marL="57150" lvl="1" indent="-57150" algn="l" defTabSz="444500">
            <a:lnSpc>
              <a:spcPct val="90000"/>
            </a:lnSpc>
            <a:spcBef>
              <a:spcPct val="0"/>
            </a:spcBef>
            <a:spcAft>
              <a:spcPct val="15000"/>
            </a:spcAft>
            <a:buChar char="•"/>
          </a:pPr>
          <a:r>
            <a:rPr lang="fr-FR" sz="1000" kern="1200" dirty="0"/>
            <a:t>Comparaison des Country Codes avec le référentiel ISO 3166-1 alpha-3. </a:t>
          </a:r>
        </a:p>
        <a:p>
          <a:pPr marL="57150" lvl="1" indent="-57150" algn="l" defTabSz="444500">
            <a:lnSpc>
              <a:spcPct val="90000"/>
            </a:lnSpc>
            <a:spcBef>
              <a:spcPct val="0"/>
            </a:spcBef>
            <a:spcAft>
              <a:spcPct val="15000"/>
            </a:spcAft>
            <a:buChar char="•"/>
          </a:pPr>
          <a:r>
            <a:rPr lang="fr-FR" sz="1000" kern="1200" dirty="0"/>
            <a:t>Suppression de 26 codes (ARB, EUU, WLD, LAC…). </a:t>
          </a:r>
        </a:p>
        <a:p>
          <a:pPr marL="57150" lvl="1" indent="-57150" algn="l" defTabSz="444500">
            <a:lnSpc>
              <a:spcPct val="90000"/>
            </a:lnSpc>
            <a:spcBef>
              <a:spcPct val="0"/>
            </a:spcBef>
            <a:spcAft>
              <a:spcPct val="15000"/>
            </a:spcAft>
            <a:buChar char="•"/>
          </a:pPr>
          <a:r>
            <a:rPr lang="fr-FR" sz="1000" kern="1200" dirty="0"/>
            <a:t>Conservation du Kosovo (XKX) qui utilise un code de facto.</a:t>
          </a:r>
        </a:p>
      </dsp:txBody>
      <dsp:txXfrm>
        <a:off x="0" y="313904"/>
        <a:ext cx="3199092" cy="1919455"/>
      </dsp:txXfrm>
    </dsp:sp>
    <dsp:sp modelId="{833F6EF0-253A-444C-9583-AE2075EFDEBE}">
      <dsp:nvSpPr>
        <dsp:cNvPr id="0" name=""/>
        <dsp:cNvSpPr/>
      </dsp:nvSpPr>
      <dsp:spPr>
        <a:xfrm>
          <a:off x="3519002" y="313904"/>
          <a:ext cx="3199092" cy="1919455"/>
        </a:xfrm>
        <a:prstGeom prst="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kern="1200" dirty="0"/>
            <a:t>Filtrage aux topics éducatifs</a:t>
          </a:r>
        </a:p>
        <a:p>
          <a:pPr marL="0" lvl="0" indent="0" algn="l" defTabSz="577850">
            <a:lnSpc>
              <a:spcPct val="90000"/>
            </a:lnSpc>
            <a:spcBef>
              <a:spcPct val="0"/>
            </a:spcBef>
            <a:spcAft>
              <a:spcPct val="35000"/>
            </a:spcAft>
            <a:buNone/>
          </a:pPr>
          <a:r>
            <a:rPr lang="fr-FR" sz="1300" kern="1200" dirty="0"/>
            <a:t>3665 indicateurs </a:t>
          </a:r>
          <a:r>
            <a:rPr lang="fr-FR" sz="1300" kern="1200" dirty="0">
              <a:sym typeface="Wingdings" panose="05000000000000000000" pitchFamily="2" charset="2"/>
            </a:rPr>
            <a:t> 3186 indicateurs</a:t>
          </a:r>
          <a:endParaRPr lang="fr-FR" sz="1300" kern="1200" dirty="0"/>
        </a:p>
        <a:p>
          <a:pPr marL="57150" lvl="1" indent="-57150" algn="l" defTabSz="444500">
            <a:lnSpc>
              <a:spcPct val="90000"/>
            </a:lnSpc>
            <a:spcBef>
              <a:spcPct val="0"/>
            </a:spcBef>
            <a:spcAft>
              <a:spcPct val="15000"/>
            </a:spcAft>
            <a:buChar char="•"/>
          </a:pPr>
          <a:r>
            <a:rPr lang="fr-FR" sz="1000" kern="1200" dirty="0"/>
            <a:t>Le jeu </a:t>
          </a:r>
          <a:r>
            <a:rPr lang="fr-FR" sz="1000" kern="1200" dirty="0" err="1"/>
            <a:t>EdStatsSeries</a:t>
          </a:r>
          <a:r>
            <a:rPr lang="fr-FR" sz="1000" kern="1200" dirty="0"/>
            <a:t> liste 3 665 indicateurs organisés par topic</a:t>
          </a:r>
        </a:p>
        <a:p>
          <a:pPr marL="57150" lvl="1" indent="-57150" algn="l" defTabSz="444500">
            <a:lnSpc>
              <a:spcPct val="90000"/>
            </a:lnSpc>
            <a:spcBef>
              <a:spcPct val="0"/>
            </a:spcBef>
            <a:spcAft>
              <a:spcPct val="15000"/>
            </a:spcAft>
            <a:buChar char="•"/>
          </a:pPr>
          <a:r>
            <a:rPr lang="fr-FR" sz="1000" kern="1200" dirty="0"/>
            <a:t>12 topics éducatifs retenus (Secondaire, Tertiaire, </a:t>
          </a:r>
          <a:r>
            <a:rPr lang="fr-FR" sz="1000" kern="1200" dirty="0" err="1"/>
            <a:t>Attainment</a:t>
          </a:r>
          <a:r>
            <a:rPr lang="fr-FR" sz="1000" kern="1200" dirty="0"/>
            <a:t>…)</a:t>
          </a:r>
        </a:p>
        <a:p>
          <a:pPr marL="57150" lvl="1" indent="-57150" algn="l" defTabSz="444500">
            <a:lnSpc>
              <a:spcPct val="90000"/>
            </a:lnSpc>
            <a:spcBef>
              <a:spcPct val="0"/>
            </a:spcBef>
            <a:spcAft>
              <a:spcPct val="15000"/>
            </a:spcAft>
            <a:buChar char="•"/>
          </a:pPr>
          <a:r>
            <a:rPr lang="fr-FR" sz="1000" kern="1200" dirty="0"/>
            <a:t>6 topics écartés (Santé, Économie, SABER, etc.)</a:t>
          </a:r>
        </a:p>
      </dsp:txBody>
      <dsp:txXfrm>
        <a:off x="3519002" y="313904"/>
        <a:ext cx="3199092" cy="1919455"/>
      </dsp:txXfrm>
    </dsp:sp>
    <dsp:sp modelId="{7A5C887B-1F57-430F-9662-B886F3813F95}">
      <dsp:nvSpPr>
        <dsp:cNvPr id="0" name=""/>
        <dsp:cNvSpPr/>
      </dsp:nvSpPr>
      <dsp:spPr>
        <a:xfrm>
          <a:off x="7038004" y="313904"/>
          <a:ext cx="3199092" cy="1919455"/>
        </a:xfrm>
        <a:prstGeom prst="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b="0" kern="1200" dirty="0"/>
            <a:t>Gestion des valeurs manquantes et doublons</a:t>
          </a:r>
        </a:p>
        <a:p>
          <a:pPr marL="0" lvl="0" indent="0" algn="l" defTabSz="577850">
            <a:lnSpc>
              <a:spcPct val="90000"/>
            </a:lnSpc>
            <a:spcBef>
              <a:spcPct val="0"/>
            </a:spcBef>
            <a:spcAft>
              <a:spcPct val="35000"/>
            </a:spcAft>
            <a:buNone/>
          </a:pPr>
          <a:r>
            <a:rPr lang="fr-FR" sz="1300" kern="1200" dirty="0"/>
            <a:t>886 930 lignes </a:t>
          </a:r>
          <a:r>
            <a:rPr lang="fr-FR" sz="1300" kern="1200" dirty="0">
              <a:sym typeface="Wingdings" panose="05000000000000000000" pitchFamily="2" charset="2"/>
            </a:rPr>
            <a:t> 688 176 lignes (</a:t>
          </a:r>
          <a:r>
            <a:rPr lang="fr-FR" sz="1300" kern="1200" dirty="0" err="1">
              <a:sym typeface="Wingdings" panose="05000000000000000000" pitchFamily="2" charset="2"/>
            </a:rPr>
            <a:t>df</a:t>
          </a:r>
          <a:r>
            <a:rPr lang="fr-FR" sz="1300" kern="1200" dirty="0">
              <a:sym typeface="Wingdings" panose="05000000000000000000" pitchFamily="2" charset="2"/>
            </a:rPr>
            <a:t>. Data)</a:t>
          </a:r>
          <a:endParaRPr lang="fr-FR" sz="1300" kern="1200" dirty="0"/>
        </a:p>
        <a:p>
          <a:pPr marL="57150" lvl="1" indent="-57150" algn="l" defTabSz="444500">
            <a:lnSpc>
              <a:spcPct val="90000"/>
            </a:lnSpc>
            <a:spcBef>
              <a:spcPct val="0"/>
            </a:spcBef>
            <a:spcAft>
              <a:spcPct val="15000"/>
            </a:spcAft>
            <a:buChar char="•"/>
          </a:pPr>
          <a:r>
            <a:rPr lang="fr-FR" sz="1000" b="0" kern="1200" dirty="0"/>
            <a:t>Suppression des lignes et colonnes entièrement vides</a:t>
          </a:r>
        </a:p>
        <a:p>
          <a:pPr marL="57150" lvl="1" indent="-57150" algn="l" defTabSz="444500">
            <a:lnSpc>
              <a:spcPct val="90000"/>
            </a:lnSpc>
            <a:spcBef>
              <a:spcPct val="0"/>
            </a:spcBef>
            <a:spcAft>
              <a:spcPct val="15000"/>
            </a:spcAft>
            <a:buChar char="•"/>
          </a:pPr>
          <a:r>
            <a:rPr lang="fr-FR" sz="1000" b="0" kern="1200" dirty="0"/>
            <a:t>Complétion manuelle de 3 pays sans région ou revenu (Gibraltar, Nauru, VGB).</a:t>
          </a:r>
        </a:p>
      </dsp:txBody>
      <dsp:txXfrm>
        <a:off x="7038004" y="313904"/>
        <a:ext cx="3199092" cy="1919455"/>
      </dsp:txXfrm>
    </dsp:sp>
    <dsp:sp modelId="{F09D749F-4360-4F48-8B5E-0C828DD2CA9D}">
      <dsp:nvSpPr>
        <dsp:cNvPr id="0" name=""/>
        <dsp:cNvSpPr/>
      </dsp:nvSpPr>
      <dsp:spPr>
        <a:xfrm>
          <a:off x="0" y="2553269"/>
          <a:ext cx="3199092" cy="1919455"/>
        </a:xfrm>
        <a:prstGeom prst="rect">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kern="1200" dirty="0"/>
            <a:t>Sélection des années pertinentes</a:t>
          </a:r>
        </a:p>
        <a:p>
          <a:pPr marL="0" lvl="0" indent="0" algn="l" defTabSz="577850">
            <a:lnSpc>
              <a:spcPct val="90000"/>
            </a:lnSpc>
            <a:spcBef>
              <a:spcPct val="0"/>
            </a:spcBef>
            <a:spcAft>
              <a:spcPct val="35000"/>
            </a:spcAft>
            <a:buNone/>
          </a:pPr>
          <a:r>
            <a:rPr lang="fr-FR" sz="1300" kern="1200" dirty="0"/>
            <a:t>64 années </a:t>
          </a:r>
          <a:r>
            <a:rPr lang="fr-FR" sz="1300" kern="1200" dirty="0">
              <a:sym typeface="Wingdings" panose="05000000000000000000" pitchFamily="2" charset="2"/>
            </a:rPr>
            <a:t> 13 années</a:t>
          </a:r>
          <a:endParaRPr lang="fr-FR" sz="1300" kern="1200" dirty="0"/>
        </a:p>
        <a:p>
          <a:pPr marL="57150" lvl="1" indent="-57150" algn="l" defTabSz="444500">
            <a:lnSpc>
              <a:spcPct val="90000"/>
            </a:lnSpc>
            <a:spcBef>
              <a:spcPct val="0"/>
            </a:spcBef>
            <a:spcAft>
              <a:spcPct val="15000"/>
            </a:spcAft>
            <a:buChar char="•"/>
          </a:pPr>
          <a:r>
            <a:rPr lang="fr-FR" sz="1000" kern="1200" dirty="0"/>
            <a:t>Analyse du taux de complétude par année. </a:t>
          </a:r>
        </a:p>
        <a:p>
          <a:pPr marL="57150" lvl="1" indent="-57150" algn="l" defTabSz="444500">
            <a:lnSpc>
              <a:spcPct val="90000"/>
            </a:lnSpc>
            <a:spcBef>
              <a:spcPct val="0"/>
            </a:spcBef>
            <a:spcAft>
              <a:spcPct val="15000"/>
            </a:spcAft>
            <a:buChar char="•"/>
          </a:pPr>
          <a:r>
            <a:rPr lang="fr-FR" sz="1000" kern="1200" dirty="0"/>
            <a:t>Sélection des années avec le plus de données : 1970, 1975, 1980, 1985, 1990, 1995, 2000, 2005, 2010 (historique) + 2015, 2020, 2025, 2030 (projections).</a:t>
          </a:r>
        </a:p>
        <a:p>
          <a:pPr marL="57150" lvl="1" indent="-57150" algn="l" defTabSz="444500">
            <a:lnSpc>
              <a:spcPct val="90000"/>
            </a:lnSpc>
            <a:spcBef>
              <a:spcPct val="0"/>
            </a:spcBef>
            <a:spcAft>
              <a:spcPct val="15000"/>
            </a:spcAft>
            <a:buChar char="•"/>
          </a:pPr>
          <a:r>
            <a:rPr lang="fr-FR" sz="1000" kern="1200" dirty="0"/>
            <a:t>Limite à 2030 pour une projection raisonnable à 15 ans d’un point de vue business.</a:t>
          </a:r>
        </a:p>
      </dsp:txBody>
      <dsp:txXfrm>
        <a:off x="0" y="2553269"/>
        <a:ext cx="3199092" cy="1919455"/>
      </dsp:txXfrm>
    </dsp:sp>
    <dsp:sp modelId="{B63B4A12-EA6E-48CE-9BF8-1B73A4BC8CCA}">
      <dsp:nvSpPr>
        <dsp:cNvPr id="0" name=""/>
        <dsp:cNvSpPr/>
      </dsp:nvSpPr>
      <dsp:spPr>
        <a:xfrm>
          <a:off x="3519002" y="2553269"/>
          <a:ext cx="3199092" cy="1919455"/>
        </a:xfrm>
        <a:prstGeom prst="rect">
          <a:avLst/>
        </a:prstGeom>
        <a:gradFill rotWithShape="0">
          <a:gsLst>
            <a:gs pos="0">
              <a:schemeClr val="accent6">
                <a:hueOff val="0"/>
                <a:satOff val="0"/>
                <a:lumOff val="0"/>
                <a:alphaOff val="0"/>
                <a:tint val="98000"/>
                <a:lumMod val="110000"/>
              </a:schemeClr>
            </a:gs>
            <a:gs pos="84000">
              <a:schemeClr val="accent6">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kern="1200" dirty="0"/>
            <a:t>Suppression des indicateurs redondants</a:t>
          </a:r>
        </a:p>
        <a:p>
          <a:pPr marL="0" lvl="0" indent="0" algn="l" defTabSz="577850">
            <a:lnSpc>
              <a:spcPct val="90000"/>
            </a:lnSpc>
            <a:spcBef>
              <a:spcPct val="0"/>
            </a:spcBef>
            <a:spcAft>
              <a:spcPct val="35000"/>
            </a:spcAft>
            <a:buNone/>
          </a:pPr>
          <a:r>
            <a:rPr lang="fr-FR" sz="1300" kern="1200" dirty="0"/>
            <a:t>3186 indicateurs </a:t>
          </a:r>
          <a:r>
            <a:rPr lang="fr-FR" sz="1300" kern="1200" dirty="0">
              <a:sym typeface="Wingdings" panose="05000000000000000000" pitchFamily="2" charset="2"/>
            </a:rPr>
            <a:t> 6 indicateurs</a:t>
          </a:r>
          <a:endParaRPr lang="fr-FR" sz="1300" kern="1200" dirty="0"/>
        </a:p>
        <a:p>
          <a:pPr marL="57150" lvl="1" indent="-57150" algn="l" defTabSz="444500">
            <a:lnSpc>
              <a:spcPct val="90000"/>
            </a:lnSpc>
            <a:spcBef>
              <a:spcPct val="0"/>
            </a:spcBef>
            <a:spcAft>
              <a:spcPct val="15000"/>
            </a:spcAft>
            <a:buChar char="•"/>
          </a:pPr>
          <a:r>
            <a:rPr lang="fr-FR" sz="1000" kern="1200" dirty="0"/>
            <a:t>Prise en compte des indicateurs les plus complétés</a:t>
          </a:r>
        </a:p>
        <a:p>
          <a:pPr marL="57150" lvl="1" indent="-57150" algn="l" defTabSz="444500">
            <a:lnSpc>
              <a:spcPct val="90000"/>
            </a:lnSpc>
            <a:spcBef>
              <a:spcPct val="0"/>
            </a:spcBef>
            <a:spcAft>
              <a:spcPct val="15000"/>
            </a:spcAft>
            <a:buChar char="•"/>
          </a:pPr>
          <a:r>
            <a:rPr lang="fr-FR" sz="1000" kern="1200" dirty="0"/>
            <a:t>Pas de distinction de genre, de tranches d’âge</a:t>
          </a:r>
        </a:p>
        <a:p>
          <a:pPr marL="57150" lvl="1" indent="-57150" algn="l" defTabSz="444500">
            <a:lnSpc>
              <a:spcPct val="90000"/>
            </a:lnSpc>
            <a:spcBef>
              <a:spcPct val="0"/>
            </a:spcBef>
            <a:spcAft>
              <a:spcPct val="15000"/>
            </a:spcAft>
            <a:buChar char="•"/>
          </a:pPr>
          <a:r>
            <a:rPr lang="fr-FR" sz="1000" kern="1200" dirty="0"/>
            <a:t>Test de distribution (Shapiro-</a:t>
          </a:r>
          <a:r>
            <a:rPr lang="fr-FR" sz="1000" kern="1200" dirty="0" err="1"/>
            <a:t>Wilk</a:t>
          </a:r>
          <a:r>
            <a:rPr lang="fr-FR" sz="1000" kern="1200" dirty="0"/>
            <a:t>) → données non normales → corrélation de Spearman.</a:t>
          </a:r>
        </a:p>
        <a:p>
          <a:pPr marL="57150" lvl="1" indent="-57150" algn="l" defTabSz="444500">
            <a:lnSpc>
              <a:spcPct val="90000"/>
            </a:lnSpc>
            <a:spcBef>
              <a:spcPct val="0"/>
            </a:spcBef>
            <a:spcAft>
              <a:spcPct val="15000"/>
            </a:spcAft>
            <a:buChar char="•"/>
          </a:pPr>
          <a:r>
            <a:rPr lang="fr-FR" sz="1000" kern="1200" dirty="0"/>
            <a:t>Suppression des indicateurs corrélés à &gt; 90 % (ex : BAR.SEC.SCHL.15UP corrélé à 91 % avec BAR.SEC.CMPT).</a:t>
          </a:r>
        </a:p>
        <a:p>
          <a:pPr marL="57150" lvl="1" indent="-57150" algn="l" defTabSz="444500">
            <a:lnSpc>
              <a:spcPct val="90000"/>
            </a:lnSpc>
            <a:spcBef>
              <a:spcPct val="0"/>
            </a:spcBef>
            <a:spcAft>
              <a:spcPct val="15000"/>
            </a:spcAft>
            <a:buChar char="•"/>
          </a:pPr>
          <a:r>
            <a:rPr lang="fr-FR" sz="1000" kern="1200" dirty="0"/>
            <a:t>Prise en compte de la nature de l’unité (%, taux…) et de la distinction lycée/université</a:t>
          </a:r>
        </a:p>
      </dsp:txBody>
      <dsp:txXfrm>
        <a:off x="3519002" y="2553269"/>
        <a:ext cx="3199092" cy="1919455"/>
      </dsp:txXfrm>
    </dsp:sp>
    <dsp:sp modelId="{C3B838F9-67A7-45A3-8726-DA103E79368E}">
      <dsp:nvSpPr>
        <dsp:cNvPr id="0" name=""/>
        <dsp:cNvSpPr/>
      </dsp:nvSpPr>
      <dsp:spPr>
        <a:xfrm>
          <a:off x="7038004" y="2553269"/>
          <a:ext cx="3199092" cy="1919455"/>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fr-FR" sz="1300" kern="1200" dirty="0"/>
            <a:t>Filtre sur la qualité des données</a:t>
          </a:r>
        </a:p>
        <a:p>
          <a:pPr marL="0" lvl="0" indent="0" algn="l" defTabSz="577850">
            <a:lnSpc>
              <a:spcPct val="90000"/>
            </a:lnSpc>
            <a:spcBef>
              <a:spcPct val="0"/>
            </a:spcBef>
            <a:spcAft>
              <a:spcPct val="35000"/>
            </a:spcAft>
            <a:buNone/>
          </a:pPr>
          <a:r>
            <a:rPr lang="fr-FR" sz="1300" kern="1200" dirty="0"/>
            <a:t>688 176 lignes </a:t>
          </a:r>
          <a:r>
            <a:rPr lang="fr-FR" sz="1300" kern="1200" dirty="0">
              <a:sym typeface="Wingdings" panose="05000000000000000000" pitchFamily="2" charset="2"/>
            </a:rPr>
            <a:t> 786 lignes (</a:t>
          </a:r>
          <a:r>
            <a:rPr lang="fr-FR" sz="1300" kern="1200" dirty="0" err="1">
              <a:sym typeface="Wingdings" panose="05000000000000000000" pitchFamily="2" charset="2"/>
            </a:rPr>
            <a:t>df</a:t>
          </a:r>
          <a:r>
            <a:rPr lang="fr-FR" sz="1300" kern="1200" dirty="0">
              <a:sym typeface="Wingdings" panose="05000000000000000000" pitchFamily="2" charset="2"/>
            </a:rPr>
            <a:t>. Data)</a:t>
          </a:r>
          <a:endParaRPr lang="fr-FR" sz="1300" kern="1200" dirty="0"/>
        </a:p>
        <a:p>
          <a:pPr marL="57150" lvl="1" indent="-57150" algn="l" defTabSz="444500">
            <a:lnSpc>
              <a:spcPct val="90000"/>
            </a:lnSpc>
            <a:spcBef>
              <a:spcPct val="0"/>
            </a:spcBef>
            <a:spcAft>
              <a:spcPct val="15000"/>
            </a:spcAft>
            <a:buChar char="•"/>
          </a:pPr>
          <a:r>
            <a:rPr lang="fr-FR" sz="1000" kern="1200" dirty="0"/>
            <a:t>Suppression des pays sans données historiques OU sans projections.</a:t>
          </a:r>
        </a:p>
        <a:p>
          <a:pPr marL="57150" lvl="1" indent="-57150" algn="l" defTabSz="444500">
            <a:lnSpc>
              <a:spcPct val="90000"/>
            </a:lnSpc>
            <a:spcBef>
              <a:spcPct val="0"/>
            </a:spcBef>
            <a:spcAft>
              <a:spcPct val="15000"/>
            </a:spcAft>
            <a:buChar char="•"/>
          </a:pPr>
          <a:r>
            <a:rPr lang="fr-FR" sz="1000" kern="1200" dirty="0"/>
            <a:t>Résultat : 131 pays avec un jeu de données complet et cohérent.</a:t>
          </a:r>
        </a:p>
      </dsp:txBody>
      <dsp:txXfrm>
        <a:off x="7038004" y="2553269"/>
        <a:ext cx="3199092" cy="19194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EFCAF-9506-4F30-BE65-D293A210999D}">
      <dsp:nvSpPr>
        <dsp:cNvPr id="0" name=""/>
        <dsp:cNvSpPr/>
      </dsp:nvSpPr>
      <dsp:spPr>
        <a:xfrm rot="5400000">
          <a:off x="7267931" y="-3238042"/>
          <a:ext cx="464869" cy="7059168"/>
        </a:xfrm>
        <a:prstGeom prst="round2SameRect">
          <a:avLst/>
        </a:prstGeom>
        <a:solidFill>
          <a:schemeClr val="accent4">
            <a:tint val="40000"/>
            <a:alpha val="90000"/>
            <a:hueOff val="0"/>
            <a:satOff val="0"/>
            <a:lumOff val="0"/>
            <a:alphaOff val="0"/>
          </a:schemeClr>
        </a:solidFill>
        <a:ln w="22225"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Mesure le vivier de lycéens potentiels déjà éduqués</a:t>
          </a:r>
        </a:p>
        <a:p>
          <a:pPr marL="114300" lvl="1" indent="-114300" algn="l" defTabSz="577850">
            <a:lnSpc>
              <a:spcPct val="90000"/>
            </a:lnSpc>
            <a:spcBef>
              <a:spcPct val="0"/>
            </a:spcBef>
            <a:spcAft>
              <a:spcPct val="15000"/>
            </a:spcAft>
            <a:buChar char="•"/>
          </a:pPr>
          <a:r>
            <a:rPr lang="fr-FR" sz="1300" kern="1200" dirty="0"/>
            <a:t>Part de la population 15 ans et + ayant complété l'enseignement secondaire (lycée)</a:t>
          </a:r>
        </a:p>
      </dsp:txBody>
      <dsp:txXfrm rot="-5400000">
        <a:off x="3970782" y="81800"/>
        <a:ext cx="7036475" cy="419483"/>
      </dsp:txXfrm>
    </dsp:sp>
    <dsp:sp modelId="{90D2D753-BCF1-4BBE-9024-7B5FCC79EC61}">
      <dsp:nvSpPr>
        <dsp:cNvPr id="0" name=""/>
        <dsp:cNvSpPr/>
      </dsp:nvSpPr>
      <dsp:spPr>
        <a:xfrm>
          <a:off x="0" y="998"/>
          <a:ext cx="3970782" cy="581086"/>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BAR.SEC.CMPT.15UP.ZS</a:t>
          </a:r>
        </a:p>
      </dsp:txBody>
      <dsp:txXfrm>
        <a:off x="28366" y="29364"/>
        <a:ext cx="3914050" cy="524354"/>
      </dsp:txXfrm>
    </dsp:sp>
    <dsp:sp modelId="{B26E1452-01F9-4F2A-84B1-842C59C1EDBA}">
      <dsp:nvSpPr>
        <dsp:cNvPr id="0" name=""/>
        <dsp:cNvSpPr/>
      </dsp:nvSpPr>
      <dsp:spPr>
        <a:xfrm rot="5400000">
          <a:off x="7267931" y="-2627901"/>
          <a:ext cx="464869" cy="7059168"/>
        </a:xfrm>
        <a:prstGeom prst="round2SameRect">
          <a:avLst/>
        </a:prstGeom>
        <a:solidFill>
          <a:schemeClr val="accent4">
            <a:tint val="40000"/>
            <a:alpha val="90000"/>
            <a:hueOff val="-289665"/>
            <a:satOff val="-3966"/>
            <a:lumOff val="-525"/>
            <a:alphaOff val="0"/>
          </a:schemeClr>
        </a:solidFill>
        <a:ln w="22225" cap="rnd" cmpd="sng" algn="ctr">
          <a:solidFill>
            <a:schemeClr val="accent4">
              <a:tint val="40000"/>
              <a:alpha val="90000"/>
              <a:hueOff val="-289665"/>
              <a:satOff val="-3966"/>
              <a:lumOff val="-5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Mesure le vivier d'étudiants ayant accès à l'enseignement supérieur</a:t>
          </a:r>
        </a:p>
        <a:p>
          <a:pPr marL="114300" lvl="1" indent="-114300" algn="l" defTabSz="577850">
            <a:lnSpc>
              <a:spcPct val="90000"/>
            </a:lnSpc>
            <a:spcBef>
              <a:spcPct val="0"/>
            </a:spcBef>
            <a:spcAft>
              <a:spcPct val="15000"/>
            </a:spcAft>
            <a:buChar char="•"/>
          </a:pPr>
          <a:r>
            <a:rPr lang="fr-FR" sz="1300" kern="1200" dirty="0"/>
            <a:t>Part de la population 15 ans et + ayant complété l'enseignement supérieur (université)</a:t>
          </a:r>
        </a:p>
      </dsp:txBody>
      <dsp:txXfrm rot="-5400000">
        <a:off x="3970782" y="691941"/>
        <a:ext cx="7036475" cy="419483"/>
      </dsp:txXfrm>
    </dsp:sp>
    <dsp:sp modelId="{9AF52C30-07D9-4C83-806C-0C0E6B23FFB2}">
      <dsp:nvSpPr>
        <dsp:cNvPr id="0" name=""/>
        <dsp:cNvSpPr/>
      </dsp:nvSpPr>
      <dsp:spPr>
        <a:xfrm>
          <a:off x="0" y="611138"/>
          <a:ext cx="3970782" cy="581086"/>
        </a:xfrm>
        <a:prstGeom prst="roundRect">
          <a:avLst/>
        </a:prstGeom>
        <a:solidFill>
          <a:schemeClr val="accent4">
            <a:hueOff val="-305671"/>
            <a:satOff val="-2049"/>
            <a:lumOff val="-2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BAR.TER.CMPT.15UP.ZS</a:t>
          </a:r>
        </a:p>
      </dsp:txBody>
      <dsp:txXfrm>
        <a:off x="28366" y="639504"/>
        <a:ext cx="3914050" cy="524354"/>
      </dsp:txXfrm>
    </dsp:sp>
    <dsp:sp modelId="{56729F98-A7C2-4C11-82C9-5CE713F1251F}">
      <dsp:nvSpPr>
        <dsp:cNvPr id="0" name=""/>
        <dsp:cNvSpPr/>
      </dsp:nvSpPr>
      <dsp:spPr>
        <a:xfrm rot="5400000">
          <a:off x="7267931" y="-2017760"/>
          <a:ext cx="464869" cy="7059168"/>
        </a:xfrm>
        <a:prstGeom prst="round2SameRect">
          <a:avLst/>
        </a:prstGeom>
        <a:solidFill>
          <a:schemeClr val="accent4">
            <a:tint val="40000"/>
            <a:alpha val="90000"/>
            <a:hueOff val="-579331"/>
            <a:satOff val="-7931"/>
            <a:lumOff val="-1050"/>
            <a:alphaOff val="0"/>
          </a:schemeClr>
        </a:solidFill>
        <a:ln w="22225" cap="rnd" cmpd="sng" algn="ctr">
          <a:solidFill>
            <a:schemeClr val="accent4">
              <a:tint val="40000"/>
              <a:alpha val="90000"/>
              <a:hueOff val="-579331"/>
              <a:satOff val="-7931"/>
              <a:lumOff val="-10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Indique la demande actuelle de formation au lycée</a:t>
          </a:r>
        </a:p>
        <a:p>
          <a:pPr marL="114300" lvl="1" indent="-114300" algn="l" defTabSz="577850">
            <a:lnSpc>
              <a:spcPct val="90000"/>
            </a:lnSpc>
            <a:spcBef>
              <a:spcPct val="0"/>
            </a:spcBef>
            <a:spcAft>
              <a:spcPct val="15000"/>
            </a:spcAft>
            <a:buChar char="•"/>
          </a:pPr>
          <a:r>
            <a:rPr lang="fr-FR" sz="1300" kern="1200" dirty="0"/>
            <a:t>Ratio d'inscription brut dans le secondaire, tous âges confondus (peut dépasser 100 %)</a:t>
          </a:r>
        </a:p>
      </dsp:txBody>
      <dsp:txXfrm rot="-5400000">
        <a:off x="3970782" y="1302082"/>
        <a:ext cx="7036475" cy="419483"/>
      </dsp:txXfrm>
    </dsp:sp>
    <dsp:sp modelId="{10E303FC-04E5-4F6F-8322-08DE88EAF362}">
      <dsp:nvSpPr>
        <dsp:cNvPr id="0" name=""/>
        <dsp:cNvSpPr/>
      </dsp:nvSpPr>
      <dsp:spPr>
        <a:xfrm>
          <a:off x="0" y="1221279"/>
          <a:ext cx="3970782" cy="581086"/>
        </a:xfrm>
        <a:prstGeom prst="roundRect">
          <a:avLst/>
        </a:prstGeom>
        <a:solidFill>
          <a:schemeClr val="accent4">
            <a:hueOff val="-611342"/>
            <a:satOff val="-4098"/>
            <a:lumOff val="-423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SE.SEC.ENRR</a:t>
          </a:r>
        </a:p>
      </dsp:txBody>
      <dsp:txXfrm>
        <a:off x="28366" y="1249645"/>
        <a:ext cx="3914050" cy="524354"/>
      </dsp:txXfrm>
    </dsp:sp>
    <dsp:sp modelId="{485E776A-E4AB-473B-A623-EBFDB0E4E10C}">
      <dsp:nvSpPr>
        <dsp:cNvPr id="0" name=""/>
        <dsp:cNvSpPr/>
      </dsp:nvSpPr>
      <dsp:spPr>
        <a:xfrm rot="5400000">
          <a:off x="7267931" y="-1407620"/>
          <a:ext cx="464869" cy="7059168"/>
        </a:xfrm>
        <a:prstGeom prst="round2SameRect">
          <a:avLst/>
        </a:prstGeom>
        <a:solidFill>
          <a:schemeClr val="accent4">
            <a:tint val="40000"/>
            <a:alpha val="90000"/>
            <a:hueOff val="-868996"/>
            <a:satOff val="-11897"/>
            <a:lumOff val="-1576"/>
            <a:alphaOff val="0"/>
          </a:schemeClr>
        </a:solidFill>
        <a:ln w="22225" cap="rnd" cmpd="sng" algn="ctr">
          <a:solidFill>
            <a:schemeClr val="accent4">
              <a:tint val="40000"/>
              <a:alpha val="90000"/>
              <a:hueOff val="-868996"/>
              <a:satOff val="-11897"/>
              <a:lumOff val="-15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Indique la demande actuelle de formation universitaire</a:t>
          </a:r>
        </a:p>
        <a:p>
          <a:pPr marL="114300" lvl="1" indent="-114300" algn="l" defTabSz="577850">
            <a:lnSpc>
              <a:spcPct val="90000"/>
            </a:lnSpc>
            <a:spcBef>
              <a:spcPct val="0"/>
            </a:spcBef>
            <a:spcAft>
              <a:spcPct val="15000"/>
            </a:spcAft>
            <a:buChar char="•"/>
          </a:pPr>
          <a:r>
            <a:rPr lang="fr-FR" sz="1300" kern="1200" dirty="0"/>
            <a:t>Ratio d'inscription brut dans le tertiaire, tous âges confondus</a:t>
          </a:r>
        </a:p>
      </dsp:txBody>
      <dsp:txXfrm rot="-5400000">
        <a:off x="3970782" y="1912222"/>
        <a:ext cx="7036475" cy="419483"/>
      </dsp:txXfrm>
    </dsp:sp>
    <dsp:sp modelId="{5FE218E4-C294-47CC-AA39-60B86A629E2E}">
      <dsp:nvSpPr>
        <dsp:cNvPr id="0" name=""/>
        <dsp:cNvSpPr/>
      </dsp:nvSpPr>
      <dsp:spPr>
        <a:xfrm>
          <a:off x="0" y="1831420"/>
          <a:ext cx="3970782" cy="581086"/>
        </a:xfrm>
        <a:prstGeom prst="roundRect">
          <a:avLst/>
        </a:prstGeom>
        <a:solidFill>
          <a:schemeClr val="accent4">
            <a:hueOff val="-917013"/>
            <a:satOff val="-6147"/>
            <a:lumOff val="-635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SE.TER.ENRR</a:t>
          </a:r>
        </a:p>
      </dsp:txBody>
      <dsp:txXfrm>
        <a:off x="28366" y="1859786"/>
        <a:ext cx="3914050" cy="524354"/>
      </dsp:txXfrm>
    </dsp:sp>
    <dsp:sp modelId="{1E6E55DC-B4F9-4341-B8BA-9633D8E7387A}">
      <dsp:nvSpPr>
        <dsp:cNvPr id="0" name=""/>
        <dsp:cNvSpPr/>
      </dsp:nvSpPr>
      <dsp:spPr>
        <a:xfrm rot="5400000">
          <a:off x="7267931" y="-797479"/>
          <a:ext cx="464869" cy="7059168"/>
        </a:xfrm>
        <a:prstGeom prst="round2SameRect">
          <a:avLst/>
        </a:prstGeom>
        <a:solidFill>
          <a:schemeClr val="accent4">
            <a:tint val="40000"/>
            <a:alpha val="90000"/>
            <a:hueOff val="-1158661"/>
            <a:satOff val="-15862"/>
            <a:lumOff val="-2101"/>
            <a:alphaOff val="0"/>
          </a:schemeClr>
        </a:solidFill>
        <a:ln w="22225" cap="rnd" cmpd="sng" algn="ctr">
          <a:solidFill>
            <a:schemeClr val="accent4">
              <a:tint val="40000"/>
              <a:alpha val="90000"/>
              <a:hueOff val="-1158661"/>
              <a:satOff val="-15862"/>
              <a:lumOff val="-210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Anticipe l’évolution du marché secondaire d’ici 2030</a:t>
          </a:r>
        </a:p>
        <a:p>
          <a:pPr marL="114300" lvl="1" indent="-114300" algn="l" defTabSz="577850">
            <a:lnSpc>
              <a:spcPct val="90000"/>
            </a:lnSpc>
            <a:spcBef>
              <a:spcPct val="0"/>
            </a:spcBef>
            <a:spcAft>
              <a:spcPct val="15000"/>
            </a:spcAft>
            <a:buChar char="•"/>
          </a:pPr>
          <a:r>
            <a:rPr lang="fr-FR" sz="1300" kern="1200" dirty="0"/>
            <a:t>Part projeté de la population 15 ans et + atteignant le niveau secondaire supérieur (2015-2030)</a:t>
          </a:r>
        </a:p>
      </dsp:txBody>
      <dsp:txXfrm rot="-5400000">
        <a:off x="3970782" y="2522363"/>
        <a:ext cx="7036475" cy="419483"/>
      </dsp:txXfrm>
    </dsp:sp>
    <dsp:sp modelId="{EECDF362-F104-43E9-B3A0-C66F151C2304}">
      <dsp:nvSpPr>
        <dsp:cNvPr id="0" name=""/>
        <dsp:cNvSpPr/>
      </dsp:nvSpPr>
      <dsp:spPr>
        <a:xfrm>
          <a:off x="0" y="2441561"/>
          <a:ext cx="3970782" cy="581086"/>
        </a:xfrm>
        <a:prstGeom prst="roundRect">
          <a:avLst/>
        </a:prstGeom>
        <a:solidFill>
          <a:schemeClr val="accent4">
            <a:hueOff val="-1222684"/>
            <a:satOff val="-8196"/>
            <a:lumOff val="-847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PRJ.ATT.15UP.3.MF</a:t>
          </a:r>
        </a:p>
      </dsp:txBody>
      <dsp:txXfrm>
        <a:off x="28366" y="2469927"/>
        <a:ext cx="3914050" cy="524354"/>
      </dsp:txXfrm>
    </dsp:sp>
    <dsp:sp modelId="{71E2FB23-5F3C-46F1-B0B2-10BF2EC50626}">
      <dsp:nvSpPr>
        <dsp:cNvPr id="0" name=""/>
        <dsp:cNvSpPr/>
      </dsp:nvSpPr>
      <dsp:spPr>
        <a:xfrm rot="5400000">
          <a:off x="7267931" y="-187338"/>
          <a:ext cx="464869" cy="7059168"/>
        </a:xfrm>
        <a:prstGeom prst="round2SameRect">
          <a:avLst/>
        </a:prstGeom>
        <a:solidFill>
          <a:schemeClr val="accent4">
            <a:tint val="40000"/>
            <a:alpha val="90000"/>
            <a:hueOff val="-1448327"/>
            <a:satOff val="-19828"/>
            <a:lumOff val="-2626"/>
            <a:alphaOff val="0"/>
          </a:schemeClr>
        </a:solidFill>
        <a:ln w="22225" cap="rnd" cmpd="sng" algn="ctr">
          <a:solidFill>
            <a:schemeClr val="accent4">
              <a:tint val="40000"/>
              <a:alpha val="90000"/>
              <a:hueOff val="-1448327"/>
              <a:satOff val="-19828"/>
              <a:lumOff val="-26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fr-FR" sz="1300" kern="1200" dirty="0"/>
            <a:t>Anticipe la croissance du marché universitaire à horizon 2030</a:t>
          </a:r>
        </a:p>
        <a:p>
          <a:pPr marL="114300" lvl="1" indent="-114300" algn="l" defTabSz="577850">
            <a:lnSpc>
              <a:spcPct val="90000"/>
            </a:lnSpc>
            <a:spcBef>
              <a:spcPct val="0"/>
            </a:spcBef>
            <a:spcAft>
              <a:spcPct val="15000"/>
            </a:spcAft>
            <a:buChar char="•"/>
          </a:pPr>
          <a:r>
            <a:rPr lang="fr-FR" sz="1300" kern="1200" dirty="0"/>
            <a:t>Part projeté de pop. 15+ ayant atteint le niveau post-bac</a:t>
          </a:r>
        </a:p>
      </dsp:txBody>
      <dsp:txXfrm rot="-5400000">
        <a:off x="3970782" y="3132504"/>
        <a:ext cx="7036475" cy="419483"/>
      </dsp:txXfrm>
    </dsp:sp>
    <dsp:sp modelId="{CD20C397-FD8B-4751-B2C9-1612B340E446}">
      <dsp:nvSpPr>
        <dsp:cNvPr id="0" name=""/>
        <dsp:cNvSpPr/>
      </dsp:nvSpPr>
      <dsp:spPr>
        <a:xfrm>
          <a:off x="0" y="3051702"/>
          <a:ext cx="3970782" cy="581086"/>
        </a:xfrm>
        <a:prstGeom prst="roundRect">
          <a:avLst/>
        </a:prstGeom>
        <a:solidFill>
          <a:schemeClr val="accent4">
            <a:hueOff val="-1528355"/>
            <a:satOff val="-10245"/>
            <a:lumOff val="-10589"/>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kern="1200" dirty="0"/>
            <a:t>PRJ.ATT.15UP.4.MF</a:t>
          </a:r>
        </a:p>
      </dsp:txBody>
      <dsp:txXfrm>
        <a:off x="28366" y="3080068"/>
        <a:ext cx="3914050" cy="52435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FC74BDE-6627-49B6-90F1-0334E723F64C}" type="datetime1">
              <a:rPr lang="fr-FR" smtClean="0"/>
              <a:t>28/04/2026</a:t>
            </a:fld>
            <a:endParaRPr lang="en-US"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28DAF60-E56A-4648-8936-22D801672B6C}" type="datetime1">
              <a:rPr lang="fr-FR" smtClean="0"/>
              <a:t>28/04/2026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 du masque</a:t>
            </a:r>
            <a:endParaRPr lang="en-US"/>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fr-FR"/>
              <a:t>Modifiez le style du titre</a:t>
            </a:r>
            <a:endParaRPr lang="en-US" dirty="0"/>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a:t>Modifiez le style des sous-titres du masque</a:t>
            </a:r>
            <a:endParaRPr lang="en-US" dirty="0"/>
          </a:p>
        </p:txBody>
      </p:sp>
      <p:sp>
        <p:nvSpPr>
          <p:cNvPr id="8" name="Espace réservé de la date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E641DF6C-ECED-4BD8-8025-73323DD5D35C}" type="datetime1">
              <a:rPr lang="fr-FR" smtClean="0"/>
              <a:t>28/04/2026</a:t>
            </a:fld>
            <a:endParaRPr lang="en-US" dirty="0"/>
          </a:p>
        </p:txBody>
      </p:sp>
      <p:sp>
        <p:nvSpPr>
          <p:cNvPr id="9" name="Espace réservé du pied de page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81192" y="702156"/>
            <a:ext cx="11029616" cy="1188720"/>
          </a:xfrm>
        </p:spPr>
        <p:txBody>
          <a:bodyPr rtlCol="0"/>
          <a:lstStyle/>
          <a:p>
            <a:pPr rtl="0"/>
            <a:r>
              <a:rPr lang="fr-FR"/>
              <a:t>Modifiez le style du titre</a:t>
            </a:r>
            <a:endParaRPr lang="en-US" dirty="0"/>
          </a:p>
        </p:txBody>
      </p:sp>
      <p:sp>
        <p:nvSpPr>
          <p:cNvPr id="3" name="Espace réservé du contenu 2"/>
          <p:cNvSpPr>
            <a:spLocks noGrp="1"/>
          </p:cNvSpPr>
          <p:nvPr>
            <p:ph idx="1"/>
          </p:nvPr>
        </p:nvSpPr>
        <p:spPr>
          <a:xfrm>
            <a:off x="581192" y="2340864"/>
            <a:ext cx="11029615" cy="3634486"/>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8" name="Espace réservé de la date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2897033-9A55-4DAC-991D-1FF1921C78B7}" type="datetime1">
              <a:rPr lang="fr-FR" smtClean="0"/>
              <a:t>28/04/2026</a:t>
            </a:fld>
            <a:endParaRPr lang="en-US" dirty="0"/>
          </a:p>
        </p:txBody>
      </p:sp>
      <p:sp>
        <p:nvSpPr>
          <p:cNvPr id="9" name="Espace réservé du pied de page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fr-FR"/>
              <a:t>Modifiez le style du titre</a:t>
            </a:r>
            <a:endParaRPr lang="en-US" dirty="0"/>
          </a:p>
        </p:txBody>
      </p:sp>
      <p:sp>
        <p:nvSpPr>
          <p:cNvPr id="3" name="Espace réservé du texte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a:t>Cliquez pour modifier les styles du texte du masque</a:t>
            </a:r>
          </a:p>
        </p:txBody>
      </p:sp>
      <p:sp>
        <p:nvSpPr>
          <p:cNvPr id="7" name="Espace réservé de la date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A1255F31-5DB3-4925-BA87-822F5B17A2F1}" type="datetime1">
              <a:rPr lang="fr-FR" smtClean="0"/>
              <a:t>28/04/2026</a:t>
            </a:fld>
            <a:endParaRPr lang="en-US" dirty="0"/>
          </a:p>
        </p:txBody>
      </p:sp>
      <p:sp>
        <p:nvSpPr>
          <p:cNvPr id="9" name="Espace réservé du pied de page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81193" y="729658"/>
            <a:ext cx="11029616" cy="988332"/>
          </a:xfrm>
        </p:spPr>
        <p:txBody>
          <a:bodyPr rtlCol="0"/>
          <a:lstStyle/>
          <a:p>
            <a:pPr rtl="0"/>
            <a:r>
              <a:rPr lang="fr-FR"/>
              <a:t>Modifiez le style du titre</a:t>
            </a:r>
            <a:endParaRPr lang="en-US" dirty="0"/>
          </a:p>
        </p:txBody>
      </p:sp>
      <p:sp>
        <p:nvSpPr>
          <p:cNvPr id="3" name="Espace réservé du contenu 2"/>
          <p:cNvSpPr>
            <a:spLocks noGrp="1"/>
          </p:cNvSpPr>
          <p:nvPr>
            <p:ph sz="half" idx="1"/>
          </p:nvPr>
        </p:nvSpPr>
        <p:spPr>
          <a:xfrm>
            <a:off x="581193" y="2228003"/>
            <a:ext cx="5194767" cy="3633047"/>
          </a:xfrm>
        </p:spPr>
        <p:txBody>
          <a:bodyPr rtlCol="0">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contenu 3"/>
          <p:cNvSpPr>
            <a:spLocks noGrp="1"/>
          </p:cNvSpPr>
          <p:nvPr>
            <p:ph sz="half" idx="2"/>
          </p:nvPr>
        </p:nvSpPr>
        <p:spPr>
          <a:xfrm>
            <a:off x="6416039" y="2228003"/>
            <a:ext cx="5194769" cy="3633047"/>
          </a:xfrm>
        </p:spPr>
        <p:txBody>
          <a:bodyPr rtlCol="0">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5" name="Espace réservé de la date 4"/>
          <p:cNvSpPr>
            <a:spLocks noGrp="1"/>
          </p:cNvSpPr>
          <p:nvPr>
            <p:ph type="dt" sz="half" idx="10"/>
          </p:nvPr>
        </p:nvSpPr>
        <p:spPr/>
        <p:txBody>
          <a:bodyPr rtlCol="0"/>
          <a:lstStyle/>
          <a:p>
            <a:pPr rtl="0"/>
            <a:fld id="{7E4EF44C-5F50-4A80-A957-57B3338337C0}" type="datetime1">
              <a:rPr lang="fr-FR" smtClean="0"/>
              <a:t>28/04/2026</a:t>
            </a:fld>
            <a:endParaRPr lang="en-US" dirty="0"/>
          </a:p>
        </p:txBody>
      </p:sp>
      <p:sp>
        <p:nvSpPr>
          <p:cNvPr id="6" name="Espace réservé du pied de page 5"/>
          <p:cNvSpPr>
            <a:spLocks noGrp="1"/>
          </p:cNvSpPr>
          <p:nvPr>
            <p:ph type="ftr" sz="quarter" idx="11"/>
          </p:nvPr>
        </p:nvSpPr>
        <p:spPr/>
        <p:txBody>
          <a:bodyPr rtlCol="0"/>
          <a:lstStyle/>
          <a:p>
            <a:pPr rtl="0"/>
            <a:endParaRPr lang="en-US" dirty="0"/>
          </a:p>
        </p:txBody>
      </p:sp>
      <p:sp>
        <p:nvSpPr>
          <p:cNvPr id="7" name="Espace réservé du numéro de diapositive 6"/>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12" name="Titre 1"/>
          <p:cNvSpPr>
            <a:spLocks noGrp="1"/>
          </p:cNvSpPr>
          <p:nvPr>
            <p:ph type="title"/>
          </p:nvPr>
        </p:nvSpPr>
        <p:spPr>
          <a:xfrm>
            <a:off x="581193" y="729658"/>
            <a:ext cx="11029616" cy="988332"/>
          </a:xfrm>
        </p:spPr>
        <p:txBody>
          <a:bodyPr rtlCol="0"/>
          <a:lstStyle/>
          <a:p>
            <a:pPr rtl="0"/>
            <a:r>
              <a:rPr lang="fr-FR"/>
              <a:t>Modifiez le style du titre</a:t>
            </a:r>
            <a:endParaRPr lang="en-US" dirty="0"/>
          </a:p>
        </p:txBody>
      </p:sp>
      <p:sp>
        <p:nvSpPr>
          <p:cNvPr id="3" name="Espace réservé du texte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a:t>Cliquez pour modifier les styles du texte du masque</a:t>
            </a:r>
          </a:p>
        </p:txBody>
      </p:sp>
      <p:sp>
        <p:nvSpPr>
          <p:cNvPr id="4" name="Espace réservé du contenu 3"/>
          <p:cNvSpPr>
            <a:spLocks noGrp="1"/>
          </p:cNvSpPr>
          <p:nvPr>
            <p:ph sz="half" idx="2"/>
          </p:nvPr>
        </p:nvSpPr>
        <p:spPr>
          <a:xfrm>
            <a:off x="581194" y="2926052"/>
            <a:ext cx="5194766" cy="2934999"/>
          </a:xfrm>
        </p:spPr>
        <p:txBody>
          <a:bodyPr rtlCol="0" anchor="t">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5" name="Espace réservé du texte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fr-FR"/>
              <a:t>Cliquez pour modifier les styles du texte du masque</a:t>
            </a:r>
          </a:p>
        </p:txBody>
      </p:sp>
      <p:sp>
        <p:nvSpPr>
          <p:cNvPr id="6" name="Espace réservé du contenu 5"/>
          <p:cNvSpPr>
            <a:spLocks noGrp="1"/>
          </p:cNvSpPr>
          <p:nvPr>
            <p:ph sz="quarter" idx="4"/>
          </p:nvPr>
        </p:nvSpPr>
        <p:spPr>
          <a:xfrm>
            <a:off x="6416037" y="2926052"/>
            <a:ext cx="5194771" cy="2934999"/>
          </a:xfrm>
        </p:spPr>
        <p:txBody>
          <a:bodyPr rtlCol="0" anchor="t">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7" name="Espace réservé de la date 6"/>
          <p:cNvSpPr>
            <a:spLocks noGrp="1"/>
          </p:cNvSpPr>
          <p:nvPr>
            <p:ph type="dt" sz="half" idx="10"/>
          </p:nvPr>
        </p:nvSpPr>
        <p:spPr/>
        <p:txBody>
          <a:bodyPr rtlCol="0"/>
          <a:lstStyle/>
          <a:p>
            <a:pPr rtl="0"/>
            <a:fld id="{B2D0F46D-59FD-4484-924E-E79DD516B5ED}" type="datetime1">
              <a:rPr lang="fr-FR" smtClean="0"/>
              <a:t>28/04/2026</a:t>
            </a:fld>
            <a:endParaRPr lang="en-US" dirty="0"/>
          </a:p>
        </p:txBody>
      </p:sp>
      <p:sp>
        <p:nvSpPr>
          <p:cNvPr id="8" name="Espace réservé du pied de page 7"/>
          <p:cNvSpPr>
            <a:spLocks noGrp="1"/>
          </p:cNvSpPr>
          <p:nvPr>
            <p:ph type="ftr" sz="quarter" idx="11"/>
          </p:nvPr>
        </p:nvSpPr>
        <p:spPr/>
        <p:txBody>
          <a:bodyPr rtlCol="0"/>
          <a:lstStyle/>
          <a:p>
            <a:pPr rtl="0"/>
            <a:endParaRPr lang="en-US" dirty="0"/>
          </a:p>
        </p:txBody>
      </p:sp>
      <p:sp>
        <p:nvSpPr>
          <p:cNvPr id="9" name="Espace réservé du numéro de diapositive 8"/>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8" name="Titre 1"/>
          <p:cNvSpPr>
            <a:spLocks noGrp="1"/>
          </p:cNvSpPr>
          <p:nvPr>
            <p:ph type="title"/>
          </p:nvPr>
        </p:nvSpPr>
        <p:spPr>
          <a:xfrm>
            <a:off x="575894" y="729658"/>
            <a:ext cx="11029616" cy="988332"/>
          </a:xfrm>
        </p:spPr>
        <p:txBody>
          <a:bodyPr rtlCol="0"/>
          <a:lstStyle/>
          <a:p>
            <a:pPr rtl="0"/>
            <a:r>
              <a:rPr lang="fr-FR"/>
              <a:t>Modifiez le style du titre</a:t>
            </a:r>
            <a:endParaRPr lang="en-US" dirty="0"/>
          </a:p>
        </p:txBody>
      </p:sp>
      <p:sp>
        <p:nvSpPr>
          <p:cNvPr id="3" name="Espace réservé de la date 2"/>
          <p:cNvSpPr>
            <a:spLocks noGrp="1"/>
          </p:cNvSpPr>
          <p:nvPr>
            <p:ph type="dt" sz="half" idx="10"/>
          </p:nvPr>
        </p:nvSpPr>
        <p:spPr/>
        <p:txBody>
          <a:bodyPr rtlCol="0"/>
          <a:lstStyle/>
          <a:p>
            <a:pPr rtl="0"/>
            <a:fld id="{0FAEC910-4AAA-42A1-A49C-7DDC64BC53C6}" type="datetime1">
              <a:rPr lang="fr-FR" smtClean="0"/>
              <a:t>28/04/2026</a:t>
            </a:fld>
            <a:endParaRPr lang="en-US" dirty="0"/>
          </a:p>
        </p:txBody>
      </p:sp>
      <p:sp>
        <p:nvSpPr>
          <p:cNvPr id="4" name="Espace réservé du pied de page 3"/>
          <p:cNvSpPr>
            <a:spLocks noGrp="1"/>
          </p:cNvSpPr>
          <p:nvPr>
            <p:ph type="ftr" sz="quarter" idx="11"/>
          </p:nvPr>
        </p:nvSpPr>
        <p:spPr/>
        <p:txBody>
          <a:bodyPr rtlCol="0"/>
          <a:lstStyle/>
          <a:p>
            <a:pPr rtl="0"/>
            <a:endParaRPr lang="en-US" dirty="0"/>
          </a:p>
        </p:txBody>
      </p:sp>
      <p:sp>
        <p:nvSpPr>
          <p:cNvPr id="5" name="Espace réservé du numéro de diapositive 4"/>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ACEC98BE-FCE2-445F-8146-3A7F8CC3881D}" type="datetime1">
              <a:rPr lang="fr-FR" smtClean="0"/>
              <a:t>28/04/2026</a:t>
            </a:fld>
            <a:endParaRPr lang="en-US" dirty="0"/>
          </a:p>
        </p:txBody>
      </p:sp>
      <p:sp>
        <p:nvSpPr>
          <p:cNvPr id="3" name="Espace réservé du pied de page 2"/>
          <p:cNvSpPr>
            <a:spLocks noGrp="1"/>
          </p:cNvSpPr>
          <p:nvPr>
            <p:ph type="ftr" sz="quarter" idx="11"/>
          </p:nvPr>
        </p:nvSpPr>
        <p:spPr/>
        <p:txBody>
          <a:bodyPr rtlCol="0"/>
          <a:lstStyle/>
          <a:p>
            <a:pPr rtl="0"/>
            <a:endParaRPr lang="en-US" dirty="0"/>
          </a:p>
        </p:txBody>
      </p:sp>
      <p:sp>
        <p:nvSpPr>
          <p:cNvPr id="4" name="Espace réservé du numéro de diapositive 3"/>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fr-FR"/>
              <a:t>Modifiez le style du titre</a:t>
            </a:r>
            <a:endParaRPr lang="en-US" dirty="0"/>
          </a:p>
        </p:txBody>
      </p:sp>
      <p:sp>
        <p:nvSpPr>
          <p:cNvPr id="3" name="Espace réservé du contenu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texte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a:t>Cliquez pour modifier les styles du texte du masque</a:t>
            </a:r>
          </a:p>
        </p:txBody>
      </p:sp>
      <p:sp>
        <p:nvSpPr>
          <p:cNvPr id="8" name="Espace réservé de la date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6D0953DD-A6BD-427D-B7A8-BDE378B2E678}" type="datetime1">
              <a:rPr lang="fr-FR" smtClean="0"/>
              <a:t>28/04/2026</a:t>
            </a:fld>
            <a:endParaRPr lang="en-US" dirty="0"/>
          </a:p>
        </p:txBody>
      </p:sp>
      <p:sp>
        <p:nvSpPr>
          <p:cNvPr id="10" name="Espace réservé du pied de page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Espace réservé du numéro de diapositive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a:t>‹N°›</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fr-FR"/>
              <a:t>Modifiez le style du titre</a:t>
            </a:r>
            <a:endParaRPr lang="en-US" dirty="0"/>
          </a:p>
        </p:txBody>
      </p:sp>
      <p:sp>
        <p:nvSpPr>
          <p:cNvPr id="3" name="Espace réservé d’image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a:t>Cliquez sur l'icône pour ajouter une image</a:t>
            </a:r>
            <a:endParaRPr lang="en-US" dirty="0"/>
          </a:p>
        </p:txBody>
      </p:sp>
      <p:sp>
        <p:nvSpPr>
          <p:cNvPr id="4" name="Espace réservé du texte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a:t>Cliquez pour modifier les styles du texte du masque</a:t>
            </a:r>
          </a:p>
        </p:txBody>
      </p:sp>
      <p:sp>
        <p:nvSpPr>
          <p:cNvPr id="5" name="Espace réservé de la date 4"/>
          <p:cNvSpPr>
            <a:spLocks noGrp="1"/>
          </p:cNvSpPr>
          <p:nvPr>
            <p:ph type="dt" sz="half" idx="10"/>
          </p:nvPr>
        </p:nvSpPr>
        <p:spPr/>
        <p:txBody>
          <a:bodyPr rtlCol="0"/>
          <a:lstStyle/>
          <a:p>
            <a:pPr rtl="0"/>
            <a:fld id="{47E77B56-6788-4F40-A65E-12AFEB3AC095}" type="datetime1">
              <a:rPr lang="fr-FR" smtClean="0"/>
              <a:t>28/04/2026</a:t>
            </a:fld>
            <a:endParaRPr lang="en-US" dirty="0"/>
          </a:p>
        </p:txBody>
      </p:sp>
      <p:sp>
        <p:nvSpPr>
          <p:cNvPr id="6" name="Espace réservé du pied de page 5"/>
          <p:cNvSpPr>
            <a:spLocks noGrp="1"/>
          </p:cNvSpPr>
          <p:nvPr>
            <p:ph type="ftr" sz="quarter" idx="11"/>
          </p:nvPr>
        </p:nvSpPr>
        <p:spPr/>
        <p:txBody>
          <a:bodyPr rtlCol="0"/>
          <a:lstStyle/>
          <a:p>
            <a:pPr algn="l" rtl="0"/>
            <a:endParaRPr lang="en-US" dirty="0"/>
          </a:p>
        </p:txBody>
      </p:sp>
      <p:sp>
        <p:nvSpPr>
          <p:cNvPr id="7" name="Espace réservé du numéro de diapositive 6"/>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9" name="Titre 1"/>
          <p:cNvSpPr>
            <a:spLocks noGrp="1"/>
          </p:cNvSpPr>
          <p:nvPr>
            <p:ph type="title"/>
          </p:nvPr>
        </p:nvSpPr>
        <p:spPr>
          <a:xfrm>
            <a:off x="581192" y="702156"/>
            <a:ext cx="11029616" cy="1013800"/>
          </a:xfrm>
        </p:spPr>
        <p:txBody>
          <a:bodyPr rtlCol="0"/>
          <a:lstStyle/>
          <a:p>
            <a:pPr rtl="0"/>
            <a:r>
              <a:rPr lang="fr-FR"/>
              <a:t>Modifiez le style du titre</a:t>
            </a:r>
            <a:endParaRPr lang="en-US" dirty="0"/>
          </a:p>
        </p:txBody>
      </p:sp>
      <p:sp>
        <p:nvSpPr>
          <p:cNvPr id="3" name="Espace réservé du texte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e la date 3"/>
          <p:cNvSpPr>
            <a:spLocks noGrp="1"/>
          </p:cNvSpPr>
          <p:nvPr>
            <p:ph type="dt" sz="half" idx="10"/>
          </p:nvPr>
        </p:nvSpPr>
        <p:spPr/>
        <p:txBody>
          <a:bodyPr rtlCol="0"/>
          <a:lstStyle/>
          <a:p>
            <a:pPr rtl="0"/>
            <a:fld id="{1E5B03D9-FC89-4784-BD60-336471BA7724}" type="datetime1">
              <a:rPr lang="fr-FR" smtClean="0"/>
              <a:t>28/04/2026</a:t>
            </a:fld>
            <a:endParaRPr lang="en-US" dirty="0"/>
          </a:p>
        </p:txBody>
      </p:sp>
      <p:sp>
        <p:nvSpPr>
          <p:cNvPr id="5" name="Espace réservé du pied de page 4"/>
          <p:cNvSpPr>
            <a:spLocks noGrp="1"/>
          </p:cNvSpPr>
          <p:nvPr>
            <p:ph type="ftr" sz="quarter" idx="11"/>
          </p:nvPr>
        </p:nvSpPr>
        <p:spPr/>
        <p:txBody>
          <a:bodyPr rtlCol="0"/>
          <a:lstStyle/>
          <a:p>
            <a:pPr rtl="0"/>
            <a:endParaRPr lang="en-US" dirty="0"/>
          </a:p>
        </p:txBody>
      </p:sp>
      <p:sp>
        <p:nvSpPr>
          <p:cNvPr id="6" name="Espace réservé du numéro de diapositive 5"/>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fr-FR"/>
              <a:t>Modifiez le style du titre</a:t>
            </a:r>
            <a:endParaRPr lang="en-US" dirty="0"/>
          </a:p>
        </p:txBody>
      </p:sp>
      <p:sp>
        <p:nvSpPr>
          <p:cNvPr id="3" name="Espace réservé du texte vertical 2"/>
          <p:cNvSpPr>
            <a:spLocks noGrp="1"/>
          </p:cNvSpPr>
          <p:nvPr>
            <p:ph type="body" orient="vert" idx="1"/>
          </p:nvPr>
        </p:nvSpPr>
        <p:spPr>
          <a:xfrm>
            <a:off x="774923" y="863600"/>
            <a:ext cx="7161625" cy="4807326"/>
          </a:xfrm>
        </p:spPr>
        <p:txBody>
          <a:bodyPr vert="eaVert" rtlCol="0" anchor="t"/>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Espace réservé de la date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D0216CB3-B929-446C-876F-83C9B86D9FDE}" type="datetime1">
              <a:rPr lang="fr-FR" smtClean="0"/>
              <a:t>28/04/2026</a:t>
            </a:fld>
            <a:endParaRPr lang="en-US" dirty="0"/>
          </a:p>
        </p:txBody>
      </p:sp>
      <p:sp>
        <p:nvSpPr>
          <p:cNvPr id="12" name="Espace réservé du pied de page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Espace réservé du numéro de diapositive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a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
              <a:t>Modifiez le style du titre</a:t>
            </a:r>
            <a:endParaRPr lang="en-US" dirty="0"/>
          </a:p>
        </p:txBody>
      </p:sp>
      <p:sp>
        <p:nvSpPr>
          <p:cNvPr id="3" name="Espace réservé du texte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fr"/>
              <a:t>Modifiez les styles du texte du masque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E69A0D1A-B1A6-4A33-B3AE-513EF3B4A7E7}" type="datetime1">
              <a:rPr lang="fr-FR" smtClean="0"/>
              <a:t>28/04/2026</a:t>
            </a:fld>
            <a:endParaRPr lang="en-US" dirty="0"/>
          </a:p>
        </p:txBody>
      </p:sp>
      <p:sp>
        <p:nvSpPr>
          <p:cNvPr id="5" name="Espace réservé du pied de page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Espace réservé du numéro de diapositive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hyperlink" Target="https://datacatalog.worldbank.org/search/dataset/0038480/education-statistic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rtlCol="0">
            <a:normAutofit/>
          </a:bodyPr>
          <a:lstStyle/>
          <a:p>
            <a:pPr rtl="0"/>
            <a:r>
              <a:rPr lang="fr-FR" dirty="0"/>
              <a:t>Expansion Internationale d’ACADEMY</a:t>
            </a:r>
            <a:endParaRPr lang="fr" dirty="0"/>
          </a:p>
        </p:txBody>
      </p:sp>
      <p:sp>
        <p:nvSpPr>
          <p:cNvPr id="3" name="Sous-titr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rtlCol="0">
            <a:normAutofit fontScale="55000" lnSpcReduction="20000"/>
          </a:bodyPr>
          <a:lstStyle/>
          <a:p>
            <a:pPr rtl="0"/>
            <a:r>
              <a:rPr lang="fr" dirty="0"/>
              <a:t>AnAlyse exploratoire des données éducatives de la Banque Mondiale – EdStats Dataset</a:t>
            </a:r>
          </a:p>
          <a:p>
            <a:pPr rtl="0"/>
            <a:r>
              <a:rPr lang="fr" dirty="0"/>
              <a:t>SEBASTIEN ULESIE</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Image 5" descr="Zoom sur un logo&#10;&#10;Description générée automatiquement">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0581BB-D273-2748-59E2-5B1D678D7EE0}"/>
              </a:ext>
            </a:extLst>
          </p:cNvPr>
          <p:cNvSpPr>
            <a:spLocks noGrp="1"/>
          </p:cNvSpPr>
          <p:nvPr>
            <p:ph type="title"/>
          </p:nvPr>
        </p:nvSpPr>
        <p:spPr/>
        <p:txBody>
          <a:bodyPr/>
          <a:lstStyle/>
          <a:p>
            <a:r>
              <a:rPr lang="fr-FR" dirty="0"/>
              <a:t>Sommaire</a:t>
            </a:r>
          </a:p>
        </p:txBody>
      </p:sp>
      <p:graphicFrame>
        <p:nvGraphicFramePr>
          <p:cNvPr id="5" name="Espace réservé du contenu 4">
            <a:extLst>
              <a:ext uri="{FF2B5EF4-FFF2-40B4-BE49-F238E27FC236}">
                <a16:creationId xmlns:a16="http://schemas.microsoft.com/office/drawing/2014/main" id="{C0FBDBC2-024B-60B6-BEE4-9D4312913FE4}"/>
              </a:ext>
            </a:extLst>
          </p:cNvPr>
          <p:cNvGraphicFramePr>
            <a:graphicFrameLocks noGrp="1"/>
          </p:cNvGraphicFramePr>
          <p:nvPr>
            <p:ph idx="1"/>
            <p:extLst>
              <p:ext uri="{D42A27DB-BD31-4B8C-83A1-F6EECF244321}">
                <p14:modId xmlns:p14="http://schemas.microsoft.com/office/powerpoint/2010/main" val="2514803867"/>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AFB99B3D-02B8-72CA-5973-9E0DC630CA85}"/>
              </a:ext>
            </a:extLst>
          </p:cNvPr>
          <p:cNvSpPr>
            <a:spLocks noGrp="1"/>
          </p:cNvSpPr>
          <p:nvPr>
            <p:ph type="dt" sz="half" idx="10"/>
          </p:nvPr>
        </p:nvSpPr>
        <p:spPr>
          <a:xfrm>
            <a:off x="7605951" y="6423914"/>
            <a:ext cx="4004857" cy="365125"/>
          </a:xfrm>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2393101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8A8E96C1-9811-3ACC-FF1D-1EEC39DA4532}"/>
              </a:ext>
            </a:extLst>
          </p:cNvPr>
          <p:cNvSpPr>
            <a:spLocks noGrp="1"/>
          </p:cNvSpPr>
          <p:nvPr>
            <p:ph type="title"/>
          </p:nvPr>
        </p:nvSpPr>
        <p:spPr/>
        <p:txBody>
          <a:bodyPr/>
          <a:lstStyle/>
          <a:p>
            <a:r>
              <a:rPr lang="fr-FR" dirty="0"/>
              <a:t>1- Présentation du projet et des données</a:t>
            </a:r>
            <a:br>
              <a:rPr lang="fr-FR" dirty="0"/>
            </a:br>
            <a:endParaRPr lang="fr-FR" dirty="0"/>
          </a:p>
        </p:txBody>
      </p:sp>
      <p:sp>
        <p:nvSpPr>
          <p:cNvPr id="6" name="Espace réservé du texte 5">
            <a:extLst>
              <a:ext uri="{FF2B5EF4-FFF2-40B4-BE49-F238E27FC236}">
                <a16:creationId xmlns:a16="http://schemas.microsoft.com/office/drawing/2014/main" id="{D618CEA4-6C78-EB84-913F-1CFCD06F201A}"/>
              </a:ext>
            </a:extLst>
          </p:cNvPr>
          <p:cNvSpPr>
            <a:spLocks noGrp="1"/>
          </p:cNvSpPr>
          <p:nvPr>
            <p:ph type="body" idx="1"/>
          </p:nvPr>
        </p:nvSpPr>
        <p:spPr/>
        <p:txBody>
          <a:bodyPr/>
          <a:lstStyle/>
          <a:p>
            <a:r>
              <a:rPr lang="fr-FR" dirty="0"/>
              <a:t>Start UP </a:t>
            </a:r>
            <a:r>
              <a:rPr lang="fr-FR" dirty="0" err="1"/>
              <a:t>Academy</a:t>
            </a:r>
            <a:r>
              <a:rPr lang="fr-FR" dirty="0"/>
              <a:t> &amp; données Banque Mondiale</a:t>
            </a:r>
          </a:p>
        </p:txBody>
      </p:sp>
      <p:sp>
        <p:nvSpPr>
          <p:cNvPr id="4" name="Espace réservé de la date 3">
            <a:extLst>
              <a:ext uri="{FF2B5EF4-FFF2-40B4-BE49-F238E27FC236}">
                <a16:creationId xmlns:a16="http://schemas.microsoft.com/office/drawing/2014/main" id="{0869B20C-8811-E032-411C-E9B241C3E33A}"/>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36242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943B5-2F35-F9C9-051D-7DF4E3212622}"/>
              </a:ext>
            </a:extLst>
          </p:cNvPr>
          <p:cNvSpPr>
            <a:spLocks noGrp="1"/>
          </p:cNvSpPr>
          <p:nvPr>
            <p:ph type="title"/>
          </p:nvPr>
        </p:nvSpPr>
        <p:spPr/>
        <p:txBody>
          <a:bodyPr/>
          <a:lstStyle/>
          <a:p>
            <a:r>
              <a:rPr lang="fr-FR" dirty="0"/>
              <a:t>Contexte du projet</a:t>
            </a:r>
          </a:p>
        </p:txBody>
      </p:sp>
      <p:graphicFrame>
        <p:nvGraphicFramePr>
          <p:cNvPr id="5" name="Espace réservé du contenu 4">
            <a:extLst>
              <a:ext uri="{FF2B5EF4-FFF2-40B4-BE49-F238E27FC236}">
                <a16:creationId xmlns:a16="http://schemas.microsoft.com/office/drawing/2014/main" id="{F96D2D20-425B-B92D-8861-294A7D3C36CA}"/>
              </a:ext>
            </a:extLst>
          </p:cNvPr>
          <p:cNvGraphicFramePr>
            <a:graphicFrameLocks noGrp="1"/>
          </p:cNvGraphicFramePr>
          <p:nvPr>
            <p:ph idx="1"/>
            <p:extLst>
              <p:ext uri="{D42A27DB-BD31-4B8C-83A1-F6EECF244321}">
                <p14:modId xmlns:p14="http://schemas.microsoft.com/office/powerpoint/2010/main" val="341599603"/>
              </p:ext>
            </p:extLst>
          </p:nvPr>
        </p:nvGraphicFramePr>
        <p:xfrm>
          <a:off x="581192" y="2205836"/>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73B45894-BF0A-B7E8-B359-57B63E483EA9}"/>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3103448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F029E-C20D-FC80-6B16-21EC7B080C6C}"/>
              </a:ext>
            </a:extLst>
          </p:cNvPr>
          <p:cNvSpPr>
            <a:spLocks noGrp="1"/>
          </p:cNvSpPr>
          <p:nvPr>
            <p:ph type="title"/>
          </p:nvPr>
        </p:nvSpPr>
        <p:spPr/>
        <p:txBody>
          <a:bodyPr/>
          <a:lstStyle/>
          <a:p>
            <a:r>
              <a:rPr lang="fr-FR" dirty="0"/>
              <a:t>Présentation des jeux de données</a:t>
            </a:r>
          </a:p>
        </p:txBody>
      </p:sp>
      <p:graphicFrame>
        <p:nvGraphicFramePr>
          <p:cNvPr id="5" name="Espace réservé du contenu 4">
            <a:extLst>
              <a:ext uri="{FF2B5EF4-FFF2-40B4-BE49-F238E27FC236}">
                <a16:creationId xmlns:a16="http://schemas.microsoft.com/office/drawing/2014/main" id="{29F220F8-F9C6-5DCA-57BB-55688A713E18}"/>
              </a:ext>
            </a:extLst>
          </p:cNvPr>
          <p:cNvGraphicFramePr>
            <a:graphicFrameLocks noGrp="1"/>
          </p:cNvGraphicFramePr>
          <p:nvPr>
            <p:ph idx="1"/>
            <p:extLst>
              <p:ext uri="{D42A27DB-BD31-4B8C-83A1-F6EECF244321}">
                <p14:modId xmlns:p14="http://schemas.microsoft.com/office/powerpoint/2010/main" val="3189738567"/>
              </p:ext>
            </p:extLst>
          </p:nvPr>
        </p:nvGraphicFramePr>
        <p:xfrm>
          <a:off x="581025" y="2189161"/>
          <a:ext cx="11029948" cy="3571240"/>
        </p:xfrm>
        <a:graphic>
          <a:graphicData uri="http://schemas.openxmlformats.org/drawingml/2006/table">
            <a:tbl>
              <a:tblPr firstRow="1" bandRow="1">
                <a:tableStyleId>{69C7853C-536D-4A76-A0AE-DD22124D55A5}</a:tableStyleId>
              </a:tblPr>
              <a:tblGrid>
                <a:gridCol w="2757487">
                  <a:extLst>
                    <a:ext uri="{9D8B030D-6E8A-4147-A177-3AD203B41FA5}">
                      <a16:colId xmlns:a16="http://schemas.microsoft.com/office/drawing/2014/main" val="2385055389"/>
                    </a:ext>
                  </a:extLst>
                </a:gridCol>
                <a:gridCol w="1143841">
                  <a:extLst>
                    <a:ext uri="{9D8B030D-6E8A-4147-A177-3AD203B41FA5}">
                      <a16:colId xmlns:a16="http://schemas.microsoft.com/office/drawing/2014/main" val="3406474743"/>
                    </a:ext>
                  </a:extLst>
                </a:gridCol>
                <a:gridCol w="1425388">
                  <a:extLst>
                    <a:ext uri="{9D8B030D-6E8A-4147-A177-3AD203B41FA5}">
                      <a16:colId xmlns:a16="http://schemas.microsoft.com/office/drawing/2014/main" val="3864728665"/>
                    </a:ext>
                  </a:extLst>
                </a:gridCol>
                <a:gridCol w="5703232">
                  <a:extLst>
                    <a:ext uri="{9D8B030D-6E8A-4147-A177-3AD203B41FA5}">
                      <a16:colId xmlns:a16="http://schemas.microsoft.com/office/drawing/2014/main" val="2751491777"/>
                    </a:ext>
                  </a:extLst>
                </a:gridCol>
              </a:tblGrid>
              <a:tr h="370840">
                <a:tc>
                  <a:txBody>
                    <a:bodyPr/>
                    <a:lstStyle/>
                    <a:p>
                      <a:r>
                        <a:rPr lang="fr-FR" dirty="0"/>
                        <a:t>Fichier</a:t>
                      </a:r>
                    </a:p>
                  </a:txBody>
                  <a:tcPr/>
                </a:tc>
                <a:tc>
                  <a:txBody>
                    <a:bodyPr/>
                    <a:lstStyle/>
                    <a:p>
                      <a:r>
                        <a:rPr lang="fr-FR" dirty="0"/>
                        <a:t>Nb lignes</a:t>
                      </a:r>
                    </a:p>
                  </a:txBody>
                  <a:tcPr/>
                </a:tc>
                <a:tc>
                  <a:txBody>
                    <a:bodyPr/>
                    <a:lstStyle/>
                    <a:p>
                      <a:r>
                        <a:rPr lang="fr-FR" dirty="0"/>
                        <a:t>Nb Colonnes</a:t>
                      </a:r>
                    </a:p>
                  </a:txBody>
                  <a:tcPr/>
                </a:tc>
                <a:tc>
                  <a:txBody>
                    <a:bodyPr/>
                    <a:lstStyle/>
                    <a:p>
                      <a:r>
                        <a:rPr lang="fr-FR" dirty="0"/>
                        <a:t>Rôle dans l’analyse</a:t>
                      </a:r>
                    </a:p>
                  </a:txBody>
                  <a:tcPr/>
                </a:tc>
                <a:extLst>
                  <a:ext uri="{0D108BD9-81ED-4DB2-BD59-A6C34878D82A}">
                    <a16:rowId xmlns:a16="http://schemas.microsoft.com/office/drawing/2014/main" val="3727207303"/>
                  </a:ext>
                </a:extLst>
              </a:tr>
              <a:tr h="370840">
                <a:tc>
                  <a:txBody>
                    <a:bodyPr/>
                    <a:lstStyle/>
                    <a:p>
                      <a:r>
                        <a:rPr lang="fr-FR" dirty="0"/>
                        <a:t>EdStatsCountry-Series.csv</a:t>
                      </a:r>
                    </a:p>
                  </a:txBody>
                  <a:tcPr/>
                </a:tc>
                <a:tc>
                  <a:txBody>
                    <a:bodyPr/>
                    <a:lstStyle/>
                    <a:p>
                      <a:pPr algn="ctr"/>
                      <a:r>
                        <a:rPr lang="fr-FR" dirty="0"/>
                        <a:t>613</a:t>
                      </a:r>
                    </a:p>
                  </a:txBody>
                  <a:tcPr/>
                </a:tc>
                <a:tc>
                  <a:txBody>
                    <a:bodyPr/>
                    <a:lstStyle/>
                    <a:p>
                      <a:pPr algn="ctr"/>
                      <a:r>
                        <a:rPr lang="fr-FR" dirty="0"/>
                        <a:t>4</a:t>
                      </a:r>
                    </a:p>
                  </a:txBody>
                  <a:tcPr/>
                </a:tc>
                <a:tc>
                  <a:txBody>
                    <a:bodyPr/>
                    <a:lstStyle/>
                    <a:p>
                      <a:r>
                        <a:rPr lang="fr-FR" dirty="0"/>
                        <a:t>Liens pays/indicateurs : non retenu dans l'analyse (topics non éducatifs).</a:t>
                      </a:r>
                    </a:p>
                  </a:txBody>
                  <a:tcPr/>
                </a:tc>
                <a:extLst>
                  <a:ext uri="{0D108BD9-81ED-4DB2-BD59-A6C34878D82A}">
                    <a16:rowId xmlns:a16="http://schemas.microsoft.com/office/drawing/2014/main" val="1642812678"/>
                  </a:ext>
                </a:extLst>
              </a:tr>
              <a:tr h="370840">
                <a:tc>
                  <a:txBody>
                    <a:bodyPr/>
                    <a:lstStyle/>
                    <a:p>
                      <a:r>
                        <a:rPr lang="fr-FR" dirty="0"/>
                        <a:t>EdStatsCountry.csv</a:t>
                      </a:r>
                    </a:p>
                  </a:txBody>
                  <a:tcPr/>
                </a:tc>
                <a:tc>
                  <a:txBody>
                    <a:bodyPr/>
                    <a:lstStyle/>
                    <a:p>
                      <a:pPr algn="ctr"/>
                      <a:r>
                        <a:rPr lang="fr-FR" dirty="0"/>
                        <a:t>241</a:t>
                      </a:r>
                    </a:p>
                  </a:txBody>
                  <a:tcPr/>
                </a:tc>
                <a:tc>
                  <a:txBody>
                    <a:bodyPr/>
                    <a:lstStyle/>
                    <a:p>
                      <a:pPr algn="ctr"/>
                      <a:r>
                        <a:rPr lang="fr-FR" dirty="0"/>
                        <a:t>32</a:t>
                      </a:r>
                    </a:p>
                  </a:txBody>
                  <a:tcPr/>
                </a:tc>
                <a:tc>
                  <a:txBody>
                    <a:bodyPr/>
                    <a:lstStyle/>
                    <a:p>
                      <a:r>
                        <a:rPr lang="fr-FR" dirty="0"/>
                        <a:t>Informations sur les pays : code du pays, région, groupe de revenus, recensement, etc.</a:t>
                      </a:r>
                    </a:p>
                  </a:txBody>
                  <a:tcPr/>
                </a:tc>
                <a:extLst>
                  <a:ext uri="{0D108BD9-81ED-4DB2-BD59-A6C34878D82A}">
                    <a16:rowId xmlns:a16="http://schemas.microsoft.com/office/drawing/2014/main" val="3642251114"/>
                  </a:ext>
                </a:extLst>
              </a:tr>
              <a:tr h="370840">
                <a:tc>
                  <a:txBody>
                    <a:bodyPr/>
                    <a:lstStyle/>
                    <a:p>
                      <a:r>
                        <a:rPr lang="fr-FR" dirty="0"/>
                        <a:t>EdStatsData.csv</a:t>
                      </a:r>
                    </a:p>
                  </a:txBody>
                  <a:tcPr/>
                </a:tc>
                <a:tc>
                  <a:txBody>
                    <a:bodyPr/>
                    <a:lstStyle/>
                    <a:p>
                      <a:pPr algn="ctr"/>
                      <a:r>
                        <a:rPr lang="fr-FR" dirty="0"/>
                        <a:t>886930</a:t>
                      </a:r>
                    </a:p>
                  </a:txBody>
                  <a:tcPr/>
                </a:tc>
                <a:tc>
                  <a:txBody>
                    <a:bodyPr/>
                    <a:lstStyle/>
                    <a:p>
                      <a:pPr algn="ctr"/>
                      <a:r>
                        <a:rPr lang="fr-FR" dirty="0"/>
                        <a:t>70</a:t>
                      </a:r>
                    </a:p>
                  </a:txBody>
                  <a:tcPr/>
                </a:tc>
                <a:tc>
                  <a:txBody>
                    <a:bodyPr/>
                    <a:lstStyle/>
                    <a:p>
                      <a:r>
                        <a:rPr lang="fr-FR" b="1" dirty="0"/>
                        <a:t>CENTRAL : Valeurs de chaque indicateur par pays et par année (1970–2100)</a:t>
                      </a:r>
                    </a:p>
                  </a:txBody>
                  <a:tcPr/>
                </a:tc>
                <a:extLst>
                  <a:ext uri="{0D108BD9-81ED-4DB2-BD59-A6C34878D82A}">
                    <a16:rowId xmlns:a16="http://schemas.microsoft.com/office/drawing/2014/main" val="4190063950"/>
                  </a:ext>
                </a:extLst>
              </a:tr>
              <a:tr h="370840">
                <a:tc>
                  <a:txBody>
                    <a:bodyPr/>
                    <a:lstStyle/>
                    <a:p>
                      <a:r>
                        <a:rPr lang="fr-FR" dirty="0"/>
                        <a:t>EdStatsFootNote.csv</a:t>
                      </a:r>
                    </a:p>
                  </a:txBody>
                  <a:tcPr/>
                </a:tc>
                <a:tc>
                  <a:txBody>
                    <a:bodyPr/>
                    <a:lstStyle/>
                    <a:p>
                      <a:pPr algn="ctr"/>
                      <a:r>
                        <a:rPr lang="fr-FR" dirty="0"/>
                        <a:t>643638</a:t>
                      </a:r>
                    </a:p>
                  </a:txBody>
                  <a:tcPr/>
                </a:tc>
                <a:tc>
                  <a:txBody>
                    <a:bodyPr/>
                    <a:lstStyle/>
                    <a:p>
                      <a:pPr algn="ctr"/>
                      <a:r>
                        <a:rPr lang="fr-FR" dirty="0"/>
                        <a:t>5</a:t>
                      </a:r>
                    </a:p>
                  </a:txBody>
                  <a:tcPr/>
                </a:tc>
                <a:tc>
                  <a:txBody>
                    <a:bodyPr/>
                    <a:lstStyle/>
                    <a:p>
                      <a:r>
                        <a:rPr lang="fr-FR" dirty="0"/>
                        <a:t>Qualité des données : source de chaque valeur (donnée du pays, estimation du pays, estimation de l’UNESCO…)</a:t>
                      </a:r>
                    </a:p>
                  </a:txBody>
                  <a:tcPr/>
                </a:tc>
                <a:extLst>
                  <a:ext uri="{0D108BD9-81ED-4DB2-BD59-A6C34878D82A}">
                    <a16:rowId xmlns:a16="http://schemas.microsoft.com/office/drawing/2014/main" val="1365100347"/>
                  </a:ext>
                </a:extLst>
              </a:tr>
              <a:tr h="370840">
                <a:tc>
                  <a:txBody>
                    <a:bodyPr/>
                    <a:lstStyle/>
                    <a:p>
                      <a:r>
                        <a:rPr lang="fr-FR" dirty="0"/>
                        <a:t>EdStatsSeries.csv</a:t>
                      </a:r>
                    </a:p>
                  </a:txBody>
                  <a:tcPr/>
                </a:tc>
                <a:tc>
                  <a:txBody>
                    <a:bodyPr/>
                    <a:lstStyle/>
                    <a:p>
                      <a:pPr algn="ctr"/>
                      <a:r>
                        <a:rPr lang="fr-FR" dirty="0"/>
                        <a:t>3665</a:t>
                      </a:r>
                    </a:p>
                  </a:txBody>
                  <a:tcPr/>
                </a:tc>
                <a:tc>
                  <a:txBody>
                    <a:bodyPr/>
                    <a:lstStyle/>
                    <a:p>
                      <a:pPr algn="ctr"/>
                      <a:r>
                        <a:rPr lang="fr-FR" dirty="0"/>
                        <a:t>21</a:t>
                      </a:r>
                    </a:p>
                  </a:txBody>
                  <a:tcPr/>
                </a:tc>
                <a:tc>
                  <a:txBody>
                    <a:bodyPr/>
                    <a:lstStyle/>
                    <a:p>
                      <a:r>
                        <a:rPr lang="fr-FR" dirty="0"/>
                        <a:t>Définition et topic de chaque indicateur, notamment éducatif.</a:t>
                      </a:r>
                    </a:p>
                  </a:txBody>
                  <a:tcPr/>
                </a:tc>
                <a:extLst>
                  <a:ext uri="{0D108BD9-81ED-4DB2-BD59-A6C34878D82A}">
                    <a16:rowId xmlns:a16="http://schemas.microsoft.com/office/drawing/2014/main" val="295600257"/>
                  </a:ext>
                </a:extLst>
              </a:tr>
            </a:tbl>
          </a:graphicData>
        </a:graphic>
      </p:graphicFrame>
      <p:sp>
        <p:nvSpPr>
          <p:cNvPr id="4" name="Espace réservé de la date 3">
            <a:extLst>
              <a:ext uri="{FF2B5EF4-FFF2-40B4-BE49-F238E27FC236}">
                <a16:creationId xmlns:a16="http://schemas.microsoft.com/office/drawing/2014/main" id="{B47D3905-5571-80C8-8D93-3691E4B98A9D}"/>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
        <p:nvSpPr>
          <p:cNvPr id="6" name="ZoneTexte 5">
            <a:extLst>
              <a:ext uri="{FF2B5EF4-FFF2-40B4-BE49-F238E27FC236}">
                <a16:creationId xmlns:a16="http://schemas.microsoft.com/office/drawing/2014/main" id="{0158A809-7A08-5C6A-E0A5-8AE42501489B}"/>
              </a:ext>
            </a:extLst>
          </p:cNvPr>
          <p:cNvSpPr txBox="1"/>
          <p:nvPr/>
        </p:nvSpPr>
        <p:spPr>
          <a:xfrm>
            <a:off x="502021" y="5892020"/>
            <a:ext cx="10954871" cy="830997"/>
          </a:xfrm>
          <a:prstGeom prst="rect">
            <a:avLst/>
          </a:prstGeom>
          <a:noFill/>
        </p:spPr>
        <p:txBody>
          <a:bodyPr wrap="square" rtlCol="0">
            <a:spAutoFit/>
          </a:bodyPr>
          <a:lstStyle/>
          <a:p>
            <a:r>
              <a:rPr lang="fr-FR" sz="1600" dirty="0"/>
              <a:t>Taille des jeux de données avant nettoyage</a:t>
            </a:r>
          </a:p>
          <a:p>
            <a:r>
              <a:rPr lang="fr-FR" sz="1600" dirty="0"/>
              <a:t>Source: Banque Mondiale </a:t>
            </a:r>
            <a:r>
              <a:rPr lang="fr-FR" sz="1600" dirty="0">
                <a:hlinkClick r:id="rId2"/>
              </a:rPr>
              <a:t>https://datacatalog.worldbank.org/search/dataset/0038480/education-statistics</a:t>
            </a:r>
            <a:endParaRPr lang="fr-FR" sz="1600" dirty="0"/>
          </a:p>
          <a:p>
            <a:endParaRPr lang="fr-FR" sz="1600" dirty="0"/>
          </a:p>
        </p:txBody>
      </p:sp>
    </p:spTree>
    <p:extLst>
      <p:ext uri="{BB962C8B-B14F-4D97-AF65-F5344CB8AC3E}">
        <p14:creationId xmlns:p14="http://schemas.microsoft.com/office/powerpoint/2010/main" val="2225267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4E470-DBEA-3E3E-B4CC-DBD8051622DD}"/>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FD4FEEA7-085A-AEEF-2CB5-036C48A62D51}"/>
              </a:ext>
            </a:extLst>
          </p:cNvPr>
          <p:cNvSpPr>
            <a:spLocks noGrp="1"/>
          </p:cNvSpPr>
          <p:nvPr>
            <p:ph type="title"/>
          </p:nvPr>
        </p:nvSpPr>
        <p:spPr/>
        <p:txBody>
          <a:bodyPr/>
          <a:lstStyle/>
          <a:p>
            <a:r>
              <a:rPr lang="fr-FR" dirty="0"/>
              <a:t>2- Méthodologie de nettoyage et de réduction</a:t>
            </a:r>
            <a:br>
              <a:rPr lang="fr-FR" dirty="0"/>
            </a:br>
            <a:endParaRPr lang="fr-FR" dirty="0"/>
          </a:p>
        </p:txBody>
      </p:sp>
      <p:sp>
        <p:nvSpPr>
          <p:cNvPr id="6" name="Espace réservé du texte 5">
            <a:extLst>
              <a:ext uri="{FF2B5EF4-FFF2-40B4-BE49-F238E27FC236}">
                <a16:creationId xmlns:a16="http://schemas.microsoft.com/office/drawing/2014/main" id="{CD8021E2-B0EB-4ABA-3DE7-76652EBD8992}"/>
              </a:ext>
            </a:extLst>
          </p:cNvPr>
          <p:cNvSpPr>
            <a:spLocks noGrp="1"/>
          </p:cNvSpPr>
          <p:nvPr>
            <p:ph type="body" idx="1"/>
          </p:nvPr>
        </p:nvSpPr>
        <p:spPr/>
        <p:txBody>
          <a:bodyPr/>
          <a:lstStyle/>
          <a:p>
            <a:r>
              <a:rPr lang="fr-FR" dirty="0"/>
              <a:t>Assainissement et filtrage, réduction des indicateurs</a:t>
            </a:r>
          </a:p>
        </p:txBody>
      </p:sp>
      <p:sp>
        <p:nvSpPr>
          <p:cNvPr id="4" name="Espace réservé de la date 3">
            <a:extLst>
              <a:ext uri="{FF2B5EF4-FFF2-40B4-BE49-F238E27FC236}">
                <a16:creationId xmlns:a16="http://schemas.microsoft.com/office/drawing/2014/main" id="{B6873E66-0882-EFC4-5AE0-734DD6107141}"/>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295549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DF19B0-E62C-E08E-907D-B92335D2C8BD}"/>
              </a:ext>
            </a:extLst>
          </p:cNvPr>
          <p:cNvSpPr>
            <a:spLocks noGrp="1"/>
          </p:cNvSpPr>
          <p:nvPr>
            <p:ph type="title"/>
          </p:nvPr>
        </p:nvSpPr>
        <p:spPr/>
        <p:txBody>
          <a:bodyPr/>
          <a:lstStyle/>
          <a:p>
            <a:r>
              <a:rPr lang="fr-FR" dirty="0"/>
              <a:t>Nettoyage et réduction des données</a:t>
            </a:r>
          </a:p>
        </p:txBody>
      </p:sp>
      <p:graphicFrame>
        <p:nvGraphicFramePr>
          <p:cNvPr id="5" name="Espace réservé du contenu 4">
            <a:extLst>
              <a:ext uri="{FF2B5EF4-FFF2-40B4-BE49-F238E27FC236}">
                <a16:creationId xmlns:a16="http://schemas.microsoft.com/office/drawing/2014/main" id="{6F23C268-4E2B-85BD-8EE6-09F0F33E4D24}"/>
              </a:ext>
            </a:extLst>
          </p:cNvPr>
          <p:cNvGraphicFramePr>
            <a:graphicFrameLocks noGrp="1"/>
          </p:cNvGraphicFramePr>
          <p:nvPr>
            <p:ph idx="1"/>
            <p:extLst>
              <p:ext uri="{D42A27DB-BD31-4B8C-83A1-F6EECF244321}">
                <p14:modId xmlns:p14="http://schemas.microsoft.com/office/powerpoint/2010/main" val="1734073827"/>
              </p:ext>
            </p:extLst>
          </p:nvPr>
        </p:nvGraphicFramePr>
        <p:xfrm>
          <a:off x="977451" y="1890876"/>
          <a:ext cx="10237097" cy="47866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EC284908-15E9-46E2-37AF-EAFFF05BA19C}"/>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3067786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FA33-D793-D5F6-7682-39079E980FD2}"/>
            </a:ext>
          </a:extLst>
        </p:cNvPr>
        <p:cNvGrpSpPr/>
        <p:nvPr/>
      </p:nvGrpSpPr>
      <p:grpSpPr>
        <a:xfrm>
          <a:off x="0" y="0"/>
          <a:ext cx="0" cy="0"/>
          <a:chOff x="0" y="0"/>
          <a:chExt cx="0" cy="0"/>
        </a:xfrm>
      </p:grpSpPr>
      <p:sp>
        <p:nvSpPr>
          <p:cNvPr id="5" name="Titre 4">
            <a:extLst>
              <a:ext uri="{FF2B5EF4-FFF2-40B4-BE49-F238E27FC236}">
                <a16:creationId xmlns:a16="http://schemas.microsoft.com/office/drawing/2014/main" id="{D4D98468-30E4-3DEB-B1FE-51A860D01672}"/>
              </a:ext>
            </a:extLst>
          </p:cNvPr>
          <p:cNvSpPr>
            <a:spLocks noGrp="1"/>
          </p:cNvSpPr>
          <p:nvPr>
            <p:ph type="title"/>
          </p:nvPr>
        </p:nvSpPr>
        <p:spPr/>
        <p:txBody>
          <a:bodyPr/>
          <a:lstStyle/>
          <a:p>
            <a:r>
              <a:rPr lang="fr-FR" dirty="0"/>
              <a:t>3- Sélection des indicateurs pertinents </a:t>
            </a:r>
            <a:br>
              <a:rPr lang="fr-FR" dirty="0"/>
            </a:br>
            <a:endParaRPr lang="fr-FR" dirty="0"/>
          </a:p>
        </p:txBody>
      </p:sp>
      <p:sp>
        <p:nvSpPr>
          <p:cNvPr id="6" name="Espace réservé du texte 5">
            <a:extLst>
              <a:ext uri="{FF2B5EF4-FFF2-40B4-BE49-F238E27FC236}">
                <a16:creationId xmlns:a16="http://schemas.microsoft.com/office/drawing/2014/main" id="{F422FE41-0809-C8D5-5E24-9C21503380E6}"/>
              </a:ext>
            </a:extLst>
          </p:cNvPr>
          <p:cNvSpPr>
            <a:spLocks noGrp="1"/>
          </p:cNvSpPr>
          <p:nvPr>
            <p:ph type="body" idx="1"/>
          </p:nvPr>
        </p:nvSpPr>
        <p:spPr/>
        <p:txBody>
          <a:bodyPr/>
          <a:lstStyle/>
          <a:p>
            <a:r>
              <a:rPr lang="fr-FR" dirty="0"/>
              <a:t>réduction des indicateurs</a:t>
            </a:r>
          </a:p>
        </p:txBody>
      </p:sp>
      <p:sp>
        <p:nvSpPr>
          <p:cNvPr id="4" name="Espace réservé de la date 3">
            <a:extLst>
              <a:ext uri="{FF2B5EF4-FFF2-40B4-BE49-F238E27FC236}">
                <a16:creationId xmlns:a16="http://schemas.microsoft.com/office/drawing/2014/main" id="{05F5D616-74E8-7601-08C3-4B5433D0874A}"/>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1349298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9E8F3AE0-A6D9-B371-92B0-51072C9315F3}"/>
              </a:ext>
            </a:extLst>
          </p:cNvPr>
          <p:cNvSpPr>
            <a:spLocks noGrp="1"/>
          </p:cNvSpPr>
          <p:nvPr>
            <p:ph type="title"/>
          </p:nvPr>
        </p:nvSpPr>
        <p:spPr/>
        <p:txBody>
          <a:bodyPr/>
          <a:lstStyle/>
          <a:p>
            <a:r>
              <a:rPr lang="fr-FR" dirty="0"/>
              <a:t>Processus de sélection des indicateurs</a:t>
            </a:r>
          </a:p>
        </p:txBody>
      </p:sp>
      <p:sp>
        <p:nvSpPr>
          <p:cNvPr id="4" name="Espace réservé de la date 3">
            <a:extLst>
              <a:ext uri="{FF2B5EF4-FFF2-40B4-BE49-F238E27FC236}">
                <a16:creationId xmlns:a16="http://schemas.microsoft.com/office/drawing/2014/main" id="{5C30F5C2-154E-AABC-0BBB-B3031F0A2D89}"/>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pic>
        <p:nvPicPr>
          <p:cNvPr id="9" name="Image 8">
            <a:extLst>
              <a:ext uri="{FF2B5EF4-FFF2-40B4-BE49-F238E27FC236}">
                <a16:creationId xmlns:a16="http://schemas.microsoft.com/office/drawing/2014/main" id="{C2FAC4B9-478F-1D6F-8C0F-BFFACEA4009C}"/>
              </a:ext>
            </a:extLst>
          </p:cNvPr>
          <p:cNvPicPr>
            <a:picLocks noChangeAspect="1"/>
          </p:cNvPicPr>
          <p:nvPr/>
        </p:nvPicPr>
        <p:blipFill>
          <a:blip r:embed="rId2"/>
          <a:stretch>
            <a:fillRect/>
          </a:stretch>
        </p:blipFill>
        <p:spPr>
          <a:xfrm>
            <a:off x="6256646" y="2070847"/>
            <a:ext cx="5839468" cy="3497851"/>
          </a:xfrm>
          <a:prstGeom prst="rect">
            <a:avLst/>
          </a:prstGeom>
        </p:spPr>
      </p:pic>
      <p:pic>
        <p:nvPicPr>
          <p:cNvPr id="11" name="Image 10">
            <a:extLst>
              <a:ext uri="{FF2B5EF4-FFF2-40B4-BE49-F238E27FC236}">
                <a16:creationId xmlns:a16="http://schemas.microsoft.com/office/drawing/2014/main" id="{09E3E3B2-7E09-0D83-0C3A-9BDA25E6443C}"/>
              </a:ext>
            </a:extLst>
          </p:cNvPr>
          <p:cNvPicPr>
            <a:picLocks noChangeAspect="1"/>
          </p:cNvPicPr>
          <p:nvPr/>
        </p:nvPicPr>
        <p:blipFill>
          <a:blip r:embed="rId3"/>
          <a:stretch>
            <a:fillRect/>
          </a:stretch>
        </p:blipFill>
        <p:spPr>
          <a:xfrm>
            <a:off x="147545" y="1977966"/>
            <a:ext cx="6623839" cy="3956669"/>
          </a:xfrm>
          <a:prstGeom prst="rect">
            <a:avLst/>
          </a:prstGeom>
        </p:spPr>
      </p:pic>
    </p:spTree>
    <p:extLst>
      <p:ext uri="{BB962C8B-B14F-4D97-AF65-F5344CB8AC3E}">
        <p14:creationId xmlns:p14="http://schemas.microsoft.com/office/powerpoint/2010/main" val="3762631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28A906-14A4-45CB-65AA-340FB7AC49FA}"/>
              </a:ext>
            </a:extLst>
          </p:cNvPr>
          <p:cNvSpPr>
            <a:spLocks noGrp="1"/>
          </p:cNvSpPr>
          <p:nvPr>
            <p:ph type="title"/>
          </p:nvPr>
        </p:nvSpPr>
        <p:spPr/>
        <p:txBody>
          <a:bodyPr/>
          <a:lstStyle/>
          <a:p>
            <a:r>
              <a:rPr lang="fr-FR" dirty="0"/>
              <a:t>Processus de sélection des indicateurs</a:t>
            </a:r>
          </a:p>
        </p:txBody>
      </p:sp>
      <p:sp>
        <p:nvSpPr>
          <p:cNvPr id="3" name="Espace réservé de la date 2">
            <a:extLst>
              <a:ext uri="{FF2B5EF4-FFF2-40B4-BE49-F238E27FC236}">
                <a16:creationId xmlns:a16="http://schemas.microsoft.com/office/drawing/2014/main" id="{9FFEC5CC-1A0D-0592-8F39-B40158CE6E8B}"/>
              </a:ext>
            </a:extLst>
          </p:cNvPr>
          <p:cNvSpPr>
            <a:spLocks noGrp="1"/>
          </p:cNvSpPr>
          <p:nvPr>
            <p:ph type="dt" sz="half" idx="10"/>
          </p:nvPr>
        </p:nvSpPr>
        <p:spPr/>
        <p:txBody>
          <a:bodyPr/>
          <a:lstStyle/>
          <a:p>
            <a:pPr rtl="0"/>
            <a:fld id="{0FAEC910-4AAA-42A1-A49C-7DDC64BC53C6}" type="datetime1">
              <a:rPr lang="fr-FR" smtClean="0"/>
              <a:t>28/04/2026</a:t>
            </a:fld>
            <a:endParaRPr lang="en-US" dirty="0"/>
          </a:p>
        </p:txBody>
      </p:sp>
      <p:pic>
        <p:nvPicPr>
          <p:cNvPr id="5" name="Image 4">
            <a:extLst>
              <a:ext uri="{FF2B5EF4-FFF2-40B4-BE49-F238E27FC236}">
                <a16:creationId xmlns:a16="http://schemas.microsoft.com/office/drawing/2014/main" id="{AA01AAEF-9415-4FDE-13D9-05378E675BDE}"/>
              </a:ext>
            </a:extLst>
          </p:cNvPr>
          <p:cNvPicPr>
            <a:picLocks noChangeAspect="1"/>
          </p:cNvPicPr>
          <p:nvPr/>
        </p:nvPicPr>
        <p:blipFill>
          <a:blip r:embed="rId2"/>
          <a:stretch>
            <a:fillRect/>
          </a:stretch>
        </p:blipFill>
        <p:spPr>
          <a:xfrm>
            <a:off x="7797206" y="1649830"/>
            <a:ext cx="4197051" cy="2554057"/>
          </a:xfrm>
          <a:prstGeom prst="rect">
            <a:avLst/>
          </a:prstGeom>
          <a:ln w="19050">
            <a:solidFill>
              <a:schemeClr val="accent5"/>
            </a:solidFill>
          </a:ln>
        </p:spPr>
      </p:pic>
      <p:pic>
        <p:nvPicPr>
          <p:cNvPr id="7" name="Image 6">
            <a:extLst>
              <a:ext uri="{FF2B5EF4-FFF2-40B4-BE49-F238E27FC236}">
                <a16:creationId xmlns:a16="http://schemas.microsoft.com/office/drawing/2014/main" id="{4E5AA2C2-4BB7-8A54-1B8E-44FD7D8CDBBE}"/>
              </a:ext>
            </a:extLst>
          </p:cNvPr>
          <p:cNvPicPr>
            <a:picLocks noChangeAspect="1"/>
          </p:cNvPicPr>
          <p:nvPr/>
        </p:nvPicPr>
        <p:blipFill>
          <a:blip r:embed="rId3"/>
          <a:stretch>
            <a:fillRect/>
          </a:stretch>
        </p:blipFill>
        <p:spPr>
          <a:xfrm>
            <a:off x="7807746" y="4272848"/>
            <a:ext cx="4186511" cy="2585152"/>
          </a:xfrm>
          <a:prstGeom prst="rect">
            <a:avLst/>
          </a:prstGeom>
          <a:ln w="19050">
            <a:solidFill>
              <a:schemeClr val="accent1"/>
            </a:solidFill>
          </a:ln>
        </p:spPr>
      </p:pic>
      <p:pic>
        <p:nvPicPr>
          <p:cNvPr id="10" name="Image 9">
            <a:extLst>
              <a:ext uri="{FF2B5EF4-FFF2-40B4-BE49-F238E27FC236}">
                <a16:creationId xmlns:a16="http://schemas.microsoft.com/office/drawing/2014/main" id="{13A1111B-2E62-2C2B-A932-BB3D28FA0580}"/>
              </a:ext>
            </a:extLst>
          </p:cNvPr>
          <p:cNvPicPr>
            <a:picLocks noChangeAspect="1"/>
          </p:cNvPicPr>
          <p:nvPr/>
        </p:nvPicPr>
        <p:blipFill>
          <a:blip r:embed="rId4"/>
          <a:stretch>
            <a:fillRect/>
          </a:stretch>
        </p:blipFill>
        <p:spPr>
          <a:xfrm>
            <a:off x="225" y="1795355"/>
            <a:ext cx="7359280" cy="4408221"/>
          </a:xfrm>
          <a:prstGeom prst="rect">
            <a:avLst/>
          </a:prstGeom>
        </p:spPr>
      </p:pic>
      <p:sp>
        <p:nvSpPr>
          <p:cNvPr id="11" name="Rectangle 10">
            <a:extLst>
              <a:ext uri="{FF2B5EF4-FFF2-40B4-BE49-F238E27FC236}">
                <a16:creationId xmlns:a16="http://schemas.microsoft.com/office/drawing/2014/main" id="{440A2EE3-3023-0853-09E0-30A3B54F2823}"/>
              </a:ext>
            </a:extLst>
          </p:cNvPr>
          <p:cNvSpPr/>
          <p:nvPr/>
        </p:nvSpPr>
        <p:spPr>
          <a:xfrm>
            <a:off x="968187" y="4679576"/>
            <a:ext cx="5656731" cy="510990"/>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EC2DD8A1-F226-C4A2-CF30-4A06EDAA2CFD}"/>
              </a:ext>
            </a:extLst>
          </p:cNvPr>
          <p:cNvSpPr/>
          <p:nvPr/>
        </p:nvSpPr>
        <p:spPr>
          <a:xfrm>
            <a:off x="968187" y="5414682"/>
            <a:ext cx="5656731" cy="5109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37488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F33CCB-AA7B-281C-808A-D90736B91D6F}"/>
              </a:ext>
            </a:extLst>
          </p:cNvPr>
          <p:cNvSpPr>
            <a:spLocks noGrp="1"/>
          </p:cNvSpPr>
          <p:nvPr>
            <p:ph type="title"/>
          </p:nvPr>
        </p:nvSpPr>
        <p:spPr/>
        <p:txBody>
          <a:bodyPr/>
          <a:lstStyle/>
          <a:p>
            <a:r>
              <a:rPr lang="fr-FR" dirty="0"/>
              <a:t>Processus de sélection des indicateurs</a:t>
            </a:r>
          </a:p>
        </p:txBody>
      </p:sp>
      <p:sp>
        <p:nvSpPr>
          <p:cNvPr id="3" name="Espace réservé de la date 2">
            <a:extLst>
              <a:ext uri="{FF2B5EF4-FFF2-40B4-BE49-F238E27FC236}">
                <a16:creationId xmlns:a16="http://schemas.microsoft.com/office/drawing/2014/main" id="{0180DD80-F966-0853-8C10-9E90DE2C811D}"/>
              </a:ext>
            </a:extLst>
          </p:cNvPr>
          <p:cNvSpPr>
            <a:spLocks noGrp="1"/>
          </p:cNvSpPr>
          <p:nvPr>
            <p:ph type="dt" sz="half" idx="10"/>
          </p:nvPr>
        </p:nvSpPr>
        <p:spPr/>
        <p:txBody>
          <a:bodyPr/>
          <a:lstStyle/>
          <a:p>
            <a:pPr rtl="0"/>
            <a:fld id="{0FAEC910-4AAA-42A1-A49C-7DDC64BC53C6}" type="datetime1">
              <a:rPr lang="fr-FR" smtClean="0"/>
              <a:t>28/04/2026</a:t>
            </a:fld>
            <a:endParaRPr lang="en-US" dirty="0"/>
          </a:p>
        </p:txBody>
      </p:sp>
      <p:pic>
        <p:nvPicPr>
          <p:cNvPr id="9" name="Image 8">
            <a:extLst>
              <a:ext uri="{FF2B5EF4-FFF2-40B4-BE49-F238E27FC236}">
                <a16:creationId xmlns:a16="http://schemas.microsoft.com/office/drawing/2014/main" id="{D8432C27-2507-CA2C-790A-47C9CF3EDE0D}"/>
              </a:ext>
            </a:extLst>
          </p:cNvPr>
          <p:cNvPicPr>
            <a:picLocks noChangeAspect="1"/>
          </p:cNvPicPr>
          <p:nvPr/>
        </p:nvPicPr>
        <p:blipFill>
          <a:blip r:embed="rId2"/>
          <a:stretch>
            <a:fillRect/>
          </a:stretch>
        </p:blipFill>
        <p:spPr>
          <a:xfrm>
            <a:off x="7516516" y="2722436"/>
            <a:ext cx="4186511" cy="2554057"/>
          </a:xfrm>
          <a:prstGeom prst="rect">
            <a:avLst/>
          </a:prstGeom>
          <a:ln w="19050">
            <a:solidFill>
              <a:schemeClr val="accent4"/>
            </a:solidFill>
          </a:ln>
        </p:spPr>
      </p:pic>
      <p:pic>
        <p:nvPicPr>
          <p:cNvPr id="4" name="Image 3">
            <a:extLst>
              <a:ext uri="{FF2B5EF4-FFF2-40B4-BE49-F238E27FC236}">
                <a16:creationId xmlns:a16="http://schemas.microsoft.com/office/drawing/2014/main" id="{BA459A88-43AB-6923-37B3-5D1DFF623AE4}"/>
              </a:ext>
            </a:extLst>
          </p:cNvPr>
          <p:cNvPicPr>
            <a:picLocks noChangeAspect="1"/>
          </p:cNvPicPr>
          <p:nvPr/>
        </p:nvPicPr>
        <p:blipFill>
          <a:blip r:embed="rId3"/>
          <a:stretch>
            <a:fillRect/>
          </a:stretch>
        </p:blipFill>
        <p:spPr>
          <a:xfrm>
            <a:off x="-8740" y="1795355"/>
            <a:ext cx="7359280" cy="4408221"/>
          </a:xfrm>
          <a:prstGeom prst="rect">
            <a:avLst/>
          </a:prstGeom>
        </p:spPr>
      </p:pic>
      <p:sp>
        <p:nvSpPr>
          <p:cNvPr id="5" name="Rectangle 4">
            <a:extLst>
              <a:ext uri="{FF2B5EF4-FFF2-40B4-BE49-F238E27FC236}">
                <a16:creationId xmlns:a16="http://schemas.microsoft.com/office/drawing/2014/main" id="{414F16B6-7E33-2563-CD71-BAC370DD0DA2}"/>
              </a:ext>
            </a:extLst>
          </p:cNvPr>
          <p:cNvSpPr/>
          <p:nvPr/>
        </p:nvSpPr>
        <p:spPr>
          <a:xfrm>
            <a:off x="941295" y="1918447"/>
            <a:ext cx="6409246" cy="803989"/>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939017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A0B5E8-A327-AA64-9ECF-D87DB8FBD055}"/>
              </a:ext>
            </a:extLst>
          </p:cNvPr>
          <p:cNvSpPr>
            <a:spLocks noGrp="1"/>
          </p:cNvSpPr>
          <p:nvPr>
            <p:ph type="title"/>
          </p:nvPr>
        </p:nvSpPr>
        <p:spPr/>
        <p:txBody>
          <a:bodyPr/>
          <a:lstStyle/>
          <a:p>
            <a:r>
              <a:rPr lang="fr-FR" dirty="0"/>
              <a:t>Processus de sélection des indicateurs</a:t>
            </a:r>
          </a:p>
        </p:txBody>
      </p:sp>
      <p:sp>
        <p:nvSpPr>
          <p:cNvPr id="3" name="Espace réservé de la date 2">
            <a:extLst>
              <a:ext uri="{FF2B5EF4-FFF2-40B4-BE49-F238E27FC236}">
                <a16:creationId xmlns:a16="http://schemas.microsoft.com/office/drawing/2014/main" id="{0BB4340E-017F-DD52-4C72-E35FAC29DB67}"/>
              </a:ext>
            </a:extLst>
          </p:cNvPr>
          <p:cNvSpPr>
            <a:spLocks noGrp="1"/>
          </p:cNvSpPr>
          <p:nvPr>
            <p:ph type="dt" sz="half" idx="10"/>
          </p:nvPr>
        </p:nvSpPr>
        <p:spPr/>
        <p:txBody>
          <a:bodyPr/>
          <a:lstStyle/>
          <a:p>
            <a:pPr rtl="0"/>
            <a:fld id="{0FAEC910-4AAA-42A1-A49C-7DDC64BC53C6}" type="datetime1">
              <a:rPr lang="fr-FR" smtClean="0"/>
              <a:t>28/04/2026</a:t>
            </a:fld>
            <a:endParaRPr lang="en-US" dirty="0"/>
          </a:p>
        </p:txBody>
      </p:sp>
      <p:pic>
        <p:nvPicPr>
          <p:cNvPr id="5" name="Image 4">
            <a:extLst>
              <a:ext uri="{FF2B5EF4-FFF2-40B4-BE49-F238E27FC236}">
                <a16:creationId xmlns:a16="http://schemas.microsoft.com/office/drawing/2014/main" id="{B1D582FB-FC71-47E7-DFCB-22569DCDEB78}"/>
              </a:ext>
            </a:extLst>
          </p:cNvPr>
          <p:cNvPicPr>
            <a:picLocks noChangeAspect="1"/>
          </p:cNvPicPr>
          <p:nvPr/>
        </p:nvPicPr>
        <p:blipFill>
          <a:blip r:embed="rId2"/>
          <a:stretch>
            <a:fillRect/>
          </a:stretch>
        </p:blipFill>
        <p:spPr>
          <a:xfrm>
            <a:off x="313764" y="1797378"/>
            <a:ext cx="7994434" cy="4809098"/>
          </a:xfrm>
          <a:prstGeom prst="rect">
            <a:avLst/>
          </a:prstGeom>
        </p:spPr>
      </p:pic>
      <p:sp>
        <p:nvSpPr>
          <p:cNvPr id="6" name="ZoneTexte 5">
            <a:extLst>
              <a:ext uri="{FF2B5EF4-FFF2-40B4-BE49-F238E27FC236}">
                <a16:creationId xmlns:a16="http://schemas.microsoft.com/office/drawing/2014/main" id="{338B6E04-08E7-6448-C03D-63EAE85FAA7E}"/>
              </a:ext>
            </a:extLst>
          </p:cNvPr>
          <p:cNvSpPr txBox="1"/>
          <p:nvPr/>
        </p:nvSpPr>
        <p:spPr>
          <a:xfrm>
            <a:off x="8606117" y="1246094"/>
            <a:ext cx="3164542" cy="5262979"/>
          </a:xfrm>
          <a:prstGeom prst="rect">
            <a:avLst/>
          </a:prstGeom>
          <a:noFill/>
        </p:spPr>
        <p:txBody>
          <a:bodyPr wrap="square" rtlCol="0">
            <a:spAutoFit/>
          </a:bodyPr>
          <a:lstStyle/>
          <a:p>
            <a:r>
              <a:rPr lang="fr-FR" sz="1200" b="1" u="sng" dirty="0"/>
              <a:t>Indicateurs non gardés:</a:t>
            </a:r>
          </a:p>
          <a:p>
            <a:r>
              <a:rPr lang="fr-FR" sz="1200" dirty="0"/>
              <a:t>BAR.SEC.SCHL.15UP qui correspond au nombre moyen d'années de scolarisation dans l'enseignement secondaire pour la population âgée de 15 ans et plus est fortement corrélé (92%) à BAR.SEC.CMPT.15UP.ZS proportion de la population de plus de 15 ans ayant complété le secondaire  </a:t>
            </a:r>
            <a:r>
              <a:rPr lang="fr-FR" sz="1200" dirty="0">
                <a:sym typeface="Wingdings" panose="05000000000000000000" pitchFamily="2" charset="2"/>
              </a:rPr>
              <a:t> </a:t>
            </a:r>
            <a:r>
              <a:rPr lang="fr-FR" sz="1200" dirty="0"/>
              <a:t>moins interprétable démographiquement (nombre d'années).</a:t>
            </a:r>
          </a:p>
          <a:p>
            <a:endParaRPr lang="fr-FR" sz="1200" dirty="0"/>
          </a:p>
          <a:p>
            <a:r>
              <a:rPr lang="fr-FR" sz="1200" dirty="0"/>
              <a:t>BAR.TER.SCHL.15UP qui correspond au nombre moyen d'années de scolarisation dans l'enseignement tertiaire pour la population âgée de 15 ans et plus est fortement corrélé (98%) à BAR.TER.CMPT.15UP.ZS proportion de la population de plus de 15 ans ayant complété le tertiaire  </a:t>
            </a:r>
            <a:r>
              <a:rPr lang="fr-FR" sz="1200" dirty="0">
                <a:sym typeface="Wingdings" panose="05000000000000000000" pitchFamily="2" charset="2"/>
              </a:rPr>
              <a:t> </a:t>
            </a:r>
            <a:r>
              <a:rPr lang="fr-FR" sz="1200" dirty="0"/>
              <a:t>moins interprétable démographiquement (nombre d'années).</a:t>
            </a:r>
          </a:p>
          <a:p>
            <a:endParaRPr lang="fr-FR" sz="1200" dirty="0"/>
          </a:p>
          <a:p>
            <a:r>
              <a:rPr lang="fr-FR" sz="1200" dirty="0"/>
              <a:t>SE.SEC.ENRL, SE.TER.ENRL, BAR.POP.15UP, PRJ.POP.ALL.3.MF et PRJ.POP.ALL.4.MF car il s'agit d'indicateurs de population brute, ce qui peut fausser l'analyse à cause de la différence de population entre les pays. De plus, ces indicateurs sont trop fortement corrélés (plus de 90%)</a:t>
            </a:r>
          </a:p>
        </p:txBody>
      </p:sp>
    </p:spTree>
    <p:extLst>
      <p:ext uri="{BB962C8B-B14F-4D97-AF65-F5344CB8AC3E}">
        <p14:creationId xmlns:p14="http://schemas.microsoft.com/office/powerpoint/2010/main" val="1398657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2336F7-93B9-972E-C6B7-9262EFA3FFF4}"/>
              </a:ext>
            </a:extLst>
          </p:cNvPr>
          <p:cNvSpPr>
            <a:spLocks noGrp="1"/>
          </p:cNvSpPr>
          <p:nvPr>
            <p:ph type="title"/>
          </p:nvPr>
        </p:nvSpPr>
        <p:spPr/>
        <p:txBody>
          <a:bodyPr/>
          <a:lstStyle/>
          <a:p>
            <a:r>
              <a:rPr lang="fr-FR" dirty="0"/>
              <a:t>Indicateurs retenus</a:t>
            </a:r>
          </a:p>
        </p:txBody>
      </p:sp>
      <p:graphicFrame>
        <p:nvGraphicFramePr>
          <p:cNvPr id="5" name="Espace réservé du contenu 4">
            <a:extLst>
              <a:ext uri="{FF2B5EF4-FFF2-40B4-BE49-F238E27FC236}">
                <a16:creationId xmlns:a16="http://schemas.microsoft.com/office/drawing/2014/main" id="{7D1E4550-58EC-F242-8DE6-287486DC197D}"/>
              </a:ext>
            </a:extLst>
          </p:cNvPr>
          <p:cNvGraphicFramePr>
            <a:graphicFrameLocks noGrp="1"/>
          </p:cNvGraphicFramePr>
          <p:nvPr>
            <p:ph idx="1"/>
            <p:extLst>
              <p:ext uri="{D42A27DB-BD31-4B8C-83A1-F6EECF244321}">
                <p14:modId xmlns:p14="http://schemas.microsoft.com/office/powerpoint/2010/main" val="418341962"/>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e la date 3">
            <a:extLst>
              <a:ext uri="{FF2B5EF4-FFF2-40B4-BE49-F238E27FC236}">
                <a16:creationId xmlns:a16="http://schemas.microsoft.com/office/drawing/2014/main" id="{B5DE3BF3-E55F-469C-9525-2029D358D221}"/>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
        <p:nvSpPr>
          <p:cNvPr id="6" name="ZoneTexte 5">
            <a:extLst>
              <a:ext uri="{FF2B5EF4-FFF2-40B4-BE49-F238E27FC236}">
                <a16:creationId xmlns:a16="http://schemas.microsoft.com/office/drawing/2014/main" id="{1B5F21F1-28F2-765A-EF11-EF875FF88445}"/>
              </a:ext>
            </a:extLst>
          </p:cNvPr>
          <p:cNvSpPr txBox="1"/>
          <p:nvPr/>
        </p:nvSpPr>
        <p:spPr>
          <a:xfrm>
            <a:off x="493059" y="1819835"/>
            <a:ext cx="11029616" cy="369332"/>
          </a:xfrm>
          <a:prstGeom prst="rect">
            <a:avLst/>
          </a:prstGeom>
          <a:noFill/>
        </p:spPr>
        <p:txBody>
          <a:bodyPr wrap="square" rtlCol="0">
            <a:spAutoFit/>
          </a:bodyPr>
          <a:lstStyle/>
          <a:p>
            <a:r>
              <a:rPr lang="fr-FR" dirty="0"/>
              <a:t>Après corrélation de Spearman et analyse métier, voici 6 indicateurs sélectionnés: </a:t>
            </a:r>
          </a:p>
        </p:txBody>
      </p:sp>
    </p:spTree>
    <p:extLst>
      <p:ext uri="{BB962C8B-B14F-4D97-AF65-F5344CB8AC3E}">
        <p14:creationId xmlns:p14="http://schemas.microsoft.com/office/powerpoint/2010/main" val="4179745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949619A-A92E-CC4D-4474-991DAC1D43DE}"/>
              </a:ext>
            </a:extLst>
          </p:cNvPr>
          <p:cNvSpPr>
            <a:spLocks noGrp="1"/>
          </p:cNvSpPr>
          <p:nvPr>
            <p:ph type="title"/>
          </p:nvPr>
        </p:nvSpPr>
        <p:spPr/>
        <p:txBody>
          <a:bodyPr/>
          <a:lstStyle/>
          <a:p>
            <a:r>
              <a:rPr lang="fr-FR" dirty="0"/>
              <a:t>4-Analyse statistique des indicateurs </a:t>
            </a:r>
          </a:p>
        </p:txBody>
      </p:sp>
      <p:sp>
        <p:nvSpPr>
          <p:cNvPr id="6" name="Espace réservé du texte 5">
            <a:extLst>
              <a:ext uri="{FF2B5EF4-FFF2-40B4-BE49-F238E27FC236}">
                <a16:creationId xmlns:a16="http://schemas.microsoft.com/office/drawing/2014/main" id="{18CCF4B0-D6B4-5A40-BF36-10F01F80E233}"/>
              </a:ext>
            </a:extLst>
          </p:cNvPr>
          <p:cNvSpPr>
            <a:spLocks noGrp="1"/>
          </p:cNvSpPr>
          <p:nvPr>
            <p:ph type="body" idx="1"/>
          </p:nvPr>
        </p:nvSpPr>
        <p:spPr/>
        <p:txBody>
          <a:bodyPr/>
          <a:lstStyle/>
          <a:p>
            <a:r>
              <a:rPr lang="fr-FR" dirty="0"/>
              <a:t>Évolution mondiale · Distribution par région · Maturité des marchés</a:t>
            </a:r>
          </a:p>
          <a:p>
            <a:endParaRPr lang="fr-FR" dirty="0"/>
          </a:p>
        </p:txBody>
      </p:sp>
      <p:sp>
        <p:nvSpPr>
          <p:cNvPr id="4" name="Espace réservé de la date 3">
            <a:extLst>
              <a:ext uri="{FF2B5EF4-FFF2-40B4-BE49-F238E27FC236}">
                <a16:creationId xmlns:a16="http://schemas.microsoft.com/office/drawing/2014/main" id="{A00685AC-A7AF-B9B0-61AF-0021D0DAE1BB}"/>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1238002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Espace réservé du contenu 11">
            <a:extLst>
              <a:ext uri="{FF2B5EF4-FFF2-40B4-BE49-F238E27FC236}">
                <a16:creationId xmlns:a16="http://schemas.microsoft.com/office/drawing/2014/main" id="{39106D22-2FDB-1D82-65E3-A4D9807F88BE}"/>
              </a:ext>
            </a:extLst>
          </p:cNvPr>
          <p:cNvPicPr>
            <a:picLocks noGrp="1" noChangeAspect="1"/>
          </p:cNvPicPr>
          <p:nvPr>
            <p:ph sz="half" idx="1"/>
          </p:nvPr>
        </p:nvPicPr>
        <p:blipFill>
          <a:blip r:embed="rId2"/>
          <a:stretch>
            <a:fillRect/>
          </a:stretch>
        </p:blipFill>
        <p:spPr>
          <a:xfrm>
            <a:off x="581025" y="2547670"/>
            <a:ext cx="5194300" cy="2992972"/>
          </a:xfrm>
          <a:prstGeom prst="rect">
            <a:avLst/>
          </a:prstGeom>
        </p:spPr>
      </p:pic>
      <p:pic>
        <p:nvPicPr>
          <p:cNvPr id="18" name="Espace réservé du contenu 17">
            <a:extLst>
              <a:ext uri="{FF2B5EF4-FFF2-40B4-BE49-F238E27FC236}">
                <a16:creationId xmlns:a16="http://schemas.microsoft.com/office/drawing/2014/main" id="{9FB3CD96-C688-DA84-E304-AD63BB371E87}"/>
              </a:ext>
            </a:extLst>
          </p:cNvPr>
          <p:cNvPicPr>
            <a:picLocks noGrp="1" noChangeAspect="1"/>
          </p:cNvPicPr>
          <p:nvPr>
            <p:ph sz="half" idx="2"/>
          </p:nvPr>
        </p:nvPicPr>
        <p:blipFill>
          <a:blip r:embed="rId3"/>
          <a:stretch>
            <a:fillRect/>
          </a:stretch>
        </p:blipFill>
        <p:spPr>
          <a:xfrm>
            <a:off x="6960094" y="1963271"/>
            <a:ext cx="4973611" cy="2402507"/>
          </a:xfrm>
          <a:prstGeom prst="rect">
            <a:avLst/>
          </a:prstGeom>
        </p:spPr>
      </p:pic>
      <p:sp>
        <p:nvSpPr>
          <p:cNvPr id="4" name="Espace réservé de la date 3">
            <a:extLst>
              <a:ext uri="{FF2B5EF4-FFF2-40B4-BE49-F238E27FC236}">
                <a16:creationId xmlns:a16="http://schemas.microsoft.com/office/drawing/2014/main" id="{496498F6-679A-BBE2-74BF-2F4362131849}"/>
              </a:ext>
            </a:extLst>
          </p:cNvPr>
          <p:cNvSpPr>
            <a:spLocks noGrp="1"/>
          </p:cNvSpPr>
          <p:nvPr>
            <p:ph type="dt" sz="half" idx="10"/>
          </p:nvPr>
        </p:nvSpPr>
        <p:spPr/>
        <p:txBody>
          <a:bodyPr/>
          <a:lstStyle/>
          <a:p>
            <a:pPr rtl="0"/>
            <a:fld id="{A1255F31-5DB3-4925-BA87-822F5B17A2F1}" type="datetime1">
              <a:rPr lang="fr-FR" smtClean="0"/>
              <a:t>28/04/2026</a:t>
            </a:fld>
            <a:endParaRPr lang="en-US" dirty="0"/>
          </a:p>
        </p:txBody>
      </p:sp>
      <p:pic>
        <p:nvPicPr>
          <p:cNvPr id="20" name="Image 19">
            <a:extLst>
              <a:ext uri="{FF2B5EF4-FFF2-40B4-BE49-F238E27FC236}">
                <a16:creationId xmlns:a16="http://schemas.microsoft.com/office/drawing/2014/main" id="{38E87AE1-F9C8-DC5E-3A60-F7B7469A736B}"/>
              </a:ext>
            </a:extLst>
          </p:cNvPr>
          <p:cNvPicPr>
            <a:picLocks noChangeAspect="1"/>
          </p:cNvPicPr>
          <p:nvPr/>
        </p:nvPicPr>
        <p:blipFill>
          <a:blip r:embed="rId4"/>
          <a:stretch>
            <a:fillRect/>
          </a:stretch>
        </p:blipFill>
        <p:spPr>
          <a:xfrm>
            <a:off x="6979410" y="4386532"/>
            <a:ext cx="4954296" cy="2402507"/>
          </a:xfrm>
          <a:prstGeom prst="rect">
            <a:avLst/>
          </a:prstGeom>
        </p:spPr>
      </p:pic>
      <p:sp>
        <p:nvSpPr>
          <p:cNvPr id="21" name="ZoneTexte 20">
            <a:extLst>
              <a:ext uri="{FF2B5EF4-FFF2-40B4-BE49-F238E27FC236}">
                <a16:creationId xmlns:a16="http://schemas.microsoft.com/office/drawing/2014/main" id="{8987B67F-BF19-1159-3C6E-0744E037EB42}"/>
              </a:ext>
            </a:extLst>
          </p:cNvPr>
          <p:cNvSpPr txBox="1"/>
          <p:nvPr/>
        </p:nvSpPr>
        <p:spPr>
          <a:xfrm>
            <a:off x="137045" y="5834932"/>
            <a:ext cx="6866864" cy="954107"/>
          </a:xfrm>
          <a:prstGeom prst="rect">
            <a:avLst/>
          </a:prstGeom>
          <a:noFill/>
        </p:spPr>
        <p:txBody>
          <a:bodyPr wrap="square" rtlCol="0">
            <a:spAutoFit/>
          </a:bodyPr>
          <a:lstStyle/>
          <a:p>
            <a:pPr marL="285750" indent="-285750">
              <a:buFont typeface="Arial" panose="020B0604020202020204" pitchFamily="34" charset="0"/>
              <a:buChar char="•"/>
            </a:pPr>
            <a:r>
              <a:rPr lang="fr-FR" sz="1400" dirty="0"/>
              <a:t>Secondaire : moyenne mondiale ×3 entre 1970 et 2010 (8,8 % → 28,3 %)</a:t>
            </a:r>
          </a:p>
          <a:p>
            <a:pPr marL="285750" indent="-285750">
              <a:buFont typeface="Arial" panose="020B0604020202020204" pitchFamily="34" charset="0"/>
              <a:buChar char="•"/>
            </a:pPr>
            <a:r>
              <a:rPr lang="fr-FR" sz="1400" dirty="0"/>
              <a:t>Distribution asymétrique : quelques pays très éduqués tirent la moyenne vers le haut</a:t>
            </a:r>
          </a:p>
          <a:p>
            <a:pPr marL="285750" indent="-285750">
              <a:buFont typeface="Arial" panose="020B0604020202020204" pitchFamily="34" charset="0"/>
              <a:buChar char="•"/>
            </a:pPr>
            <a:r>
              <a:rPr lang="fr-FR" sz="1400" dirty="0"/>
              <a:t>L'écart entre pays s'est creusé : les retardataires restent très en dessous</a:t>
            </a:r>
          </a:p>
          <a:p>
            <a:pPr marL="285750" indent="-285750">
              <a:buFont typeface="Arial" panose="020B0604020202020204" pitchFamily="34" charset="0"/>
              <a:buChar char="•"/>
            </a:pPr>
            <a:endParaRPr lang="fr-FR" sz="1400" dirty="0"/>
          </a:p>
        </p:txBody>
      </p:sp>
      <p:sp>
        <p:nvSpPr>
          <p:cNvPr id="22" name="ZoneTexte 21">
            <a:extLst>
              <a:ext uri="{FF2B5EF4-FFF2-40B4-BE49-F238E27FC236}">
                <a16:creationId xmlns:a16="http://schemas.microsoft.com/office/drawing/2014/main" id="{36E3664D-C81F-078C-9F46-AF13D4FF9796}"/>
              </a:ext>
            </a:extLst>
          </p:cNvPr>
          <p:cNvSpPr txBox="1"/>
          <p:nvPr/>
        </p:nvSpPr>
        <p:spPr>
          <a:xfrm>
            <a:off x="137045" y="2020284"/>
            <a:ext cx="6866864" cy="307777"/>
          </a:xfrm>
          <a:prstGeom prst="rect">
            <a:avLst/>
          </a:prstGeom>
          <a:noFill/>
        </p:spPr>
        <p:txBody>
          <a:bodyPr wrap="square" rtlCol="0">
            <a:spAutoFit/>
          </a:bodyPr>
          <a:lstStyle/>
          <a:p>
            <a:r>
              <a:rPr lang="fr-FR" sz="1400" b="1" dirty="0"/>
              <a:t>Secondaire — BAR.SEC.CMPT.15UP.ZS</a:t>
            </a:r>
          </a:p>
        </p:txBody>
      </p:sp>
      <p:sp>
        <p:nvSpPr>
          <p:cNvPr id="25" name="Titre 1">
            <a:extLst>
              <a:ext uri="{FF2B5EF4-FFF2-40B4-BE49-F238E27FC236}">
                <a16:creationId xmlns:a16="http://schemas.microsoft.com/office/drawing/2014/main" id="{4A1443BE-F2F2-49C9-11A2-FB41CAA3DD73}"/>
              </a:ext>
            </a:extLst>
          </p:cNvPr>
          <p:cNvSpPr txBox="1">
            <a:spLocks/>
          </p:cNvSpPr>
          <p:nvPr/>
        </p:nvSpPr>
        <p:spPr>
          <a:xfrm>
            <a:off x="581192" y="702156"/>
            <a:ext cx="11029616" cy="1188720"/>
          </a:xfrm>
          <a:prstGeom prst="rect">
            <a:avLst/>
          </a:prstGeom>
        </p:spPr>
        <p:txBody>
          <a:bodyPr vert="horz" lIns="91440" tIns="45720" rIns="91440" bIns="45720" rtlCol="0" anchor="b">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t>Taux d'achèvement (Barro-Lee) — 131 pays, 1970–2010</a:t>
            </a:r>
            <a:endParaRPr lang="fr-FR" dirty="0"/>
          </a:p>
        </p:txBody>
      </p:sp>
    </p:spTree>
    <p:extLst>
      <p:ext uri="{BB962C8B-B14F-4D97-AF65-F5344CB8AC3E}">
        <p14:creationId xmlns:p14="http://schemas.microsoft.com/office/powerpoint/2010/main" val="4064253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09F353-1CB2-ACFB-5275-83C46EB4A643}"/>
              </a:ext>
            </a:extLst>
          </p:cNvPr>
          <p:cNvSpPr>
            <a:spLocks noGrp="1"/>
          </p:cNvSpPr>
          <p:nvPr>
            <p:ph type="title"/>
          </p:nvPr>
        </p:nvSpPr>
        <p:spPr/>
        <p:txBody>
          <a:bodyPr/>
          <a:lstStyle/>
          <a:p>
            <a:r>
              <a:rPr lang="fr-FR" dirty="0"/>
              <a:t>Taux d'achèvement (Barro-Lee) — 131 pays, 1970–2010</a:t>
            </a:r>
          </a:p>
        </p:txBody>
      </p:sp>
      <p:pic>
        <p:nvPicPr>
          <p:cNvPr id="11" name="Espace réservé du contenu 10">
            <a:extLst>
              <a:ext uri="{FF2B5EF4-FFF2-40B4-BE49-F238E27FC236}">
                <a16:creationId xmlns:a16="http://schemas.microsoft.com/office/drawing/2014/main" id="{3EEBDDE2-7C33-CB44-8D3B-61E273C396D6}"/>
              </a:ext>
            </a:extLst>
          </p:cNvPr>
          <p:cNvPicPr>
            <a:picLocks noGrp="1" noChangeAspect="1"/>
          </p:cNvPicPr>
          <p:nvPr>
            <p:ph idx="1"/>
          </p:nvPr>
        </p:nvPicPr>
        <p:blipFill>
          <a:blip r:embed="rId2"/>
          <a:stretch>
            <a:fillRect/>
          </a:stretch>
        </p:blipFill>
        <p:spPr>
          <a:xfrm>
            <a:off x="84418" y="2744133"/>
            <a:ext cx="5109882" cy="2961252"/>
          </a:xfrm>
          <a:prstGeom prst="rect">
            <a:avLst/>
          </a:prstGeom>
        </p:spPr>
      </p:pic>
      <p:sp>
        <p:nvSpPr>
          <p:cNvPr id="7" name="Espace réservé de la date 6">
            <a:extLst>
              <a:ext uri="{FF2B5EF4-FFF2-40B4-BE49-F238E27FC236}">
                <a16:creationId xmlns:a16="http://schemas.microsoft.com/office/drawing/2014/main" id="{1A2B6679-8532-12CB-AE81-5D6B76726971}"/>
              </a:ext>
            </a:extLst>
          </p:cNvPr>
          <p:cNvSpPr>
            <a:spLocks noGrp="1"/>
          </p:cNvSpPr>
          <p:nvPr>
            <p:ph type="dt" sz="half" idx="10"/>
          </p:nvPr>
        </p:nvSpPr>
        <p:spPr/>
        <p:txBody>
          <a:bodyPr/>
          <a:lstStyle/>
          <a:p>
            <a:pPr rtl="0"/>
            <a:fld id="{B2D0F46D-59FD-4484-924E-E79DD516B5ED}" type="datetime1">
              <a:rPr lang="fr-FR" smtClean="0"/>
              <a:t>28/04/2026</a:t>
            </a:fld>
            <a:endParaRPr lang="en-US" dirty="0"/>
          </a:p>
        </p:txBody>
      </p:sp>
      <p:pic>
        <p:nvPicPr>
          <p:cNvPr id="9" name="Espace réservé du contenu 8">
            <a:extLst>
              <a:ext uri="{FF2B5EF4-FFF2-40B4-BE49-F238E27FC236}">
                <a16:creationId xmlns:a16="http://schemas.microsoft.com/office/drawing/2014/main" id="{5228E809-946E-7CFF-9009-1593DB47D55F}"/>
              </a:ext>
            </a:extLst>
          </p:cNvPr>
          <p:cNvPicPr>
            <a:picLocks noGrp="1" noChangeAspect="1"/>
          </p:cNvPicPr>
          <p:nvPr>
            <p:ph sz="quarter" idx="4294967295"/>
          </p:nvPr>
        </p:nvPicPr>
        <p:blipFill>
          <a:blip r:embed="rId3"/>
          <a:stretch>
            <a:fillRect/>
          </a:stretch>
        </p:blipFill>
        <p:spPr>
          <a:xfrm>
            <a:off x="6701865" y="1786387"/>
            <a:ext cx="5194300" cy="2551113"/>
          </a:xfrm>
          <a:prstGeom prst="rect">
            <a:avLst/>
          </a:prstGeom>
        </p:spPr>
      </p:pic>
      <p:pic>
        <p:nvPicPr>
          <p:cNvPr id="13" name="Image 12">
            <a:extLst>
              <a:ext uri="{FF2B5EF4-FFF2-40B4-BE49-F238E27FC236}">
                <a16:creationId xmlns:a16="http://schemas.microsoft.com/office/drawing/2014/main" id="{5D4EC856-56A8-BD6C-1B7C-E7940128E2B2}"/>
              </a:ext>
            </a:extLst>
          </p:cNvPr>
          <p:cNvPicPr>
            <a:picLocks noChangeAspect="1"/>
          </p:cNvPicPr>
          <p:nvPr/>
        </p:nvPicPr>
        <p:blipFill>
          <a:blip r:embed="rId4"/>
          <a:stretch>
            <a:fillRect/>
          </a:stretch>
        </p:blipFill>
        <p:spPr>
          <a:xfrm>
            <a:off x="6701865" y="4337500"/>
            <a:ext cx="5208051" cy="2520500"/>
          </a:xfrm>
          <a:prstGeom prst="rect">
            <a:avLst/>
          </a:prstGeom>
        </p:spPr>
      </p:pic>
      <p:sp>
        <p:nvSpPr>
          <p:cNvPr id="14" name="ZoneTexte 13">
            <a:extLst>
              <a:ext uri="{FF2B5EF4-FFF2-40B4-BE49-F238E27FC236}">
                <a16:creationId xmlns:a16="http://schemas.microsoft.com/office/drawing/2014/main" id="{DE08DBDF-859C-638B-3D89-F870DE32272B}"/>
              </a:ext>
            </a:extLst>
          </p:cNvPr>
          <p:cNvSpPr txBox="1"/>
          <p:nvPr/>
        </p:nvSpPr>
        <p:spPr>
          <a:xfrm>
            <a:off x="137045" y="2020284"/>
            <a:ext cx="6866864" cy="307777"/>
          </a:xfrm>
          <a:prstGeom prst="rect">
            <a:avLst/>
          </a:prstGeom>
          <a:noFill/>
        </p:spPr>
        <p:txBody>
          <a:bodyPr wrap="square" rtlCol="0">
            <a:spAutoFit/>
          </a:bodyPr>
          <a:lstStyle/>
          <a:p>
            <a:r>
              <a:rPr lang="fr-FR" sz="1400" b="1" dirty="0"/>
              <a:t>Tertiaire — BAR.TER.CMPT.15UP.ZS</a:t>
            </a:r>
          </a:p>
        </p:txBody>
      </p:sp>
      <p:sp>
        <p:nvSpPr>
          <p:cNvPr id="15" name="ZoneTexte 14">
            <a:extLst>
              <a:ext uri="{FF2B5EF4-FFF2-40B4-BE49-F238E27FC236}">
                <a16:creationId xmlns:a16="http://schemas.microsoft.com/office/drawing/2014/main" id="{89E2236A-51E0-1E51-92C1-C2B1435C6F02}"/>
              </a:ext>
            </a:extLst>
          </p:cNvPr>
          <p:cNvSpPr txBox="1"/>
          <p:nvPr/>
        </p:nvSpPr>
        <p:spPr>
          <a:xfrm>
            <a:off x="137045" y="5834932"/>
            <a:ext cx="6866864" cy="954107"/>
          </a:xfrm>
          <a:prstGeom prst="rect">
            <a:avLst/>
          </a:prstGeom>
          <a:noFill/>
        </p:spPr>
        <p:txBody>
          <a:bodyPr wrap="square" rtlCol="0">
            <a:spAutoFit/>
          </a:bodyPr>
          <a:lstStyle/>
          <a:p>
            <a:pPr marL="285750" indent="-285750">
              <a:buFont typeface="Arial" panose="020B0604020202020204" pitchFamily="34" charset="0"/>
              <a:buChar char="•"/>
            </a:pPr>
            <a:r>
              <a:rPr lang="fr-FR" sz="1400" dirty="0"/>
              <a:t>Tertiaire : moyenne mondiale ×4 entre 1970 et 2010 (2,0 % → 8,3 %)</a:t>
            </a:r>
          </a:p>
          <a:p>
            <a:pPr marL="285750" indent="-285750">
              <a:buFont typeface="Arial" panose="020B0604020202020204" pitchFamily="34" charset="0"/>
              <a:buChar char="•"/>
            </a:pPr>
            <a:r>
              <a:rPr lang="fr-FR" sz="1400" dirty="0"/>
              <a:t>Distribution asymétrique : quelques pays très éduqués tirent la moyenne vers le haut</a:t>
            </a:r>
          </a:p>
          <a:p>
            <a:pPr marL="285750" indent="-285750">
              <a:buFont typeface="Arial" panose="020B0604020202020204" pitchFamily="34" charset="0"/>
              <a:buChar char="•"/>
            </a:pPr>
            <a:r>
              <a:rPr lang="fr-FR" sz="1400" dirty="0"/>
              <a:t>L'écart entre pays s'est creusé : les retardataires restent très en dessous</a:t>
            </a:r>
          </a:p>
          <a:p>
            <a:pPr marL="285750" indent="-285750">
              <a:buFont typeface="Arial" panose="020B0604020202020204" pitchFamily="34" charset="0"/>
              <a:buChar char="•"/>
            </a:pPr>
            <a:endParaRPr lang="fr-FR" sz="1400" dirty="0"/>
          </a:p>
        </p:txBody>
      </p:sp>
    </p:spTree>
    <p:extLst>
      <p:ext uri="{BB962C8B-B14F-4D97-AF65-F5344CB8AC3E}">
        <p14:creationId xmlns:p14="http://schemas.microsoft.com/office/powerpoint/2010/main" val="1990679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A89836-48D7-05B0-2B28-AE0129401AB1}"/>
              </a:ext>
            </a:extLst>
          </p:cNvPr>
          <p:cNvSpPr>
            <a:spLocks noGrp="1"/>
          </p:cNvSpPr>
          <p:nvPr>
            <p:ph type="title"/>
          </p:nvPr>
        </p:nvSpPr>
        <p:spPr/>
        <p:txBody>
          <a:bodyPr/>
          <a:lstStyle/>
          <a:p>
            <a:r>
              <a:rPr lang="fr-FR" dirty="0"/>
              <a:t>Taux bruts de scolarisation (UNESCO) — 131 pays, 1970–2010</a:t>
            </a:r>
          </a:p>
        </p:txBody>
      </p:sp>
      <p:pic>
        <p:nvPicPr>
          <p:cNvPr id="11" name="Espace réservé du contenu 10">
            <a:extLst>
              <a:ext uri="{FF2B5EF4-FFF2-40B4-BE49-F238E27FC236}">
                <a16:creationId xmlns:a16="http://schemas.microsoft.com/office/drawing/2014/main" id="{C60755C1-9C82-9595-3AF6-D14BE5285521}"/>
              </a:ext>
            </a:extLst>
          </p:cNvPr>
          <p:cNvPicPr>
            <a:picLocks noGrp="1" noChangeAspect="1"/>
          </p:cNvPicPr>
          <p:nvPr>
            <p:ph idx="1"/>
          </p:nvPr>
        </p:nvPicPr>
        <p:blipFill>
          <a:blip r:embed="rId2"/>
          <a:stretch>
            <a:fillRect/>
          </a:stretch>
        </p:blipFill>
        <p:spPr>
          <a:xfrm>
            <a:off x="293574" y="2351030"/>
            <a:ext cx="5616427" cy="3292125"/>
          </a:xfrm>
          <a:prstGeom prst="rect">
            <a:avLst/>
          </a:prstGeom>
        </p:spPr>
      </p:pic>
      <p:sp>
        <p:nvSpPr>
          <p:cNvPr id="7" name="Espace réservé de la date 6">
            <a:extLst>
              <a:ext uri="{FF2B5EF4-FFF2-40B4-BE49-F238E27FC236}">
                <a16:creationId xmlns:a16="http://schemas.microsoft.com/office/drawing/2014/main" id="{52FBBB9B-BBDA-3EEC-96E3-DC4966AA2769}"/>
              </a:ext>
            </a:extLst>
          </p:cNvPr>
          <p:cNvSpPr>
            <a:spLocks noGrp="1"/>
          </p:cNvSpPr>
          <p:nvPr>
            <p:ph type="dt" sz="half" idx="10"/>
          </p:nvPr>
        </p:nvSpPr>
        <p:spPr/>
        <p:txBody>
          <a:bodyPr/>
          <a:lstStyle/>
          <a:p>
            <a:pPr rtl="0"/>
            <a:fld id="{B2D0F46D-59FD-4484-924E-E79DD516B5ED}" type="datetime1">
              <a:rPr lang="fr-FR" smtClean="0"/>
              <a:t>28/04/2026</a:t>
            </a:fld>
            <a:endParaRPr lang="en-US" dirty="0"/>
          </a:p>
        </p:txBody>
      </p:sp>
      <p:pic>
        <p:nvPicPr>
          <p:cNvPr id="9" name="Espace réservé du contenu 8">
            <a:extLst>
              <a:ext uri="{FF2B5EF4-FFF2-40B4-BE49-F238E27FC236}">
                <a16:creationId xmlns:a16="http://schemas.microsoft.com/office/drawing/2014/main" id="{A2E137CE-CA58-5453-4197-8035521760EF}"/>
              </a:ext>
            </a:extLst>
          </p:cNvPr>
          <p:cNvPicPr>
            <a:picLocks noGrp="1" noChangeAspect="1"/>
          </p:cNvPicPr>
          <p:nvPr>
            <p:ph sz="quarter" idx="4294967295"/>
          </p:nvPr>
        </p:nvPicPr>
        <p:blipFill>
          <a:blip r:embed="rId3"/>
          <a:stretch>
            <a:fillRect/>
          </a:stretch>
        </p:blipFill>
        <p:spPr>
          <a:xfrm>
            <a:off x="6740032" y="1890876"/>
            <a:ext cx="5075449" cy="2497394"/>
          </a:xfrm>
          <a:prstGeom prst="rect">
            <a:avLst/>
          </a:prstGeom>
        </p:spPr>
      </p:pic>
      <p:pic>
        <p:nvPicPr>
          <p:cNvPr id="13" name="Image 12">
            <a:extLst>
              <a:ext uri="{FF2B5EF4-FFF2-40B4-BE49-F238E27FC236}">
                <a16:creationId xmlns:a16="http://schemas.microsoft.com/office/drawing/2014/main" id="{7EBABE49-A7FF-192B-5A5F-B5FCB49374D6}"/>
              </a:ext>
            </a:extLst>
          </p:cNvPr>
          <p:cNvPicPr>
            <a:picLocks noChangeAspect="1"/>
          </p:cNvPicPr>
          <p:nvPr/>
        </p:nvPicPr>
        <p:blipFill>
          <a:blip r:embed="rId4"/>
          <a:stretch>
            <a:fillRect/>
          </a:stretch>
        </p:blipFill>
        <p:spPr>
          <a:xfrm>
            <a:off x="6841471" y="4455458"/>
            <a:ext cx="4974011" cy="2402541"/>
          </a:xfrm>
          <a:prstGeom prst="rect">
            <a:avLst/>
          </a:prstGeom>
        </p:spPr>
      </p:pic>
      <p:sp>
        <p:nvSpPr>
          <p:cNvPr id="14" name="ZoneTexte 13">
            <a:extLst>
              <a:ext uri="{FF2B5EF4-FFF2-40B4-BE49-F238E27FC236}">
                <a16:creationId xmlns:a16="http://schemas.microsoft.com/office/drawing/2014/main" id="{ADFF679E-7CE3-032C-B55B-407BA453F7BD}"/>
              </a:ext>
            </a:extLst>
          </p:cNvPr>
          <p:cNvSpPr txBox="1"/>
          <p:nvPr/>
        </p:nvSpPr>
        <p:spPr>
          <a:xfrm>
            <a:off x="137045" y="2020284"/>
            <a:ext cx="6866864" cy="307777"/>
          </a:xfrm>
          <a:prstGeom prst="rect">
            <a:avLst/>
          </a:prstGeom>
          <a:noFill/>
        </p:spPr>
        <p:txBody>
          <a:bodyPr wrap="square" rtlCol="0">
            <a:spAutoFit/>
          </a:bodyPr>
          <a:lstStyle/>
          <a:p>
            <a:r>
              <a:rPr lang="fr-FR" sz="1400" b="1" dirty="0"/>
              <a:t>Secondaire — SE.SEC.ENRR</a:t>
            </a:r>
          </a:p>
        </p:txBody>
      </p:sp>
      <p:sp>
        <p:nvSpPr>
          <p:cNvPr id="15" name="ZoneTexte 14">
            <a:extLst>
              <a:ext uri="{FF2B5EF4-FFF2-40B4-BE49-F238E27FC236}">
                <a16:creationId xmlns:a16="http://schemas.microsoft.com/office/drawing/2014/main" id="{A1533C0D-3C74-FC28-5A74-40D4FBF98391}"/>
              </a:ext>
            </a:extLst>
          </p:cNvPr>
          <p:cNvSpPr txBox="1"/>
          <p:nvPr/>
        </p:nvSpPr>
        <p:spPr>
          <a:xfrm>
            <a:off x="1" y="5619488"/>
            <a:ext cx="7189694" cy="1169551"/>
          </a:xfrm>
          <a:prstGeom prst="rect">
            <a:avLst/>
          </a:prstGeom>
          <a:noFill/>
        </p:spPr>
        <p:txBody>
          <a:bodyPr wrap="square" rtlCol="0">
            <a:spAutoFit/>
          </a:bodyPr>
          <a:lstStyle/>
          <a:p>
            <a:pPr marL="285750" indent="-285750">
              <a:buFont typeface="Arial" panose="020B0604020202020204" pitchFamily="34" charset="0"/>
              <a:buChar char="•"/>
            </a:pPr>
            <a:r>
              <a:rPr lang="fr-FR" sz="1400" dirty="0"/>
              <a:t>Secondaire : moyenne mondiale passe de 28,96% (1970) à 84,52% (2010)</a:t>
            </a:r>
          </a:p>
          <a:p>
            <a:pPr marL="285750" indent="-285750">
              <a:buFont typeface="Arial" panose="020B0604020202020204" pitchFamily="34" charset="0"/>
              <a:buChar char="•"/>
            </a:pPr>
            <a:r>
              <a:rPr lang="fr-FR" sz="1400" dirty="0"/>
              <a:t>C’est une expansion de l’éducation secondaire dans le monde</a:t>
            </a:r>
          </a:p>
          <a:p>
            <a:pPr marL="285750" indent="-285750">
              <a:buFont typeface="Arial" panose="020B0604020202020204" pitchFamily="34" charset="0"/>
              <a:buChar char="•"/>
            </a:pPr>
            <a:r>
              <a:rPr lang="fr-FR" sz="1400" dirty="0"/>
              <a:t>Les pays africains restent systématiquement en dessous de 50 % de scolarisation secondaire. Les pays européens, nord-américains et asiatiques dominent. L'Afrique sub-saharienne représente un marché futur, mais pas encore mature</a:t>
            </a:r>
          </a:p>
        </p:txBody>
      </p:sp>
    </p:spTree>
    <p:extLst>
      <p:ext uri="{BB962C8B-B14F-4D97-AF65-F5344CB8AC3E}">
        <p14:creationId xmlns:p14="http://schemas.microsoft.com/office/powerpoint/2010/main" val="3561870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7AADF-54E6-D4EF-D46E-C355159F5500}"/>
              </a:ext>
            </a:extLst>
          </p:cNvPr>
          <p:cNvSpPr>
            <a:spLocks noGrp="1"/>
          </p:cNvSpPr>
          <p:nvPr>
            <p:ph type="title"/>
          </p:nvPr>
        </p:nvSpPr>
        <p:spPr/>
        <p:txBody>
          <a:bodyPr/>
          <a:lstStyle/>
          <a:p>
            <a:r>
              <a:rPr lang="fr-FR" dirty="0"/>
              <a:t>Taux bruts de scolarisation (UNESCO) — 131 pays, 1970–2010</a:t>
            </a:r>
          </a:p>
        </p:txBody>
      </p:sp>
      <p:pic>
        <p:nvPicPr>
          <p:cNvPr id="11" name="Espace réservé du contenu 10">
            <a:extLst>
              <a:ext uri="{FF2B5EF4-FFF2-40B4-BE49-F238E27FC236}">
                <a16:creationId xmlns:a16="http://schemas.microsoft.com/office/drawing/2014/main" id="{EFC11D0A-5CB8-0901-F0C9-915190891A8E}"/>
              </a:ext>
            </a:extLst>
          </p:cNvPr>
          <p:cNvPicPr>
            <a:picLocks noGrp="1" noChangeAspect="1"/>
          </p:cNvPicPr>
          <p:nvPr>
            <p:ph idx="1"/>
          </p:nvPr>
        </p:nvPicPr>
        <p:blipFill>
          <a:blip r:embed="rId2"/>
          <a:stretch>
            <a:fillRect/>
          </a:stretch>
        </p:blipFill>
        <p:spPr>
          <a:xfrm>
            <a:off x="137045" y="2457469"/>
            <a:ext cx="5349547" cy="3125415"/>
          </a:xfrm>
          <a:prstGeom prst="rect">
            <a:avLst/>
          </a:prstGeom>
        </p:spPr>
      </p:pic>
      <p:sp>
        <p:nvSpPr>
          <p:cNvPr id="7" name="Espace réservé de la date 6">
            <a:extLst>
              <a:ext uri="{FF2B5EF4-FFF2-40B4-BE49-F238E27FC236}">
                <a16:creationId xmlns:a16="http://schemas.microsoft.com/office/drawing/2014/main" id="{A6C1EB6A-E2F1-3F20-11DE-3295D69303AB}"/>
              </a:ext>
            </a:extLst>
          </p:cNvPr>
          <p:cNvSpPr>
            <a:spLocks noGrp="1"/>
          </p:cNvSpPr>
          <p:nvPr>
            <p:ph type="dt" sz="half" idx="10"/>
          </p:nvPr>
        </p:nvSpPr>
        <p:spPr/>
        <p:txBody>
          <a:bodyPr/>
          <a:lstStyle/>
          <a:p>
            <a:pPr rtl="0"/>
            <a:fld id="{B2D0F46D-59FD-4484-924E-E79DD516B5ED}" type="datetime1">
              <a:rPr lang="fr-FR" smtClean="0"/>
              <a:t>28/04/2026</a:t>
            </a:fld>
            <a:endParaRPr lang="en-US" dirty="0"/>
          </a:p>
        </p:txBody>
      </p:sp>
      <p:pic>
        <p:nvPicPr>
          <p:cNvPr id="9" name="Espace réservé du contenu 8">
            <a:extLst>
              <a:ext uri="{FF2B5EF4-FFF2-40B4-BE49-F238E27FC236}">
                <a16:creationId xmlns:a16="http://schemas.microsoft.com/office/drawing/2014/main" id="{D119F3AD-FAD4-B02A-6DDC-BE91F3C6A92E}"/>
              </a:ext>
            </a:extLst>
          </p:cNvPr>
          <p:cNvPicPr>
            <a:picLocks noGrp="1" noChangeAspect="1"/>
          </p:cNvPicPr>
          <p:nvPr>
            <p:ph sz="quarter" idx="4294967295"/>
          </p:nvPr>
        </p:nvPicPr>
        <p:blipFill>
          <a:blip r:embed="rId3"/>
          <a:stretch>
            <a:fillRect/>
          </a:stretch>
        </p:blipFill>
        <p:spPr>
          <a:xfrm>
            <a:off x="6974540" y="2006896"/>
            <a:ext cx="4957483" cy="2428743"/>
          </a:xfrm>
          <a:prstGeom prst="rect">
            <a:avLst/>
          </a:prstGeom>
        </p:spPr>
      </p:pic>
      <p:pic>
        <p:nvPicPr>
          <p:cNvPr id="13" name="Image 12">
            <a:extLst>
              <a:ext uri="{FF2B5EF4-FFF2-40B4-BE49-F238E27FC236}">
                <a16:creationId xmlns:a16="http://schemas.microsoft.com/office/drawing/2014/main" id="{9382A78E-6431-DFE8-8D36-9D70B162F503}"/>
              </a:ext>
            </a:extLst>
          </p:cNvPr>
          <p:cNvPicPr>
            <a:picLocks noChangeAspect="1"/>
          </p:cNvPicPr>
          <p:nvPr/>
        </p:nvPicPr>
        <p:blipFill>
          <a:blip r:embed="rId4"/>
          <a:stretch>
            <a:fillRect/>
          </a:stretch>
        </p:blipFill>
        <p:spPr>
          <a:xfrm>
            <a:off x="7071342" y="4450805"/>
            <a:ext cx="4860682" cy="2407195"/>
          </a:xfrm>
          <a:prstGeom prst="rect">
            <a:avLst/>
          </a:prstGeom>
        </p:spPr>
      </p:pic>
      <p:sp>
        <p:nvSpPr>
          <p:cNvPr id="14" name="ZoneTexte 13">
            <a:extLst>
              <a:ext uri="{FF2B5EF4-FFF2-40B4-BE49-F238E27FC236}">
                <a16:creationId xmlns:a16="http://schemas.microsoft.com/office/drawing/2014/main" id="{EB8D3985-A6D3-EAC8-9A27-D6A690B8174E}"/>
              </a:ext>
            </a:extLst>
          </p:cNvPr>
          <p:cNvSpPr txBox="1"/>
          <p:nvPr/>
        </p:nvSpPr>
        <p:spPr>
          <a:xfrm>
            <a:off x="137045" y="2020284"/>
            <a:ext cx="6866864" cy="307777"/>
          </a:xfrm>
          <a:prstGeom prst="rect">
            <a:avLst/>
          </a:prstGeom>
          <a:noFill/>
        </p:spPr>
        <p:txBody>
          <a:bodyPr wrap="square" rtlCol="0">
            <a:spAutoFit/>
          </a:bodyPr>
          <a:lstStyle/>
          <a:p>
            <a:r>
              <a:rPr lang="fr-FR" sz="1400" b="1" dirty="0"/>
              <a:t>Tertiaire — SE.TER.ENRR</a:t>
            </a:r>
          </a:p>
        </p:txBody>
      </p:sp>
      <p:sp>
        <p:nvSpPr>
          <p:cNvPr id="15" name="ZoneTexte 14">
            <a:extLst>
              <a:ext uri="{FF2B5EF4-FFF2-40B4-BE49-F238E27FC236}">
                <a16:creationId xmlns:a16="http://schemas.microsoft.com/office/drawing/2014/main" id="{7828D1F2-5531-85F4-F7E0-050A3D50FBED}"/>
              </a:ext>
            </a:extLst>
          </p:cNvPr>
          <p:cNvSpPr txBox="1"/>
          <p:nvPr/>
        </p:nvSpPr>
        <p:spPr>
          <a:xfrm>
            <a:off x="1" y="5619488"/>
            <a:ext cx="7189694" cy="1169551"/>
          </a:xfrm>
          <a:prstGeom prst="rect">
            <a:avLst/>
          </a:prstGeom>
          <a:noFill/>
        </p:spPr>
        <p:txBody>
          <a:bodyPr wrap="square" rtlCol="0">
            <a:spAutoFit/>
          </a:bodyPr>
          <a:lstStyle/>
          <a:p>
            <a:pPr marL="285750" indent="-285750">
              <a:buFont typeface="Arial" panose="020B0604020202020204" pitchFamily="34" charset="0"/>
              <a:buChar char="•"/>
            </a:pPr>
            <a:r>
              <a:rPr lang="fr-FR" sz="1400" dirty="0" err="1"/>
              <a:t>Tertaire</a:t>
            </a:r>
            <a:r>
              <a:rPr lang="fr-FR" sz="1400" dirty="0"/>
              <a:t> : moyenne mondiale passe de 6,77% (1970) à 43,5% (2010)</a:t>
            </a:r>
          </a:p>
          <a:p>
            <a:pPr marL="285750" indent="-285750">
              <a:buFont typeface="Arial" panose="020B0604020202020204" pitchFamily="34" charset="0"/>
              <a:buChar char="•"/>
            </a:pPr>
            <a:r>
              <a:rPr lang="fr-FR" sz="1400" dirty="0"/>
              <a:t>C’est une très forte expansion de l’éducation tertiaire dans le monde</a:t>
            </a:r>
          </a:p>
          <a:p>
            <a:pPr marL="285750" indent="-285750">
              <a:buFont typeface="Arial" panose="020B0604020202020204" pitchFamily="34" charset="0"/>
              <a:buChar char="•"/>
            </a:pPr>
            <a:r>
              <a:rPr lang="fr-FR" sz="1400" dirty="0"/>
              <a:t>Les pays africains restent systématiquement en dessous de 20 % de scolarisation secondaire. Les pays européens, nord-américains et asiatiques dominent. L'Afrique sub-saharienne représente un marché futur, mais pas encore mature</a:t>
            </a:r>
          </a:p>
        </p:txBody>
      </p:sp>
    </p:spTree>
    <p:extLst>
      <p:ext uri="{BB962C8B-B14F-4D97-AF65-F5344CB8AC3E}">
        <p14:creationId xmlns:p14="http://schemas.microsoft.com/office/powerpoint/2010/main" val="914776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977EF4-ED71-35CD-9E97-775AD4AA8313}"/>
              </a:ext>
            </a:extLst>
          </p:cNvPr>
          <p:cNvSpPr>
            <a:spLocks noGrp="1"/>
          </p:cNvSpPr>
          <p:nvPr>
            <p:ph type="title"/>
          </p:nvPr>
        </p:nvSpPr>
        <p:spPr/>
        <p:txBody>
          <a:bodyPr/>
          <a:lstStyle/>
          <a:p>
            <a:r>
              <a:rPr lang="fr-FR" dirty="0"/>
              <a:t>Projections éducatives mondiales (2015–2030)</a:t>
            </a:r>
          </a:p>
        </p:txBody>
      </p:sp>
      <p:pic>
        <p:nvPicPr>
          <p:cNvPr id="11" name="Espace réservé du contenu 10">
            <a:extLst>
              <a:ext uri="{FF2B5EF4-FFF2-40B4-BE49-F238E27FC236}">
                <a16:creationId xmlns:a16="http://schemas.microsoft.com/office/drawing/2014/main" id="{B44D54D3-F39E-A0DC-D374-DA2F8FD6B208}"/>
              </a:ext>
            </a:extLst>
          </p:cNvPr>
          <p:cNvPicPr>
            <a:picLocks noGrp="1" noChangeAspect="1"/>
          </p:cNvPicPr>
          <p:nvPr>
            <p:ph idx="1"/>
          </p:nvPr>
        </p:nvPicPr>
        <p:blipFill>
          <a:blip r:embed="rId2"/>
          <a:stretch>
            <a:fillRect/>
          </a:stretch>
        </p:blipFill>
        <p:spPr>
          <a:xfrm>
            <a:off x="118535" y="2384950"/>
            <a:ext cx="5084731" cy="2949144"/>
          </a:xfrm>
          <a:prstGeom prst="rect">
            <a:avLst/>
          </a:prstGeom>
        </p:spPr>
      </p:pic>
      <p:sp>
        <p:nvSpPr>
          <p:cNvPr id="7" name="Espace réservé de la date 6">
            <a:extLst>
              <a:ext uri="{FF2B5EF4-FFF2-40B4-BE49-F238E27FC236}">
                <a16:creationId xmlns:a16="http://schemas.microsoft.com/office/drawing/2014/main" id="{3C47EA6E-481A-6B81-737C-791D57A3B823}"/>
              </a:ext>
            </a:extLst>
          </p:cNvPr>
          <p:cNvSpPr>
            <a:spLocks noGrp="1"/>
          </p:cNvSpPr>
          <p:nvPr>
            <p:ph type="dt" sz="half" idx="10"/>
          </p:nvPr>
        </p:nvSpPr>
        <p:spPr/>
        <p:txBody>
          <a:bodyPr/>
          <a:lstStyle/>
          <a:p>
            <a:pPr rtl="0"/>
            <a:fld id="{B2D0F46D-59FD-4484-924E-E79DD516B5ED}" type="datetime1">
              <a:rPr lang="fr-FR" smtClean="0"/>
              <a:t>28/04/2026</a:t>
            </a:fld>
            <a:endParaRPr lang="en-US" dirty="0"/>
          </a:p>
        </p:txBody>
      </p:sp>
      <p:pic>
        <p:nvPicPr>
          <p:cNvPr id="9" name="Espace réservé du contenu 8">
            <a:extLst>
              <a:ext uri="{FF2B5EF4-FFF2-40B4-BE49-F238E27FC236}">
                <a16:creationId xmlns:a16="http://schemas.microsoft.com/office/drawing/2014/main" id="{4F5B6B65-0713-7767-EAA6-86AB9733C2D6}"/>
              </a:ext>
            </a:extLst>
          </p:cNvPr>
          <p:cNvPicPr>
            <a:picLocks noGrp="1" noChangeAspect="1"/>
          </p:cNvPicPr>
          <p:nvPr>
            <p:ph sz="quarter" idx="4294967295"/>
          </p:nvPr>
        </p:nvPicPr>
        <p:blipFill>
          <a:blip r:embed="rId3"/>
          <a:stretch>
            <a:fillRect/>
          </a:stretch>
        </p:blipFill>
        <p:spPr>
          <a:xfrm>
            <a:off x="6766465" y="1890876"/>
            <a:ext cx="5102804" cy="2499938"/>
          </a:xfrm>
          <a:prstGeom prst="rect">
            <a:avLst/>
          </a:prstGeom>
        </p:spPr>
      </p:pic>
      <p:pic>
        <p:nvPicPr>
          <p:cNvPr id="13" name="Image 12">
            <a:extLst>
              <a:ext uri="{FF2B5EF4-FFF2-40B4-BE49-F238E27FC236}">
                <a16:creationId xmlns:a16="http://schemas.microsoft.com/office/drawing/2014/main" id="{7EE57AFC-0BD2-021E-25F4-9AD3B708F4FE}"/>
              </a:ext>
            </a:extLst>
          </p:cNvPr>
          <p:cNvPicPr>
            <a:picLocks noChangeAspect="1"/>
          </p:cNvPicPr>
          <p:nvPr/>
        </p:nvPicPr>
        <p:blipFill>
          <a:blip r:embed="rId4"/>
          <a:stretch>
            <a:fillRect/>
          </a:stretch>
        </p:blipFill>
        <p:spPr>
          <a:xfrm>
            <a:off x="6938493" y="4390814"/>
            <a:ext cx="4948337" cy="2467186"/>
          </a:xfrm>
          <a:prstGeom prst="rect">
            <a:avLst/>
          </a:prstGeom>
        </p:spPr>
      </p:pic>
      <p:sp>
        <p:nvSpPr>
          <p:cNvPr id="14" name="ZoneTexte 13">
            <a:extLst>
              <a:ext uri="{FF2B5EF4-FFF2-40B4-BE49-F238E27FC236}">
                <a16:creationId xmlns:a16="http://schemas.microsoft.com/office/drawing/2014/main" id="{97A6C20C-8109-8784-0B56-70352B156FAD}"/>
              </a:ext>
            </a:extLst>
          </p:cNvPr>
          <p:cNvSpPr txBox="1"/>
          <p:nvPr/>
        </p:nvSpPr>
        <p:spPr>
          <a:xfrm>
            <a:off x="137045" y="2020284"/>
            <a:ext cx="6866864" cy="307777"/>
          </a:xfrm>
          <a:prstGeom prst="rect">
            <a:avLst/>
          </a:prstGeom>
          <a:noFill/>
        </p:spPr>
        <p:txBody>
          <a:bodyPr wrap="square" rtlCol="0">
            <a:spAutoFit/>
          </a:bodyPr>
          <a:lstStyle/>
          <a:p>
            <a:r>
              <a:rPr lang="fr-FR" sz="1400" b="1" dirty="0"/>
              <a:t>Secondaire — PRJ.ATT.15UP.3.MF</a:t>
            </a:r>
          </a:p>
        </p:txBody>
      </p:sp>
      <p:sp>
        <p:nvSpPr>
          <p:cNvPr id="15" name="ZoneTexte 14">
            <a:extLst>
              <a:ext uri="{FF2B5EF4-FFF2-40B4-BE49-F238E27FC236}">
                <a16:creationId xmlns:a16="http://schemas.microsoft.com/office/drawing/2014/main" id="{DFE1A148-89B5-962F-5EF9-3536C63137A2}"/>
              </a:ext>
            </a:extLst>
          </p:cNvPr>
          <p:cNvSpPr txBox="1"/>
          <p:nvPr/>
        </p:nvSpPr>
        <p:spPr>
          <a:xfrm>
            <a:off x="1" y="5619488"/>
            <a:ext cx="7189694" cy="954107"/>
          </a:xfrm>
          <a:prstGeom prst="rect">
            <a:avLst/>
          </a:prstGeom>
          <a:noFill/>
        </p:spPr>
        <p:txBody>
          <a:bodyPr wrap="square" rtlCol="0">
            <a:spAutoFit/>
          </a:bodyPr>
          <a:lstStyle/>
          <a:p>
            <a:pPr marL="285750" indent="-285750">
              <a:buFont typeface="Arial" panose="020B0604020202020204" pitchFamily="34" charset="0"/>
              <a:buChar char="•"/>
            </a:pPr>
            <a:r>
              <a:rPr lang="fr-FR" sz="1400" dirty="0"/>
              <a:t>La progression du secondaire supérieur ne représente que +4 % en 15 ans (2015-2030). La maturité du marché est quasi-atteinte dans les pays développés.</a:t>
            </a:r>
          </a:p>
          <a:p>
            <a:pPr marL="285750" indent="-285750">
              <a:buFont typeface="Arial" panose="020B0604020202020204" pitchFamily="34" charset="0"/>
              <a:buChar char="•"/>
            </a:pPr>
            <a:r>
              <a:rPr lang="fr-FR" sz="1400" dirty="0"/>
              <a:t>La Banque mondiale projette que les pays les plus pauvres n'amélioreront pas significativement leur situation d'ici 2030.</a:t>
            </a:r>
          </a:p>
        </p:txBody>
      </p:sp>
    </p:spTree>
    <p:extLst>
      <p:ext uri="{BB962C8B-B14F-4D97-AF65-F5344CB8AC3E}">
        <p14:creationId xmlns:p14="http://schemas.microsoft.com/office/powerpoint/2010/main" val="1366034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5653C2-D667-6884-FA43-F08D77D42F2B}"/>
              </a:ext>
            </a:extLst>
          </p:cNvPr>
          <p:cNvSpPr>
            <a:spLocks noGrp="1"/>
          </p:cNvSpPr>
          <p:nvPr>
            <p:ph type="title"/>
          </p:nvPr>
        </p:nvSpPr>
        <p:spPr/>
        <p:txBody>
          <a:bodyPr/>
          <a:lstStyle/>
          <a:p>
            <a:r>
              <a:rPr lang="fr-FR" dirty="0"/>
              <a:t>Projections éducatives mondiales (2015–2030)</a:t>
            </a:r>
          </a:p>
        </p:txBody>
      </p:sp>
      <p:pic>
        <p:nvPicPr>
          <p:cNvPr id="11" name="Espace réservé du contenu 10">
            <a:extLst>
              <a:ext uri="{FF2B5EF4-FFF2-40B4-BE49-F238E27FC236}">
                <a16:creationId xmlns:a16="http://schemas.microsoft.com/office/drawing/2014/main" id="{80E36626-0251-32BF-AFC0-276BE7F10CF8}"/>
              </a:ext>
            </a:extLst>
          </p:cNvPr>
          <p:cNvPicPr>
            <a:picLocks noGrp="1" noChangeAspect="1"/>
          </p:cNvPicPr>
          <p:nvPr>
            <p:ph idx="1"/>
          </p:nvPr>
        </p:nvPicPr>
        <p:blipFill>
          <a:blip r:embed="rId2"/>
          <a:stretch>
            <a:fillRect/>
          </a:stretch>
        </p:blipFill>
        <p:spPr>
          <a:xfrm>
            <a:off x="1" y="2372075"/>
            <a:ext cx="5194300" cy="2983959"/>
          </a:xfrm>
          <a:prstGeom prst="rect">
            <a:avLst/>
          </a:prstGeom>
        </p:spPr>
      </p:pic>
      <p:sp>
        <p:nvSpPr>
          <p:cNvPr id="7" name="Espace réservé de la date 6">
            <a:extLst>
              <a:ext uri="{FF2B5EF4-FFF2-40B4-BE49-F238E27FC236}">
                <a16:creationId xmlns:a16="http://schemas.microsoft.com/office/drawing/2014/main" id="{CF8A03F6-E503-640E-36F3-45F46AFB5E5F}"/>
              </a:ext>
            </a:extLst>
          </p:cNvPr>
          <p:cNvSpPr>
            <a:spLocks noGrp="1"/>
          </p:cNvSpPr>
          <p:nvPr>
            <p:ph type="dt" sz="half" idx="10"/>
          </p:nvPr>
        </p:nvSpPr>
        <p:spPr/>
        <p:txBody>
          <a:bodyPr/>
          <a:lstStyle/>
          <a:p>
            <a:pPr rtl="0"/>
            <a:fld id="{B2D0F46D-59FD-4484-924E-E79DD516B5ED}" type="datetime1">
              <a:rPr lang="fr-FR" smtClean="0"/>
              <a:t>28/04/2026</a:t>
            </a:fld>
            <a:endParaRPr lang="en-US" dirty="0"/>
          </a:p>
        </p:txBody>
      </p:sp>
      <p:pic>
        <p:nvPicPr>
          <p:cNvPr id="9" name="Espace réservé du contenu 8">
            <a:extLst>
              <a:ext uri="{FF2B5EF4-FFF2-40B4-BE49-F238E27FC236}">
                <a16:creationId xmlns:a16="http://schemas.microsoft.com/office/drawing/2014/main" id="{D47B99F0-0343-74E7-4223-5089DD82ABF2}"/>
              </a:ext>
            </a:extLst>
          </p:cNvPr>
          <p:cNvPicPr>
            <a:picLocks noGrp="1" noChangeAspect="1"/>
          </p:cNvPicPr>
          <p:nvPr>
            <p:ph sz="quarter" idx="4294967295"/>
          </p:nvPr>
        </p:nvPicPr>
        <p:blipFill>
          <a:blip r:embed="rId3"/>
          <a:stretch>
            <a:fillRect/>
          </a:stretch>
        </p:blipFill>
        <p:spPr>
          <a:xfrm>
            <a:off x="6622696" y="1890876"/>
            <a:ext cx="4988112" cy="2440699"/>
          </a:xfrm>
          <a:prstGeom prst="rect">
            <a:avLst/>
          </a:prstGeom>
        </p:spPr>
      </p:pic>
      <p:pic>
        <p:nvPicPr>
          <p:cNvPr id="13" name="Image 12">
            <a:extLst>
              <a:ext uri="{FF2B5EF4-FFF2-40B4-BE49-F238E27FC236}">
                <a16:creationId xmlns:a16="http://schemas.microsoft.com/office/drawing/2014/main" id="{DB9662F0-0B3F-6534-8758-4455528FF03D}"/>
              </a:ext>
            </a:extLst>
          </p:cNvPr>
          <p:cNvPicPr>
            <a:picLocks noChangeAspect="1"/>
          </p:cNvPicPr>
          <p:nvPr/>
        </p:nvPicPr>
        <p:blipFill>
          <a:blip r:embed="rId4"/>
          <a:stretch>
            <a:fillRect/>
          </a:stretch>
        </p:blipFill>
        <p:spPr>
          <a:xfrm>
            <a:off x="6693424" y="4348340"/>
            <a:ext cx="4998066" cy="2440699"/>
          </a:xfrm>
          <a:prstGeom prst="rect">
            <a:avLst/>
          </a:prstGeom>
        </p:spPr>
      </p:pic>
      <p:sp>
        <p:nvSpPr>
          <p:cNvPr id="14" name="ZoneTexte 13">
            <a:extLst>
              <a:ext uri="{FF2B5EF4-FFF2-40B4-BE49-F238E27FC236}">
                <a16:creationId xmlns:a16="http://schemas.microsoft.com/office/drawing/2014/main" id="{A2F8EE11-E0D9-852A-1304-BDB2746B62E6}"/>
              </a:ext>
            </a:extLst>
          </p:cNvPr>
          <p:cNvSpPr txBox="1"/>
          <p:nvPr/>
        </p:nvSpPr>
        <p:spPr>
          <a:xfrm>
            <a:off x="137045" y="2020284"/>
            <a:ext cx="6866864" cy="307777"/>
          </a:xfrm>
          <a:prstGeom prst="rect">
            <a:avLst/>
          </a:prstGeom>
          <a:noFill/>
        </p:spPr>
        <p:txBody>
          <a:bodyPr wrap="square" rtlCol="0">
            <a:spAutoFit/>
          </a:bodyPr>
          <a:lstStyle/>
          <a:p>
            <a:r>
              <a:rPr lang="fr-FR" sz="1400" b="1" dirty="0"/>
              <a:t>Tertiaire — PRJ.ATT.15UP.4.MF</a:t>
            </a:r>
          </a:p>
        </p:txBody>
      </p:sp>
      <p:sp>
        <p:nvSpPr>
          <p:cNvPr id="15" name="ZoneTexte 14">
            <a:extLst>
              <a:ext uri="{FF2B5EF4-FFF2-40B4-BE49-F238E27FC236}">
                <a16:creationId xmlns:a16="http://schemas.microsoft.com/office/drawing/2014/main" id="{83FA685D-9F3F-7610-B088-24FDC45BFAA9}"/>
              </a:ext>
            </a:extLst>
          </p:cNvPr>
          <p:cNvSpPr txBox="1"/>
          <p:nvPr/>
        </p:nvSpPr>
        <p:spPr>
          <a:xfrm>
            <a:off x="1" y="5619488"/>
            <a:ext cx="7189694" cy="738664"/>
          </a:xfrm>
          <a:prstGeom prst="rect">
            <a:avLst/>
          </a:prstGeom>
          <a:noFill/>
        </p:spPr>
        <p:txBody>
          <a:bodyPr wrap="square" rtlCol="0">
            <a:spAutoFit/>
          </a:bodyPr>
          <a:lstStyle/>
          <a:p>
            <a:pPr marL="285750" indent="-285750">
              <a:buFont typeface="Arial" panose="020B0604020202020204" pitchFamily="34" charset="0"/>
              <a:buChar char="•"/>
            </a:pPr>
            <a:r>
              <a:rPr lang="fr-FR" sz="1400" dirty="0"/>
              <a:t>Le post-secondaire progresse de +4 % également. </a:t>
            </a:r>
          </a:p>
          <a:p>
            <a:pPr marL="285750" indent="-285750">
              <a:buFont typeface="Arial" panose="020B0604020202020204" pitchFamily="34" charset="0"/>
              <a:buChar char="•"/>
            </a:pPr>
            <a:r>
              <a:rPr lang="fr-FR" sz="1400" dirty="0"/>
              <a:t>La Banque mondiale projette que les pays les plus pauvres n'amélioreront pas significativement leur situation d'ici 2030.</a:t>
            </a:r>
          </a:p>
        </p:txBody>
      </p:sp>
    </p:spTree>
    <p:extLst>
      <p:ext uri="{BB962C8B-B14F-4D97-AF65-F5344CB8AC3E}">
        <p14:creationId xmlns:p14="http://schemas.microsoft.com/office/powerpoint/2010/main" val="3405793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D5F9E-E803-779D-5CD7-0EC9AF99B761}"/>
              </a:ext>
            </a:extLst>
          </p:cNvPr>
          <p:cNvSpPr>
            <a:spLocks noGrp="1"/>
          </p:cNvSpPr>
          <p:nvPr>
            <p:ph type="title"/>
          </p:nvPr>
        </p:nvSpPr>
        <p:spPr/>
        <p:txBody>
          <a:bodyPr/>
          <a:lstStyle/>
          <a:p>
            <a:r>
              <a:rPr lang="fr-FR" dirty="0"/>
              <a:t>Pays a fort potentiel pour </a:t>
            </a:r>
            <a:r>
              <a:rPr lang="fr-FR" dirty="0" err="1"/>
              <a:t>Academy</a:t>
            </a:r>
            <a:endParaRPr lang="fr-FR" dirty="0"/>
          </a:p>
        </p:txBody>
      </p:sp>
      <p:graphicFrame>
        <p:nvGraphicFramePr>
          <p:cNvPr id="5" name="Espace réservé du contenu 4">
            <a:extLst>
              <a:ext uri="{FF2B5EF4-FFF2-40B4-BE49-F238E27FC236}">
                <a16:creationId xmlns:a16="http://schemas.microsoft.com/office/drawing/2014/main" id="{7035E424-6B39-A967-B0E7-3DDDCD6E23D5}"/>
              </a:ext>
            </a:extLst>
          </p:cNvPr>
          <p:cNvGraphicFramePr>
            <a:graphicFrameLocks noGrp="1"/>
          </p:cNvGraphicFramePr>
          <p:nvPr>
            <p:ph idx="1"/>
            <p:extLst>
              <p:ext uri="{D42A27DB-BD31-4B8C-83A1-F6EECF244321}">
                <p14:modId xmlns:p14="http://schemas.microsoft.com/office/powerpoint/2010/main" val="1708953865"/>
              </p:ext>
            </p:extLst>
          </p:nvPr>
        </p:nvGraphicFramePr>
        <p:xfrm>
          <a:off x="580852" y="3325641"/>
          <a:ext cx="11404964" cy="2667000"/>
        </p:xfrm>
        <a:graphic>
          <a:graphicData uri="http://schemas.openxmlformats.org/drawingml/2006/table">
            <a:tbl>
              <a:tblPr firstRow="1" bandRow="1">
                <a:tableStyleId>{5C22544A-7EE6-4342-B048-85BDC9FD1C3A}</a:tableStyleId>
              </a:tblPr>
              <a:tblGrid>
                <a:gridCol w="877305">
                  <a:extLst>
                    <a:ext uri="{9D8B030D-6E8A-4147-A177-3AD203B41FA5}">
                      <a16:colId xmlns:a16="http://schemas.microsoft.com/office/drawing/2014/main" val="261189824"/>
                    </a:ext>
                  </a:extLst>
                </a:gridCol>
                <a:gridCol w="683910">
                  <a:extLst>
                    <a:ext uri="{9D8B030D-6E8A-4147-A177-3AD203B41FA5}">
                      <a16:colId xmlns:a16="http://schemas.microsoft.com/office/drawing/2014/main" val="161621173"/>
                    </a:ext>
                  </a:extLst>
                </a:gridCol>
                <a:gridCol w="1070699">
                  <a:extLst>
                    <a:ext uri="{9D8B030D-6E8A-4147-A177-3AD203B41FA5}">
                      <a16:colId xmlns:a16="http://schemas.microsoft.com/office/drawing/2014/main" val="3134411538"/>
                    </a:ext>
                  </a:extLst>
                </a:gridCol>
                <a:gridCol w="877305">
                  <a:extLst>
                    <a:ext uri="{9D8B030D-6E8A-4147-A177-3AD203B41FA5}">
                      <a16:colId xmlns:a16="http://schemas.microsoft.com/office/drawing/2014/main" val="3603885956"/>
                    </a:ext>
                  </a:extLst>
                </a:gridCol>
                <a:gridCol w="877305">
                  <a:extLst>
                    <a:ext uri="{9D8B030D-6E8A-4147-A177-3AD203B41FA5}">
                      <a16:colId xmlns:a16="http://schemas.microsoft.com/office/drawing/2014/main" val="1847236734"/>
                    </a:ext>
                  </a:extLst>
                </a:gridCol>
                <a:gridCol w="877305">
                  <a:extLst>
                    <a:ext uri="{9D8B030D-6E8A-4147-A177-3AD203B41FA5}">
                      <a16:colId xmlns:a16="http://schemas.microsoft.com/office/drawing/2014/main" val="3411382353"/>
                    </a:ext>
                  </a:extLst>
                </a:gridCol>
                <a:gridCol w="852452">
                  <a:extLst>
                    <a:ext uri="{9D8B030D-6E8A-4147-A177-3AD203B41FA5}">
                      <a16:colId xmlns:a16="http://schemas.microsoft.com/office/drawing/2014/main" val="442310463"/>
                    </a:ext>
                  </a:extLst>
                </a:gridCol>
                <a:gridCol w="902158">
                  <a:extLst>
                    <a:ext uri="{9D8B030D-6E8A-4147-A177-3AD203B41FA5}">
                      <a16:colId xmlns:a16="http://schemas.microsoft.com/office/drawing/2014/main" val="727068119"/>
                    </a:ext>
                  </a:extLst>
                </a:gridCol>
                <a:gridCol w="877305">
                  <a:extLst>
                    <a:ext uri="{9D8B030D-6E8A-4147-A177-3AD203B41FA5}">
                      <a16:colId xmlns:a16="http://schemas.microsoft.com/office/drawing/2014/main" val="3416045288"/>
                    </a:ext>
                  </a:extLst>
                </a:gridCol>
                <a:gridCol w="877305">
                  <a:extLst>
                    <a:ext uri="{9D8B030D-6E8A-4147-A177-3AD203B41FA5}">
                      <a16:colId xmlns:a16="http://schemas.microsoft.com/office/drawing/2014/main" val="1981208079"/>
                    </a:ext>
                  </a:extLst>
                </a:gridCol>
                <a:gridCol w="877305">
                  <a:extLst>
                    <a:ext uri="{9D8B030D-6E8A-4147-A177-3AD203B41FA5}">
                      <a16:colId xmlns:a16="http://schemas.microsoft.com/office/drawing/2014/main" val="3653885825"/>
                    </a:ext>
                  </a:extLst>
                </a:gridCol>
                <a:gridCol w="877305">
                  <a:extLst>
                    <a:ext uri="{9D8B030D-6E8A-4147-A177-3AD203B41FA5}">
                      <a16:colId xmlns:a16="http://schemas.microsoft.com/office/drawing/2014/main" val="3191583066"/>
                    </a:ext>
                  </a:extLst>
                </a:gridCol>
                <a:gridCol w="877305">
                  <a:extLst>
                    <a:ext uri="{9D8B030D-6E8A-4147-A177-3AD203B41FA5}">
                      <a16:colId xmlns:a16="http://schemas.microsoft.com/office/drawing/2014/main" val="2661329836"/>
                    </a:ext>
                  </a:extLst>
                </a:gridCol>
              </a:tblGrid>
              <a:tr h="370840">
                <a:tc>
                  <a:txBody>
                    <a:bodyPr/>
                    <a:lstStyle/>
                    <a:p>
                      <a:r>
                        <a:rPr lang="fr-FR" sz="1400" dirty="0"/>
                        <a:t>Position</a:t>
                      </a:r>
                    </a:p>
                  </a:txBody>
                  <a:tcPr/>
                </a:tc>
                <a:tc>
                  <a:txBody>
                    <a:bodyPr/>
                    <a:lstStyle/>
                    <a:p>
                      <a:r>
                        <a:rPr lang="fr-FR" sz="1400" dirty="0"/>
                        <a:t>Score</a:t>
                      </a:r>
                    </a:p>
                  </a:txBody>
                  <a:tcPr/>
                </a:tc>
                <a:tc>
                  <a:txBody>
                    <a:bodyPr/>
                    <a:lstStyle/>
                    <a:p>
                      <a:r>
                        <a:rPr lang="fr-FR" sz="1400" dirty="0"/>
                        <a:t>Pays</a:t>
                      </a:r>
                    </a:p>
                  </a:txBody>
                  <a:tcPr/>
                </a:tc>
                <a:tc>
                  <a:txBody>
                    <a:bodyPr/>
                    <a:lstStyle/>
                    <a:p>
                      <a:r>
                        <a:rPr lang="fr-FR" sz="1400" dirty="0"/>
                        <a:t>BAR.SEC</a:t>
                      </a:r>
                    </a:p>
                  </a:txBody>
                  <a:tcPr/>
                </a:tc>
                <a:tc>
                  <a:txBody>
                    <a:bodyPr/>
                    <a:lstStyle/>
                    <a:p>
                      <a:r>
                        <a:rPr lang="fr-FR" sz="1400" dirty="0"/>
                        <a:t>Evol. BAR.SEC</a:t>
                      </a:r>
                    </a:p>
                  </a:txBody>
                  <a:tcPr/>
                </a:tc>
                <a:tc>
                  <a:txBody>
                    <a:bodyPr/>
                    <a:lstStyle/>
                    <a:p>
                      <a:r>
                        <a:rPr lang="fr-FR" sz="1400" dirty="0"/>
                        <a:t>BAR.TER</a:t>
                      </a:r>
                    </a:p>
                  </a:txBody>
                  <a:tcPr/>
                </a:tc>
                <a:tc>
                  <a:txBody>
                    <a:bodyPr/>
                    <a:lstStyle/>
                    <a:p>
                      <a:r>
                        <a:rPr lang="fr-FR" sz="1400" dirty="0"/>
                        <a:t>Evol. BAR.TER</a:t>
                      </a:r>
                    </a:p>
                  </a:txBody>
                  <a:tcPr/>
                </a:tc>
                <a:tc>
                  <a:txBody>
                    <a:bodyPr/>
                    <a:lstStyle/>
                    <a:p>
                      <a:r>
                        <a:rPr lang="fr-FR" sz="1400" dirty="0"/>
                        <a:t>SE.SEC</a:t>
                      </a:r>
                    </a:p>
                  </a:txBody>
                  <a:tcPr/>
                </a:tc>
                <a:tc>
                  <a:txBody>
                    <a:bodyPr/>
                    <a:lstStyle/>
                    <a:p>
                      <a:r>
                        <a:rPr lang="fr-FR" sz="1400" dirty="0"/>
                        <a:t>Evol. SE.SEC</a:t>
                      </a:r>
                    </a:p>
                  </a:txBody>
                  <a:tcPr/>
                </a:tc>
                <a:tc>
                  <a:txBody>
                    <a:bodyPr/>
                    <a:lstStyle/>
                    <a:p>
                      <a:r>
                        <a:rPr lang="fr-FR" sz="1400" dirty="0"/>
                        <a:t>SE.TER</a:t>
                      </a:r>
                    </a:p>
                  </a:txBody>
                  <a:tcPr/>
                </a:tc>
                <a:tc>
                  <a:txBody>
                    <a:bodyPr/>
                    <a:lstStyle/>
                    <a:p>
                      <a:r>
                        <a:rPr lang="fr-FR" sz="1400" dirty="0"/>
                        <a:t>Evol. SE.TER</a:t>
                      </a:r>
                    </a:p>
                  </a:txBody>
                  <a:tcPr/>
                </a:tc>
                <a:tc>
                  <a:txBody>
                    <a:bodyPr/>
                    <a:lstStyle/>
                    <a:p>
                      <a:r>
                        <a:rPr lang="fr-FR" sz="1400" dirty="0"/>
                        <a:t>PRJ.3</a:t>
                      </a:r>
                    </a:p>
                  </a:txBody>
                  <a:tcPr/>
                </a:tc>
                <a:tc>
                  <a:txBody>
                    <a:bodyPr/>
                    <a:lstStyle/>
                    <a:p>
                      <a:r>
                        <a:rPr lang="fr-FR" sz="1400" dirty="0"/>
                        <a:t>PRJ.4</a:t>
                      </a:r>
                    </a:p>
                  </a:txBody>
                  <a:tcPr/>
                </a:tc>
                <a:extLst>
                  <a:ext uri="{0D108BD9-81ED-4DB2-BD59-A6C34878D82A}">
                    <a16:rowId xmlns:a16="http://schemas.microsoft.com/office/drawing/2014/main" val="951986678"/>
                  </a:ext>
                </a:extLst>
              </a:tr>
              <a:tr h="370840">
                <a:tc>
                  <a:txBody>
                    <a:bodyPr/>
                    <a:lstStyle/>
                    <a:p>
                      <a:r>
                        <a:rPr lang="fr-FR" sz="1400" dirty="0"/>
                        <a:t>1</a:t>
                      </a:r>
                    </a:p>
                  </a:txBody>
                  <a:tcPr/>
                </a:tc>
                <a:tc>
                  <a:txBody>
                    <a:bodyPr/>
                    <a:lstStyle/>
                    <a:p>
                      <a:r>
                        <a:rPr lang="fr-FR" sz="1400" dirty="0"/>
                        <a:t>5</a:t>
                      </a:r>
                    </a:p>
                  </a:txBody>
                  <a:tcPr/>
                </a:tc>
                <a:tc>
                  <a:txBody>
                    <a:bodyPr/>
                    <a:lstStyle/>
                    <a:p>
                      <a:r>
                        <a:rPr lang="fr-FR" sz="1400" b="1" dirty="0"/>
                        <a:t>Australie</a:t>
                      </a:r>
                    </a:p>
                  </a:txBody>
                  <a:tcPr/>
                </a:tc>
                <a:tc>
                  <a:txBody>
                    <a:bodyPr/>
                    <a:lstStyle/>
                    <a:p>
                      <a:r>
                        <a:rPr lang="fr-FR" sz="1400" b="1" i="0" kern="1200" dirty="0">
                          <a:solidFill>
                            <a:srgbClr val="00B050"/>
                          </a:solidFill>
                          <a:effectLst/>
                          <a:latin typeface="+mn-lt"/>
                          <a:ea typeface="+mn-ea"/>
                          <a:cs typeface="+mn-cs"/>
                        </a:rPr>
                        <a:t>49,05%</a:t>
                      </a:r>
                      <a:endParaRPr lang="fr-FR" sz="1400" b="1" dirty="0">
                        <a:solidFill>
                          <a:srgbClr val="00B050"/>
                        </a:solidFill>
                      </a:endParaRPr>
                    </a:p>
                  </a:txBody>
                  <a:tcPr/>
                </a:tc>
                <a:tc>
                  <a:txBody>
                    <a:bodyPr/>
                    <a:lstStyle/>
                    <a:p>
                      <a:r>
                        <a:rPr lang="fr-FR" sz="1400" dirty="0">
                          <a:solidFill>
                            <a:schemeClr val="tx1"/>
                          </a:solidFill>
                        </a:rPr>
                        <a:t>NC</a:t>
                      </a:r>
                    </a:p>
                  </a:txBody>
                  <a:tcPr>
                    <a:solidFill>
                      <a:schemeClr val="tx1">
                        <a:lumMod val="50000"/>
                        <a:lumOff val="50000"/>
                      </a:schemeClr>
                    </a:solidFill>
                  </a:tcPr>
                </a:tc>
                <a:tc>
                  <a:txBody>
                    <a:bodyPr/>
                    <a:lstStyle/>
                    <a:p>
                      <a:r>
                        <a:rPr lang="fr-FR" sz="1400" b="1" dirty="0">
                          <a:solidFill>
                            <a:srgbClr val="00B050"/>
                          </a:solidFill>
                        </a:rPr>
                        <a:t>13,96%</a:t>
                      </a:r>
                    </a:p>
                  </a:txBody>
                  <a:tcPr/>
                </a:tc>
                <a:tc>
                  <a:txBody>
                    <a:bodyPr/>
                    <a:lstStyle/>
                    <a:p>
                      <a:r>
                        <a:rPr lang="fr-FR" sz="1400" dirty="0">
                          <a:solidFill>
                            <a:schemeClr val="tx1"/>
                          </a:solidFill>
                        </a:rPr>
                        <a:t>NC</a:t>
                      </a:r>
                    </a:p>
                  </a:txBody>
                  <a:tcPr>
                    <a:solidFill>
                      <a:schemeClr val="tx1">
                        <a:lumMod val="50000"/>
                        <a:lumOff val="50000"/>
                      </a:schemeClr>
                    </a:solidFill>
                  </a:tcPr>
                </a:tc>
                <a:tc>
                  <a:txBody>
                    <a:bodyPr/>
                    <a:lstStyle/>
                    <a:p>
                      <a:r>
                        <a:rPr lang="fr-FR" sz="1400" b="1" dirty="0">
                          <a:solidFill>
                            <a:srgbClr val="00B050"/>
                          </a:solidFill>
                        </a:rPr>
                        <a:t>133,34%</a:t>
                      </a:r>
                    </a:p>
                  </a:txBody>
                  <a:tcPr/>
                </a:tc>
                <a:tc>
                  <a:txBody>
                    <a:bodyPr/>
                    <a:lstStyle/>
                    <a:p>
                      <a:r>
                        <a:rPr lang="fr-FR" sz="1400" b="1" dirty="0">
                          <a:solidFill>
                            <a:srgbClr val="00B050"/>
                          </a:solidFill>
                        </a:rPr>
                        <a:t>67,03%</a:t>
                      </a:r>
                    </a:p>
                  </a:txBody>
                  <a:tcPr/>
                </a:tc>
                <a:tc>
                  <a:txBody>
                    <a:bodyPr/>
                    <a:lstStyle/>
                    <a:p>
                      <a:r>
                        <a:rPr lang="fr-FR" sz="1400" dirty="0"/>
                        <a:t>NC</a:t>
                      </a:r>
                    </a:p>
                  </a:txBody>
                  <a:tcPr>
                    <a:solidFill>
                      <a:schemeClr val="tx1">
                        <a:lumMod val="50000"/>
                        <a:lumOff val="50000"/>
                      </a:schemeClr>
                    </a:solidFill>
                  </a:tcPr>
                </a:tc>
                <a:tc>
                  <a:txBody>
                    <a:bodyPr/>
                    <a:lstStyle/>
                    <a:p>
                      <a:r>
                        <a:rPr lang="fr-FR" sz="1400" b="0" dirty="0">
                          <a:solidFill>
                            <a:schemeClr val="tx1"/>
                          </a:solidFill>
                        </a:rPr>
                        <a:t>52,08%</a:t>
                      </a:r>
                    </a:p>
                  </a:txBody>
                  <a:tcPr/>
                </a:tc>
                <a:tc>
                  <a:txBody>
                    <a:bodyPr/>
                    <a:lstStyle/>
                    <a:p>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extLst>
                  <a:ext uri="{0D108BD9-81ED-4DB2-BD59-A6C34878D82A}">
                    <a16:rowId xmlns:a16="http://schemas.microsoft.com/office/drawing/2014/main" val="1468930637"/>
                  </a:ext>
                </a:extLst>
              </a:tr>
              <a:tr h="370840">
                <a:tc>
                  <a:txBody>
                    <a:bodyPr/>
                    <a:lstStyle/>
                    <a:p>
                      <a:r>
                        <a:rPr lang="fr-FR" sz="1400" dirty="0"/>
                        <a:t>2</a:t>
                      </a:r>
                    </a:p>
                  </a:txBody>
                  <a:tcPr/>
                </a:tc>
                <a:tc>
                  <a:txBody>
                    <a:bodyPr/>
                    <a:lstStyle/>
                    <a:p>
                      <a:r>
                        <a:rPr lang="fr-FR" sz="1400" dirty="0"/>
                        <a:t>3</a:t>
                      </a:r>
                    </a:p>
                  </a:txBody>
                  <a:tcPr/>
                </a:tc>
                <a:tc>
                  <a:txBody>
                    <a:bodyPr/>
                    <a:lstStyle/>
                    <a:p>
                      <a:r>
                        <a:rPr lang="fr-FR" sz="1400" b="1" dirty="0"/>
                        <a:t>Canada</a:t>
                      </a:r>
                    </a:p>
                  </a:txBody>
                  <a:tcPr/>
                </a:tc>
                <a:tc>
                  <a:txBody>
                    <a:bodyPr/>
                    <a:lstStyle/>
                    <a:p>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tc>
                  <a:txBody>
                    <a:bodyPr/>
                    <a:lstStyle/>
                    <a:p>
                      <a:r>
                        <a:rPr lang="fr-FR" sz="1400" dirty="0"/>
                        <a:t>13,77%</a:t>
                      </a:r>
                    </a:p>
                  </a:txBody>
                  <a:tcPr/>
                </a:tc>
                <a:tc>
                  <a:txBody>
                    <a:bodyPr/>
                    <a:lstStyle/>
                    <a:p>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tc>
                  <a:txBody>
                    <a:bodyPr/>
                    <a:lstStyle/>
                    <a:p>
                      <a:r>
                        <a:rPr lang="fr-FR" sz="1400" b="1" dirty="0">
                          <a:solidFill>
                            <a:srgbClr val="00B050"/>
                          </a:solidFill>
                        </a:rPr>
                        <a:t>79,67%</a:t>
                      </a:r>
                    </a:p>
                  </a:txBody>
                  <a:tcPr/>
                </a:tc>
                <a:tc>
                  <a:txBody>
                    <a:bodyPr/>
                    <a:lstStyle/>
                    <a:p>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tc>
                  <a:txBody>
                    <a:bodyPr/>
                    <a:lstStyle/>
                    <a:p>
                      <a:r>
                        <a:rPr lang="fr-FR" sz="1400" b="1" dirty="0">
                          <a:solidFill>
                            <a:srgbClr val="00B050"/>
                          </a:solidFill>
                        </a:rPr>
                        <a:t>55,4%</a:t>
                      </a:r>
                    </a:p>
                  </a:txBody>
                  <a:tcPr/>
                </a:tc>
                <a:extLst>
                  <a:ext uri="{0D108BD9-81ED-4DB2-BD59-A6C34878D82A}">
                    <a16:rowId xmlns:a16="http://schemas.microsoft.com/office/drawing/2014/main" val="4264127917"/>
                  </a:ext>
                </a:extLst>
              </a:tr>
              <a:tr h="370840">
                <a:tc>
                  <a:txBody>
                    <a:bodyPr/>
                    <a:lstStyle/>
                    <a:p>
                      <a:r>
                        <a:rPr lang="fr-FR" sz="1400" dirty="0"/>
                        <a:t>3</a:t>
                      </a:r>
                    </a:p>
                  </a:txBody>
                  <a:tcPr/>
                </a:tc>
                <a:tc>
                  <a:txBody>
                    <a:bodyPr/>
                    <a:lstStyle/>
                    <a:p>
                      <a:r>
                        <a:rPr lang="fr-FR" sz="1400" dirty="0"/>
                        <a:t>3</a:t>
                      </a:r>
                    </a:p>
                  </a:txBody>
                  <a:tcPr/>
                </a:tc>
                <a:tc>
                  <a:txBody>
                    <a:bodyPr/>
                    <a:lstStyle/>
                    <a:p>
                      <a:r>
                        <a:rPr lang="fr-FR" sz="1400" b="1" dirty="0"/>
                        <a:t>Rep. Tchèque</a:t>
                      </a:r>
                    </a:p>
                  </a:txBody>
                  <a:tcPr/>
                </a:tc>
                <a:tc>
                  <a:txBody>
                    <a:bodyPr/>
                    <a:lstStyle/>
                    <a:p>
                      <a:r>
                        <a:rPr lang="fr-FR" sz="1400" dirty="0"/>
                        <a:t>43,07%</a:t>
                      </a:r>
                    </a:p>
                  </a:txBody>
                  <a:tcPr/>
                </a:tc>
                <a:tc>
                  <a:txBody>
                    <a:bodyPr/>
                    <a:lstStyle/>
                    <a:p>
                      <a:r>
                        <a:rPr lang="fr-FR" sz="1400" b="1" dirty="0">
                          <a:solidFill>
                            <a:srgbClr val="00B050"/>
                          </a:solidFill>
                        </a:rPr>
                        <a:t>44,62%</a:t>
                      </a:r>
                    </a:p>
                  </a:txBody>
                  <a:tcPr/>
                </a:tc>
                <a:tc>
                  <a:txBody>
                    <a:bodyPr/>
                    <a:lstStyle/>
                    <a:p>
                      <a:r>
                        <a:rPr lang="fr-FR" sz="1400" dirty="0"/>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r>
                        <a:rPr lang="fr-FR" sz="1400" b="1" dirty="0">
                          <a:solidFill>
                            <a:srgbClr val="00B050"/>
                          </a:solidFill>
                        </a:rPr>
                        <a:t>71,4%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NC</a:t>
                      </a:r>
                    </a:p>
                    <a:p>
                      <a:endParaRPr lang="fr-FR" sz="1400" dirty="0"/>
                    </a:p>
                  </a:txBody>
                  <a:tcPr>
                    <a:solidFill>
                      <a:schemeClr val="tx1">
                        <a:lumMod val="50000"/>
                        <a:lumOff val="50000"/>
                      </a:schemeClr>
                    </a:solidFill>
                  </a:tcPr>
                </a:tc>
                <a:extLst>
                  <a:ext uri="{0D108BD9-81ED-4DB2-BD59-A6C34878D82A}">
                    <a16:rowId xmlns:a16="http://schemas.microsoft.com/office/drawing/2014/main" val="3207366675"/>
                  </a:ext>
                </a:extLst>
              </a:tr>
              <a:tr h="370840">
                <a:tc>
                  <a:txBody>
                    <a:bodyPr/>
                    <a:lstStyle/>
                    <a:p>
                      <a:r>
                        <a:rPr lang="fr-FR" sz="1400" dirty="0"/>
                        <a:t>4</a:t>
                      </a:r>
                    </a:p>
                  </a:txBody>
                  <a:tcPr/>
                </a:tc>
                <a:tc>
                  <a:txBody>
                    <a:bodyPr/>
                    <a:lstStyle/>
                    <a:p>
                      <a:r>
                        <a:rPr lang="fr-FR" sz="1400" dirty="0"/>
                        <a:t>3</a:t>
                      </a:r>
                    </a:p>
                  </a:txBody>
                  <a:tcPr/>
                </a:tc>
                <a:tc>
                  <a:txBody>
                    <a:bodyPr/>
                    <a:lstStyle/>
                    <a:p>
                      <a:r>
                        <a:rPr lang="fr-FR" sz="1400" b="1" dirty="0"/>
                        <a:t>Finlande</a:t>
                      </a:r>
                    </a:p>
                  </a:txBody>
                  <a:tcPr/>
                </a:tc>
                <a:tc>
                  <a:txBody>
                    <a:bodyPr/>
                    <a:lstStyle/>
                    <a:p>
                      <a:r>
                        <a:rPr lang="fr-FR" sz="1400" dirty="0"/>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r>
                        <a:rPr lang="fr-FR" sz="1400" dirty="0"/>
                        <a:t>114,79%</a:t>
                      </a:r>
                    </a:p>
                  </a:txBody>
                  <a:tcPr/>
                </a:tc>
                <a:tc>
                  <a:txBody>
                    <a:bodyPr/>
                    <a:lstStyle/>
                    <a:p>
                      <a:r>
                        <a:rPr lang="fr-FR" sz="1400" dirty="0"/>
                        <a:t>NC</a:t>
                      </a:r>
                    </a:p>
                  </a:txBody>
                  <a:tcPr>
                    <a:solidFill>
                      <a:schemeClr val="tx1">
                        <a:lumMod val="50000"/>
                        <a:lumOff val="50000"/>
                      </a:schemeClr>
                    </a:solidFill>
                  </a:tcPr>
                </a:tc>
                <a:tc>
                  <a:txBody>
                    <a:bodyPr/>
                    <a:lstStyle/>
                    <a:p>
                      <a:r>
                        <a:rPr lang="fr-FR" sz="1400" dirty="0"/>
                        <a:t>60,92%</a:t>
                      </a:r>
                    </a:p>
                  </a:txBody>
                  <a:tcPr/>
                </a:tc>
                <a:tc>
                  <a:txBody>
                    <a:bodyPr/>
                    <a:lstStyle/>
                    <a:p>
                      <a:r>
                        <a:rPr lang="fr-FR" sz="1400" dirty="0"/>
                        <a:t>65,11%</a:t>
                      </a:r>
                    </a:p>
                  </a:txBody>
                  <a:tcPr/>
                </a:tc>
                <a:tc>
                  <a:txBody>
                    <a:bodyPr/>
                    <a:lstStyle/>
                    <a:p>
                      <a:r>
                        <a:rPr lang="fr-FR" sz="1400" dirty="0"/>
                        <a:t>NC</a:t>
                      </a:r>
                    </a:p>
                  </a:txBody>
                  <a:tcPr>
                    <a:solidFill>
                      <a:schemeClr val="tx1">
                        <a:lumMod val="50000"/>
                        <a:lumOff val="50000"/>
                      </a:schemeClr>
                    </a:solidFill>
                  </a:tcPr>
                </a:tc>
                <a:tc>
                  <a:txBody>
                    <a:bodyPr/>
                    <a:lstStyle/>
                    <a:p>
                      <a:r>
                        <a:rPr lang="fr-FR" sz="1400" dirty="0"/>
                        <a:t>41%</a:t>
                      </a:r>
                    </a:p>
                  </a:txBody>
                  <a:tcPr/>
                </a:tc>
                <a:extLst>
                  <a:ext uri="{0D108BD9-81ED-4DB2-BD59-A6C34878D82A}">
                    <a16:rowId xmlns:a16="http://schemas.microsoft.com/office/drawing/2014/main" val="864038889"/>
                  </a:ext>
                </a:extLst>
              </a:tr>
              <a:tr h="370840">
                <a:tc>
                  <a:txBody>
                    <a:bodyPr/>
                    <a:lstStyle/>
                    <a:p>
                      <a:r>
                        <a:rPr lang="fr-FR" sz="1400" dirty="0"/>
                        <a:t>5</a:t>
                      </a:r>
                    </a:p>
                  </a:txBody>
                  <a:tcPr/>
                </a:tc>
                <a:tc>
                  <a:txBody>
                    <a:bodyPr/>
                    <a:lstStyle/>
                    <a:p>
                      <a:r>
                        <a:rPr lang="fr-FR" sz="1400" dirty="0"/>
                        <a:t>3</a:t>
                      </a:r>
                    </a:p>
                  </a:txBody>
                  <a:tcPr/>
                </a:tc>
                <a:tc>
                  <a:txBody>
                    <a:bodyPr/>
                    <a:lstStyle/>
                    <a:p>
                      <a:r>
                        <a:rPr lang="fr-FR" sz="1400" b="1" dirty="0"/>
                        <a:t>Corée du Sud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b="1" dirty="0">
                          <a:solidFill>
                            <a:srgbClr val="00B050"/>
                          </a:solidFill>
                        </a:rPr>
                        <a:t>19,94%</a:t>
                      </a:r>
                    </a:p>
                    <a:p>
                      <a:endParaRPr lang="fr-FR"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400" dirty="0"/>
                        <a:t>NC</a:t>
                      </a:r>
                    </a:p>
                  </a:txBody>
                  <a:tcPr>
                    <a:solidFill>
                      <a:schemeClr val="tx1">
                        <a:lumMod val="50000"/>
                        <a:lumOff val="50000"/>
                      </a:schemeClr>
                    </a:solidFill>
                  </a:tcPr>
                </a:tc>
                <a:tc>
                  <a:txBody>
                    <a:bodyPr/>
                    <a:lstStyle/>
                    <a:p>
                      <a:r>
                        <a:rPr lang="fr-FR" sz="1400" dirty="0"/>
                        <a:t>NC</a:t>
                      </a:r>
                    </a:p>
                  </a:txBody>
                  <a:tcPr>
                    <a:solidFill>
                      <a:schemeClr val="tx1">
                        <a:lumMod val="50000"/>
                        <a:lumOff val="5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r>
                        <a:rPr lang="fr-FR" sz="1400" b="1" dirty="0">
                          <a:solidFill>
                            <a:srgbClr val="00B050"/>
                          </a:solidFill>
                        </a:rPr>
                        <a:t>79,18%</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dirty="0">
                          <a:ln>
                            <a:noFill/>
                          </a:ln>
                          <a:solidFill>
                            <a:prstClr val="black"/>
                          </a:solidFill>
                          <a:effectLst/>
                          <a:uLnTx/>
                          <a:uFillTx/>
                          <a:latin typeface="Franklin Gothic Book" panose="020B0502020104020203"/>
                          <a:ea typeface="+mn-ea"/>
                          <a:cs typeface="+mn-cs"/>
                        </a:rPr>
                        <a:t>NC</a:t>
                      </a:r>
                    </a:p>
                  </a:txBody>
                  <a:tcPr>
                    <a:solidFill>
                      <a:schemeClr val="tx1">
                        <a:lumMod val="50000"/>
                        <a:lumOff val="50000"/>
                      </a:schemeClr>
                    </a:solidFill>
                  </a:tcPr>
                </a:tc>
                <a:tc>
                  <a:txBody>
                    <a:bodyPr/>
                    <a:lstStyle/>
                    <a:p>
                      <a:r>
                        <a:rPr lang="fr-FR" sz="1400" dirty="0"/>
                        <a:t>40,6%</a:t>
                      </a:r>
                    </a:p>
                  </a:txBody>
                  <a:tcPr/>
                </a:tc>
                <a:extLst>
                  <a:ext uri="{0D108BD9-81ED-4DB2-BD59-A6C34878D82A}">
                    <a16:rowId xmlns:a16="http://schemas.microsoft.com/office/drawing/2014/main" val="3188526945"/>
                  </a:ext>
                </a:extLst>
              </a:tr>
            </a:tbl>
          </a:graphicData>
        </a:graphic>
      </p:graphicFrame>
      <p:sp>
        <p:nvSpPr>
          <p:cNvPr id="4" name="Espace réservé de la date 3">
            <a:extLst>
              <a:ext uri="{FF2B5EF4-FFF2-40B4-BE49-F238E27FC236}">
                <a16:creationId xmlns:a16="http://schemas.microsoft.com/office/drawing/2014/main" id="{3C2FE6A8-F538-A9F1-6D5F-B4CED8CC6851}"/>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
        <p:nvSpPr>
          <p:cNvPr id="6" name="ZoneTexte 5">
            <a:extLst>
              <a:ext uri="{FF2B5EF4-FFF2-40B4-BE49-F238E27FC236}">
                <a16:creationId xmlns:a16="http://schemas.microsoft.com/office/drawing/2014/main" id="{04CA6992-CBF5-9238-9B05-19584623B4D1}"/>
              </a:ext>
            </a:extLst>
          </p:cNvPr>
          <p:cNvSpPr txBox="1"/>
          <p:nvPr/>
        </p:nvSpPr>
        <p:spPr>
          <a:xfrm>
            <a:off x="580852" y="1890876"/>
            <a:ext cx="9468580" cy="1323439"/>
          </a:xfrm>
          <a:prstGeom prst="rect">
            <a:avLst/>
          </a:prstGeom>
          <a:noFill/>
        </p:spPr>
        <p:txBody>
          <a:bodyPr wrap="square" rtlCol="0">
            <a:spAutoFit/>
          </a:bodyPr>
          <a:lstStyle/>
          <a:p>
            <a:r>
              <a:rPr lang="fr-FR" sz="1600" dirty="0"/>
              <a:t>Classement composite : niveau éducatif actuel + évolution historique + projections 2030:</a:t>
            </a:r>
          </a:p>
          <a:p>
            <a:r>
              <a:rPr lang="fr-FR" sz="1600" dirty="0"/>
              <a:t>Un classement des pays a été établi pour chacun des 6 indicateurs</a:t>
            </a:r>
          </a:p>
          <a:p>
            <a:r>
              <a:rPr lang="fr-FR" sz="1600" dirty="0"/>
              <a:t>L’évolution des indicateurs historiques entre 1970 et 2010 a été calculée et les pays ont été classés</a:t>
            </a:r>
          </a:p>
          <a:p>
            <a:r>
              <a:rPr lang="fr-FR" sz="1600" dirty="0"/>
              <a:t>Les pays ci-dessous apparaissent au moins 1 fois dans un des classements</a:t>
            </a:r>
          </a:p>
          <a:p>
            <a:r>
              <a:rPr lang="fr-FR" sz="1600" dirty="0"/>
              <a:t>NC = Non Classé – pour la colonne en question, le pays ne faisait pas partie du top 5</a:t>
            </a:r>
          </a:p>
        </p:txBody>
      </p:sp>
    </p:spTree>
    <p:extLst>
      <p:ext uri="{BB962C8B-B14F-4D97-AF65-F5344CB8AC3E}">
        <p14:creationId xmlns:p14="http://schemas.microsoft.com/office/powerpoint/2010/main" val="3569668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27D828-32CC-D7C9-042E-6A2D0AB5A908}"/>
              </a:ext>
            </a:extLst>
          </p:cNvPr>
          <p:cNvSpPr>
            <a:spLocks noGrp="1"/>
          </p:cNvSpPr>
          <p:nvPr>
            <p:ph type="title"/>
          </p:nvPr>
        </p:nvSpPr>
        <p:spPr/>
        <p:txBody>
          <a:bodyPr/>
          <a:lstStyle/>
          <a:p>
            <a:r>
              <a:rPr lang="fr-FR" dirty="0"/>
              <a:t>Pays a fort potentiel pour </a:t>
            </a:r>
            <a:r>
              <a:rPr lang="fr-FR" dirty="0" err="1"/>
              <a:t>Academy</a:t>
            </a:r>
            <a:endParaRPr lang="fr-FR" dirty="0"/>
          </a:p>
        </p:txBody>
      </p:sp>
      <p:sp>
        <p:nvSpPr>
          <p:cNvPr id="3" name="Espace réservé du contenu 2">
            <a:extLst>
              <a:ext uri="{FF2B5EF4-FFF2-40B4-BE49-F238E27FC236}">
                <a16:creationId xmlns:a16="http://schemas.microsoft.com/office/drawing/2014/main" id="{89120877-8512-7CEF-47E8-CBCFA5FFB726}"/>
              </a:ext>
            </a:extLst>
          </p:cNvPr>
          <p:cNvSpPr>
            <a:spLocks noGrp="1"/>
          </p:cNvSpPr>
          <p:nvPr>
            <p:ph idx="1"/>
          </p:nvPr>
        </p:nvSpPr>
        <p:spPr/>
        <p:txBody>
          <a:bodyPr/>
          <a:lstStyle/>
          <a:p>
            <a:r>
              <a:rPr lang="fr-FR" dirty="0"/>
              <a:t>L’Australie apparait comme étant le pays qui offre le plus de potentiel pour le marché du lycée et de l’université. Bien que les projections Wittgenstein ne soient pas les meilleures pour ce pays, l’évolution de la part de la population de plus de 15 ans ayant complété l’enseignement secondaire et tertiaire a augmenté de plus de 50% entre 1970 et 2010.</a:t>
            </a:r>
          </a:p>
          <a:p>
            <a:r>
              <a:rPr lang="fr-FR" dirty="0"/>
              <a:t>Le Canada apparait comme un fort marché potentiel pour l’université, suivi par la Finlande. La République Tchèque se distingue par son marché du secondaire en expansion. Le pays est une économie mature et la projection pour le secondaire est la meilleure.</a:t>
            </a:r>
          </a:p>
          <a:p>
            <a:r>
              <a:rPr lang="fr-FR" dirty="0"/>
              <a:t>La Corée du Sud se distingue par l’évolution de ses indicateurs  pour le marché université. Bien que ses indicateurs ne la placent pas parmi les tops 5, leur évolution entre 1970 et 2010 montre que l’enseignement post-secondaire est en expansion, ce qui est confirmé par la projection de Wittgenstein.</a:t>
            </a:r>
          </a:p>
        </p:txBody>
      </p:sp>
      <p:sp>
        <p:nvSpPr>
          <p:cNvPr id="4" name="Espace réservé de la date 3">
            <a:extLst>
              <a:ext uri="{FF2B5EF4-FFF2-40B4-BE49-F238E27FC236}">
                <a16:creationId xmlns:a16="http://schemas.microsoft.com/office/drawing/2014/main" id="{A84B5D42-FA08-91BA-2487-63D23198AE2A}"/>
              </a:ext>
            </a:extLst>
          </p:cNvPr>
          <p:cNvSpPr>
            <a:spLocks noGrp="1"/>
          </p:cNvSpPr>
          <p:nvPr>
            <p:ph type="dt" sz="half" idx="10"/>
          </p:nvPr>
        </p:nvSpPr>
        <p:spPr/>
        <p:txBody>
          <a:bodyPr/>
          <a:lstStyle/>
          <a:p>
            <a:pPr rtl="0"/>
            <a:fld id="{22897033-9A55-4DAC-991D-1FF1921C78B7}" type="datetime1">
              <a:rPr lang="fr-FR" smtClean="0"/>
              <a:t>28/04/2026</a:t>
            </a:fld>
            <a:endParaRPr lang="en-US" dirty="0"/>
          </a:p>
        </p:txBody>
      </p:sp>
    </p:spTree>
    <p:extLst>
      <p:ext uri="{BB962C8B-B14F-4D97-AF65-F5344CB8AC3E}">
        <p14:creationId xmlns:p14="http://schemas.microsoft.com/office/powerpoint/2010/main" val="3143295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027037-16BE-756E-2F7B-17C77A920BCF}"/>
              </a:ext>
            </a:extLst>
          </p:cNvPr>
          <p:cNvSpPr>
            <a:spLocks noGrp="1"/>
          </p:cNvSpPr>
          <p:nvPr>
            <p:ph type="title"/>
          </p:nvPr>
        </p:nvSpPr>
        <p:spPr/>
        <p:txBody>
          <a:bodyPr/>
          <a:lstStyle/>
          <a:p>
            <a:r>
              <a:rPr lang="fr-FR" dirty="0"/>
              <a:t>5-Conclusions et recommandations stratégiques</a:t>
            </a:r>
          </a:p>
        </p:txBody>
      </p:sp>
      <p:sp>
        <p:nvSpPr>
          <p:cNvPr id="3" name="Espace réservé du texte 2">
            <a:extLst>
              <a:ext uri="{FF2B5EF4-FFF2-40B4-BE49-F238E27FC236}">
                <a16:creationId xmlns:a16="http://schemas.microsoft.com/office/drawing/2014/main" id="{FC160D95-021D-6570-0C05-63860BF2D30E}"/>
              </a:ext>
            </a:extLst>
          </p:cNvPr>
          <p:cNvSpPr>
            <a:spLocks noGrp="1"/>
          </p:cNvSpPr>
          <p:nvPr>
            <p:ph type="body" idx="1"/>
          </p:nvPr>
        </p:nvSpPr>
        <p:spPr/>
        <p:txBody>
          <a:bodyPr/>
          <a:lstStyle/>
          <a:p>
            <a:r>
              <a:rPr lang="fr-FR" dirty="0"/>
              <a:t>Pertinence – Limites – Prochaines Etapes</a:t>
            </a:r>
          </a:p>
        </p:txBody>
      </p:sp>
      <p:sp>
        <p:nvSpPr>
          <p:cNvPr id="4" name="Espace réservé de la date 3">
            <a:extLst>
              <a:ext uri="{FF2B5EF4-FFF2-40B4-BE49-F238E27FC236}">
                <a16:creationId xmlns:a16="http://schemas.microsoft.com/office/drawing/2014/main" id="{8EF0838B-0C01-C5B4-6682-512E4C7FBAB4}"/>
              </a:ext>
            </a:extLst>
          </p:cNvPr>
          <p:cNvSpPr>
            <a:spLocks noGrp="1"/>
          </p:cNvSpPr>
          <p:nvPr>
            <p:ph type="dt" sz="half" idx="10"/>
          </p:nvPr>
        </p:nvSpPr>
        <p:spPr/>
        <p:txBody>
          <a:bodyPr/>
          <a:lstStyle/>
          <a:p>
            <a:pPr rtl="0"/>
            <a:fld id="{A1255F31-5DB3-4925-BA87-822F5B17A2F1}" type="datetime1">
              <a:rPr lang="fr-FR" smtClean="0"/>
              <a:t>28/04/2026</a:t>
            </a:fld>
            <a:endParaRPr lang="en-US" dirty="0"/>
          </a:p>
        </p:txBody>
      </p:sp>
    </p:spTree>
    <p:extLst>
      <p:ext uri="{BB962C8B-B14F-4D97-AF65-F5344CB8AC3E}">
        <p14:creationId xmlns:p14="http://schemas.microsoft.com/office/powerpoint/2010/main" val="2640940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FF07263C-067E-9E13-03BB-5E6100C18FC4}"/>
              </a:ext>
            </a:extLst>
          </p:cNvPr>
          <p:cNvSpPr>
            <a:spLocks noGrp="1"/>
          </p:cNvSpPr>
          <p:nvPr>
            <p:ph type="title"/>
          </p:nvPr>
        </p:nvSpPr>
        <p:spPr/>
        <p:txBody>
          <a:bodyPr/>
          <a:lstStyle/>
          <a:p>
            <a:r>
              <a:rPr lang="fr-FR" dirty="0"/>
              <a:t>Conclusions et </a:t>
            </a:r>
            <a:r>
              <a:rPr lang="fr-FR"/>
              <a:t>recommandations stratégiques</a:t>
            </a:r>
            <a:endParaRPr lang="fr-FR" dirty="0"/>
          </a:p>
        </p:txBody>
      </p:sp>
      <p:sp>
        <p:nvSpPr>
          <p:cNvPr id="9" name="Espace réservé du contenu 8">
            <a:extLst>
              <a:ext uri="{FF2B5EF4-FFF2-40B4-BE49-F238E27FC236}">
                <a16:creationId xmlns:a16="http://schemas.microsoft.com/office/drawing/2014/main" id="{561DFB75-921A-D949-3E0B-E858BC02A288}"/>
              </a:ext>
            </a:extLst>
          </p:cNvPr>
          <p:cNvSpPr>
            <a:spLocks noGrp="1"/>
          </p:cNvSpPr>
          <p:nvPr>
            <p:ph sz="half" idx="1"/>
          </p:nvPr>
        </p:nvSpPr>
        <p:spPr>
          <a:xfrm>
            <a:off x="581193" y="2011680"/>
            <a:ext cx="5501641" cy="4412233"/>
          </a:xfrm>
        </p:spPr>
        <p:txBody>
          <a:bodyPr>
            <a:normAutofit fontScale="92500" lnSpcReduction="20000"/>
          </a:bodyPr>
          <a:lstStyle/>
          <a:p>
            <a:r>
              <a:rPr lang="fr-FR" b="1" dirty="0">
                <a:solidFill>
                  <a:schemeClr val="bg1"/>
                </a:solidFill>
              </a:rPr>
              <a:t>Les données sont pertinentes</a:t>
            </a:r>
          </a:p>
          <a:p>
            <a:pPr lvl="1"/>
            <a:r>
              <a:rPr lang="fr-FR" dirty="0">
                <a:solidFill>
                  <a:schemeClr val="bg1"/>
                </a:solidFill>
              </a:rPr>
              <a:t>Les 5 fichiers de la Banque mondiale offrent une base solide : 3 665 indicateurs éducatifs, 131 pays avec des données complètes, couvrant 1970-2010 avec des projections jusqu'en 2030.</a:t>
            </a:r>
          </a:p>
          <a:p>
            <a:r>
              <a:rPr lang="fr-FR" b="1" dirty="0">
                <a:solidFill>
                  <a:schemeClr val="bg1"/>
                </a:solidFill>
              </a:rPr>
              <a:t>6 indicateurs clés identifiés</a:t>
            </a:r>
          </a:p>
          <a:p>
            <a:pPr lvl="1"/>
            <a:r>
              <a:rPr lang="fr-FR" dirty="0">
                <a:solidFill>
                  <a:schemeClr val="bg1"/>
                </a:solidFill>
              </a:rPr>
              <a:t>Taux d'achèvement secondaire/tertiaire, taux de scolarisation bruts, projections Wittgenstein. Ces indicateurs capturent à la fois le niveau actuel et le potentiel futur des marchés.</a:t>
            </a:r>
          </a:p>
          <a:p>
            <a:r>
              <a:rPr lang="fr-FR" b="1" dirty="0">
                <a:solidFill>
                  <a:schemeClr val="bg1"/>
                </a:solidFill>
              </a:rPr>
              <a:t>Marchés prioritaires</a:t>
            </a:r>
          </a:p>
          <a:p>
            <a:pPr lvl="1"/>
            <a:r>
              <a:rPr lang="fr-FR" dirty="0">
                <a:solidFill>
                  <a:schemeClr val="bg1"/>
                </a:solidFill>
              </a:rPr>
              <a:t>Europe &amp; Asie centrale, Asie-Pacifique, Amérique du Nord : marchés matures, forte concentration de la clientèle cible.</a:t>
            </a:r>
          </a:p>
          <a:p>
            <a:endParaRPr lang="fr-FR" dirty="0">
              <a:solidFill>
                <a:schemeClr val="bg1"/>
              </a:solidFill>
            </a:endParaRPr>
          </a:p>
        </p:txBody>
      </p:sp>
      <p:sp>
        <p:nvSpPr>
          <p:cNvPr id="10" name="Espace réservé du contenu 9">
            <a:extLst>
              <a:ext uri="{FF2B5EF4-FFF2-40B4-BE49-F238E27FC236}">
                <a16:creationId xmlns:a16="http://schemas.microsoft.com/office/drawing/2014/main" id="{194F2B51-DED5-21C8-C7D5-65B4B3DBB939}"/>
              </a:ext>
            </a:extLst>
          </p:cNvPr>
          <p:cNvSpPr>
            <a:spLocks noGrp="1"/>
          </p:cNvSpPr>
          <p:nvPr>
            <p:ph sz="half" idx="2"/>
          </p:nvPr>
        </p:nvSpPr>
        <p:spPr>
          <a:xfrm>
            <a:off x="6416039" y="1717989"/>
            <a:ext cx="5501641" cy="5071049"/>
          </a:xfrm>
        </p:spPr>
        <p:txBody>
          <a:bodyPr>
            <a:normAutofit fontScale="92500" lnSpcReduction="20000"/>
          </a:bodyPr>
          <a:lstStyle/>
          <a:p>
            <a:r>
              <a:rPr lang="fr-FR" b="1" dirty="0">
                <a:solidFill>
                  <a:schemeClr val="bg1"/>
                </a:solidFill>
              </a:rPr>
              <a:t>Limites du jeu de données</a:t>
            </a:r>
          </a:p>
          <a:p>
            <a:pPr lvl="1"/>
            <a:r>
              <a:rPr lang="fr-FR" dirty="0">
                <a:solidFill>
                  <a:schemeClr val="bg1"/>
                </a:solidFill>
              </a:rPr>
              <a:t>Données très lacunaires avant 2000 pour de nombreux pays. Couverture inégale selon les régions. Afrique et petites îles sous-représentées 78 pays exclus par manque de données).</a:t>
            </a:r>
          </a:p>
          <a:p>
            <a:pPr lvl="1"/>
            <a:r>
              <a:rPr lang="fr-FR" dirty="0">
                <a:solidFill>
                  <a:schemeClr val="bg1"/>
                </a:solidFill>
              </a:rPr>
              <a:t>Aucune donnée réelle disponible après 2016 dans ce jeu de données. Les projections (2020–2030) restent des modèles statistiques soumis à incertitude. </a:t>
            </a:r>
          </a:p>
          <a:p>
            <a:pPr lvl="1"/>
            <a:r>
              <a:rPr lang="fr-FR" dirty="0">
                <a:solidFill>
                  <a:schemeClr val="bg1"/>
                </a:solidFill>
              </a:rPr>
              <a:t>Les indicateurs de population brute (BAR.POP, PRJ.POP) ont été écartés car corrélés à plus de 90% entre eux et pouvant biaiser les comparaisons entre grands et petits pays. Les taux et proportions ont été préférés.</a:t>
            </a:r>
          </a:p>
          <a:p>
            <a:pPr lvl="1"/>
            <a:endParaRPr lang="fr-FR" dirty="0">
              <a:solidFill>
                <a:schemeClr val="bg1"/>
              </a:solidFill>
            </a:endParaRPr>
          </a:p>
          <a:p>
            <a:r>
              <a:rPr lang="fr-FR" dirty="0">
                <a:solidFill>
                  <a:schemeClr val="bg1"/>
                </a:solidFill>
              </a:rPr>
              <a:t> </a:t>
            </a:r>
            <a:r>
              <a:rPr lang="fr-FR" b="1" dirty="0">
                <a:solidFill>
                  <a:schemeClr val="bg1"/>
                </a:solidFill>
              </a:rPr>
              <a:t>Recommandations</a:t>
            </a:r>
          </a:p>
          <a:p>
            <a:pPr lvl="1"/>
            <a:r>
              <a:rPr lang="fr-FR" dirty="0">
                <a:solidFill>
                  <a:schemeClr val="bg1"/>
                </a:solidFill>
              </a:rPr>
              <a:t>Croiser avec des données économiques (PIB, internet) et des données de marché (taux de pénétration </a:t>
            </a:r>
            <a:r>
              <a:rPr lang="fr-FR" dirty="0" err="1">
                <a:solidFill>
                  <a:schemeClr val="bg1"/>
                </a:solidFill>
              </a:rPr>
              <a:t>EdTech</a:t>
            </a:r>
            <a:r>
              <a:rPr lang="fr-FR" dirty="0">
                <a:solidFill>
                  <a:schemeClr val="bg1"/>
                </a:solidFill>
              </a:rPr>
              <a:t>). Enrichir avec données de population active pour affiner la taille du marché potentiel.</a:t>
            </a:r>
          </a:p>
          <a:p>
            <a:pPr lvl="1"/>
            <a:r>
              <a:rPr lang="fr-FR" dirty="0">
                <a:solidFill>
                  <a:schemeClr val="bg1"/>
                </a:solidFill>
              </a:rPr>
              <a:t>Une mise à jour régulière avec des sources complémentaires est recommandée.</a:t>
            </a:r>
          </a:p>
          <a:p>
            <a:r>
              <a:rPr lang="fr-FR" b="1" dirty="0">
                <a:solidFill>
                  <a:schemeClr val="bg1"/>
                </a:solidFill>
              </a:rPr>
              <a:t>Prochaines étapes</a:t>
            </a:r>
          </a:p>
          <a:p>
            <a:pPr lvl="1"/>
            <a:r>
              <a:rPr lang="fr-FR" dirty="0">
                <a:solidFill>
                  <a:schemeClr val="bg1"/>
                </a:solidFill>
              </a:rPr>
              <a:t>Implantation Phase 1 : Europe, Corée du Sud, Australie, Canada. </a:t>
            </a:r>
          </a:p>
          <a:p>
            <a:endParaRPr lang="fr-FR" dirty="0"/>
          </a:p>
        </p:txBody>
      </p:sp>
      <p:sp>
        <p:nvSpPr>
          <p:cNvPr id="4" name="Espace réservé de la date 3">
            <a:extLst>
              <a:ext uri="{FF2B5EF4-FFF2-40B4-BE49-F238E27FC236}">
                <a16:creationId xmlns:a16="http://schemas.microsoft.com/office/drawing/2014/main" id="{41886762-B5AB-8018-4F83-43D534310D69}"/>
              </a:ext>
            </a:extLst>
          </p:cNvPr>
          <p:cNvSpPr>
            <a:spLocks noGrp="1"/>
          </p:cNvSpPr>
          <p:nvPr>
            <p:ph type="dt" sz="half" idx="10"/>
          </p:nvPr>
        </p:nvSpPr>
        <p:spPr/>
        <p:txBody>
          <a:bodyPr/>
          <a:lstStyle/>
          <a:p>
            <a:pPr rtl="0"/>
            <a:fld id="{A1255F31-5DB3-4925-BA87-822F5B17A2F1}" type="datetime1">
              <a:rPr lang="fr-FR" smtClean="0"/>
              <a:t>28/04/2026</a:t>
            </a:fld>
            <a:endParaRPr lang="en-US" dirty="0"/>
          </a:p>
        </p:txBody>
      </p:sp>
    </p:spTree>
    <p:extLst>
      <p:ext uri="{BB962C8B-B14F-4D97-AF65-F5344CB8AC3E}">
        <p14:creationId xmlns:p14="http://schemas.microsoft.com/office/powerpoint/2010/main" val="268282491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773_TF33552983" id="{8919647C-0055-458C-B827-A2A950DB19BD}" vid="{05B00E4D-3D0B-4DF2-A663-65D33D9625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{E5AA1841-0B6B-420C-B166-ADB295CE9748}TF201209c3-d067-44f9-a26f-c8f216c44313bd85a48a_win32-aaf37d2e3a1e</Template>
  <TotalTime>0</TotalTime>
  <Words>2127</Words>
  <Application>Microsoft Office PowerPoint</Application>
  <PresentationFormat>Grand écran</PresentationFormat>
  <Paragraphs>271</Paragraphs>
  <Slides>24</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24</vt:i4>
      </vt:variant>
    </vt:vector>
  </HeadingPairs>
  <TitlesOfParts>
    <vt:vector size="31" baseType="lpstr">
      <vt:lpstr>Arial</vt:lpstr>
      <vt:lpstr>Calibri</vt:lpstr>
      <vt:lpstr>Franklin Gothic Book</vt:lpstr>
      <vt:lpstr>Franklin Gothic Demi</vt:lpstr>
      <vt:lpstr>Wingdings</vt:lpstr>
      <vt:lpstr>Wingdings 2</vt:lpstr>
      <vt:lpstr>DividendVTI</vt:lpstr>
      <vt:lpstr>Expansion Internationale d’ACADEMY</vt:lpstr>
      <vt:lpstr>Sommaire</vt:lpstr>
      <vt:lpstr>1- Présentation du projet et des données </vt:lpstr>
      <vt:lpstr>Contexte du projet</vt:lpstr>
      <vt:lpstr>Présentation des jeux de données</vt:lpstr>
      <vt:lpstr>2- Méthodologie de nettoyage et de réduction </vt:lpstr>
      <vt:lpstr>Nettoyage et réduction des données</vt:lpstr>
      <vt:lpstr>3- Sélection des indicateurs pertinents  </vt:lpstr>
      <vt:lpstr>Processus de sélection des indicateurs</vt:lpstr>
      <vt:lpstr>Processus de sélection des indicateurs</vt:lpstr>
      <vt:lpstr>Processus de sélection des indicateurs</vt:lpstr>
      <vt:lpstr>Processus de sélection des indicateurs</vt:lpstr>
      <vt:lpstr>Indicateurs retenus</vt:lpstr>
      <vt:lpstr>4-Analyse statistique des indicateurs </vt:lpstr>
      <vt:lpstr>Présentation PowerPoint</vt:lpstr>
      <vt:lpstr>Taux d'achèvement (Barro-Lee) — 131 pays, 1970–2010</vt:lpstr>
      <vt:lpstr>Taux bruts de scolarisation (UNESCO) — 131 pays, 1970–2010</vt:lpstr>
      <vt:lpstr>Taux bruts de scolarisation (UNESCO) — 131 pays, 1970–2010</vt:lpstr>
      <vt:lpstr>Projections éducatives mondiales (2015–2030)</vt:lpstr>
      <vt:lpstr>Projections éducatives mondiales (2015–2030)</vt:lpstr>
      <vt:lpstr>Pays a fort potentiel pour Academy</vt:lpstr>
      <vt:lpstr>Pays a fort potentiel pour Academy</vt:lpstr>
      <vt:lpstr>5-Conclusions et recommandations stratégiques</vt:lpstr>
      <vt:lpstr>Conclusions et recommandations stratégiques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Sébastien Ulésie</dc:creator>
  <cp:lastModifiedBy>Sébastien Ulésie</cp:lastModifiedBy>
  <cp:revision>65</cp:revision>
  <dcterms:created xsi:type="dcterms:W3CDTF">2026-04-28T09:18:39Z</dcterms:created>
  <dcterms:modified xsi:type="dcterms:W3CDTF">2026-04-28T20:55:51Z</dcterms:modified>
</cp:coreProperties>
</file>